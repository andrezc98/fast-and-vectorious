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10"/>
    <p:sldId id="258" r:id="rId8"/>
    <p:sldId id="259" r:id="rId30"/>
    <p:sldId id="260" r:id="rId13"/>
    <p:sldId id="261" r:id="rId31"/>
    <p:sldId id="262" r:id="rId1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 id="280" r:id="rId49"/>
    <p:sldId id="281" r:id="rId50"/>
    <p:sldId id="282" r:id="rId51"/>
    <p:sldId id="283" r:id="rId12"/>
    <p:sldId id="284" r:id="rId52"/>
    <p:sldId id="285" r:id="rId53"/>
    <p:sldId id="286" r:id="rId54"/>
    <p:sldId id="287" r:id="rId14"/>
  </p:sldIdLst>
  <p:sldSz cy="5143500" cx="9144000"/>
  <p:notesSz cx="6858000" cy="9144000"/>
  <p:embeddedFontLst>
    <p:embeddedFont>
      <p:font typeface="DM Sans Medium"/>
      <p:regular r:id="rId16"/>
      <p:bold r:id="rId17"/>
      <p:italic r:id="rId18"/>
      <p:boldItalic r:id="rId19"/>
    </p:embeddedFont>
    <p:embeddedFont>
      <p:font typeface="DM Sans ExtraBold"/>
      <p:bold r:id="rId20"/>
      <p:boldItalic r:id="rId21"/>
    </p:embeddedFont>
    <p:embeddedFont>
      <p:font typeface="DM Sans SemiBold"/>
      <p:regular r:id="rId22"/>
      <p:bold r:id="rId23"/>
      <p:italic r:id="rId24"/>
      <p:boldItalic r:id="rId25"/>
    </p:embeddedFont>
    <p:embeddedFont>
      <p:font typeface="DM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slide" Target="slides/slide7.xml"/><Relationship Id="rId12" Type="http://schemas.openxmlformats.org/officeDocument/2006/relationships/slide" Target="slides/slide28.xml"/><Relationship Id="rId13" Type="http://schemas.openxmlformats.org/officeDocument/2006/relationships/slide" Target="slides/slide5.xml"/><Relationship Id="rId14" Type="http://schemas.openxmlformats.org/officeDocument/2006/relationships/slide" Target="slides/slide32.xml"/><Relationship Id="rId16" Type="http://schemas.openxmlformats.org/officeDocument/2006/relationships/font" Target="fonts/DMSansMedium-regular.fntdata"/><Relationship Id="rId17" Type="http://schemas.openxmlformats.org/officeDocument/2006/relationships/font" Target="fonts/DMSansMedium-bold.fntdata"/><Relationship Id="rId18" Type="http://schemas.openxmlformats.org/officeDocument/2006/relationships/font" Target="fonts/DMSansMedium-italic.fntdata"/><Relationship Id="rId19" Type="http://schemas.openxmlformats.org/officeDocument/2006/relationships/font" Target="fonts/DMSansMedium-boldItalic.fntdata"/><Relationship Id="rId20" Type="http://schemas.openxmlformats.org/officeDocument/2006/relationships/font" Target="fonts/DMSansExtraBold-bold.fntdata"/><Relationship Id="rId21" Type="http://schemas.openxmlformats.org/officeDocument/2006/relationships/font" Target="fonts/DMSansExtraBold-boldItalic.fntdata"/><Relationship Id="rId22" Type="http://schemas.openxmlformats.org/officeDocument/2006/relationships/font" Target="fonts/DMSansSemiBold-regular.fntdata"/><Relationship Id="rId23" Type="http://schemas.openxmlformats.org/officeDocument/2006/relationships/font" Target="fonts/DMSansSemiBold-bold.fntdata"/><Relationship Id="rId24" Type="http://schemas.openxmlformats.org/officeDocument/2006/relationships/font" Target="fonts/DMSansSemiBold-italic.fntdata"/><Relationship Id="rId25" Type="http://schemas.openxmlformats.org/officeDocument/2006/relationships/font" Target="fonts/DMSansSemiBold-boldItalic.fntdata"/><Relationship Id="rId26" Type="http://schemas.openxmlformats.org/officeDocument/2006/relationships/font" Target="fonts/DMSans-regular.fntdata"/><Relationship Id="rId27" Type="http://schemas.openxmlformats.org/officeDocument/2006/relationships/font" Target="fonts/DMSans-bold.fntdata"/><Relationship Id="rId28" Type="http://schemas.openxmlformats.org/officeDocument/2006/relationships/font" Target="fonts/DMSans-italic.fntdata"/><Relationship Id="rId29" Type="http://schemas.openxmlformats.org/officeDocument/2006/relationships/font" Target="fonts/DMSans-boldItalic.fntdata"/><Relationship Id="rId30" Type="http://schemas.openxmlformats.org/officeDocument/2006/relationships/slide" Target="slides/slide4.xml"/><Relationship Id="rId31" Type="http://schemas.openxmlformats.org/officeDocument/2006/relationships/slide" Target="slides/slide6.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2.xml"/><Relationship Id="rId47" Type="http://schemas.openxmlformats.org/officeDocument/2006/relationships/slide" Target="slides/slide23.xml"/><Relationship Id="rId48" Type="http://schemas.openxmlformats.org/officeDocument/2006/relationships/slide" Target="slides/slide24.xml"/><Relationship Id="rId49" Type="http://schemas.openxmlformats.org/officeDocument/2006/relationships/slide" Target="slides/slide25.xml"/><Relationship Id="rId50" Type="http://schemas.openxmlformats.org/officeDocument/2006/relationships/slide" Target="slides/slide26.xml"/><Relationship Id="rId51" Type="http://schemas.openxmlformats.org/officeDocument/2006/relationships/slide" Target="slides/slide27.xml"/><Relationship Id="rId52" Type="http://schemas.openxmlformats.org/officeDocument/2006/relationships/slide" Target="slides/slide29.xml"/><Relationship Id="rId53" Type="http://schemas.openxmlformats.org/officeDocument/2006/relationships/slide" Target="slides/slide30.xml"/><Relationship Id="rId54"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34343"/>
                </a:solidFill>
                <a:latin typeface="DM Sans"/>
              </a:rPr>
              <a:t>Respuesta correcta entre los 10 primeros · 2.000 preguntas · eje desde 85%</a:t>
            </a:r>
          </a:p>
        </c:rich>
      </c:tx>
      <c:layout/>
      <c:overlay val="0"/>
    </c:title>
    <c:autoTitleDeleted val="0"/>
    <c:plotArea>
      <c:barChart>
        <c:barDir val="bar"/>
        <c:grouping val="clustered"/>
        <c:ser>
          <c:idx val="0"/>
          <c:order val="0"/>
          <c:tx>
            <c:strRef>
              <c:f>Sheet1!$B$1</c:f>
              <c:strCache>
                <c:ptCount val="1"/>
                <c:pt idx="0">
                  <c:v>acierto</c:v>
                </c:pt>
              </c:strCache>
            </c:strRef>
          </c:tx>
          <c:dPt>
            <c:idx val="0"/>
            <c:spPr>
              <a:solidFill>
                <a:srgbClr val="A433F3"/>
              </a:solidFill>
            </c:spPr>
          </c:dPt>
          <c:dPt>
            <c:idx val="1"/>
            <c:spPr>
              <a:solidFill>
                <a:srgbClr val="8F7FC2"/>
              </a:solidFill>
            </c:spPr>
          </c:dPt>
          <c:dPt>
            <c:idx val="2"/>
            <c:spPr>
              <a:solidFill>
                <a:srgbClr val="B9B1D6"/>
              </a:solidFill>
            </c:spPr>
          </c:dPt>
          <c:cat>
            <c:strRef>
              <c:f>Sheet1!$A$2:$A$4</c:f>
              <c:strCache>
                <c:ptCount val="3"/>
                <c:pt idx="0">
                  <c:v>Cohere Embed v4</c:v>
                </c:pt>
                <c:pt idx="1">
                  <c:v>Qwen3-Embedding-8B</c:v>
                </c:pt>
                <c:pt idx="2">
                  <c:v>Nova 2</c:v>
                </c:pt>
              </c:strCache>
            </c:strRef>
          </c:cat>
          <c:val>
            <c:numRef>
              <c:f>Sheet1!$B$2:$B$4</c:f>
              <c:numCache>
                <c:formatCode>General</c:formatCode>
                <c:ptCount val="3"/>
                <c:pt idx="0">
                  <c:v>0.952</c:v>
                </c:pt>
                <c:pt idx="1">
                  <c:v>0.946</c:v>
                </c:pt>
                <c:pt idx="2">
                  <c:v>0.912</c:v>
                </c:pt>
              </c:numCache>
            </c:numRef>
          </c:val>
        </c:ser>
        <c:dLbls>
          <c:numFmt formatCode="0.0%" sourceLinked="0"/>
          <c:txPr>
            <a:bodyPr/>
            <a:lstStyle/>
            <a:p>
              <a:pPr>
                <a:defRPr sz="1000" b="1">
                  <a:latin typeface="DM Sans"/>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BDB3DA"/>
            </a:solidFill>
          </a:ln>
        </c:spPr>
        <c:txPr>
          <a:bodyPr/>
          <a:lstStyle/>
          <a:p>
            <a:pPr>
              <a:defRPr sz="1000"/>
            </a:pPr>
          </a:p>
        </c:txPr>
        <c:crossAx val="-2113994440"/>
        <c:crosses val="autoZero"/>
        <c:auto val="1"/>
        <c:lblAlgn val="ctr"/>
        <c:lblOffset val="100"/>
        <c:noMultiLvlLbl val="0"/>
      </c:catAx>
      <c:valAx>
        <c:axId val="-2113994440"/>
        <c:scaling>
          <c:max val="1.0"/>
          <c:min val="0.85"/>
        </c:scaling>
        <c:delete val="0"/>
        <c:axPos val="b"/>
        <c:majorGridlines>
          <c:spPr>
            <a:ln>
              <a:solidFill>
                <a:srgbClr val="DDD6EE"/>
              </a:solidFill>
            </a:ln>
          </c:spPr>
        </c:majorGridlines>
        <c:numFmt formatCode="0.0%" sourceLinked="0"/>
        <c:majorTickMark val="out"/>
        <c:minorTickMark val="none"/>
        <c:tickLblPos val="nextTo"/>
        <c:spPr>
          <a:ln>
            <a:noFill/>
          </a:ln>
        </c:spPr>
        <c:txPr>
          <a:bodyPr/>
          <a:lstStyle/>
          <a:p>
            <a:pPr>
              <a:defRPr sz="900">
                <a:solidFill>
                  <a:srgbClr val="6B6B80"/>
                </a:solidFill>
              </a:defRPr>
            </a:pPr>
          </a:p>
        </c:txPr>
        <c:crossAx val="-2068027336"/>
        <c:crosses val="autoZero"/>
      </c:valAx>
    </c:plotArea>
    <c:dispBlanksAs val="gap"/>
  </c:chart>
  <c:txPr>
    <a:bodyPr/>
    <a:lstStyle/>
    <a:p>
      <a:pPr>
        <a:defRPr sz="1100">
          <a:solidFill>
            <a:srgbClr val="434343"/>
          </a:solidFill>
          <a:latin typeface="DM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34343"/>
                </a:solidFill>
                <a:latin typeface="DM Sans"/>
              </a:rPr>
              <a:t>Milisegundos de 3.000 consultas reales, de la más rápida a la más lenta</a:t>
            </a:r>
          </a:p>
        </c:rich>
      </c:tx>
      <c:layout/>
      <c:overlay val="0"/>
    </c:title>
    <c:autoTitleDeleted val="0"/>
    <c:plotArea>
      <c:barChart>
        <c:barDir val="col"/>
        <c:grouping val="clustered"/>
        <c:ser>
          <c:idx val="0"/>
          <c:order val="0"/>
          <c:tx>
            <c:strRef>
              <c:f>Sheet1!$B$1</c:f>
              <c:strCache>
                <c:ptCount val="1"/>
                <c:pt idx="0">
                  <c:v>ms</c:v>
                </c:pt>
              </c:strCache>
            </c:strRef>
          </c:tx>
          <c:dPt>
            <c:idx val="0"/>
            <c:spPr>
              <a:solidFill>
                <a:srgbClr val="D3C4F5"/>
              </a:solidFill>
            </c:spPr>
          </c:dPt>
          <c:dPt>
            <c:idx val="1"/>
            <c:spPr>
              <a:solidFill>
                <a:srgbClr val="D3C4F5"/>
              </a:solidFill>
            </c:spPr>
          </c:dPt>
          <c:dPt>
            <c:idx val="2"/>
            <c:spPr>
              <a:solidFill>
                <a:srgbClr val="D3C4F5"/>
              </a:solidFill>
            </c:spPr>
          </c:dPt>
          <c:dPt>
            <c:idx val="3"/>
            <c:spPr>
              <a:solidFill>
                <a:srgbClr val="D3C4F5"/>
              </a:solidFill>
            </c:spPr>
          </c:dPt>
          <c:dPt>
            <c:idx val="4"/>
            <c:spPr>
              <a:solidFill>
                <a:srgbClr val="D3C4F5"/>
              </a:solidFill>
            </c:spPr>
          </c:dPt>
          <c:dPt>
            <c:idx val="5"/>
            <c:spPr>
              <a:solidFill>
                <a:srgbClr val="D3C4F5"/>
              </a:solidFill>
            </c:spPr>
          </c:dPt>
          <c:dPt>
            <c:idx val="6"/>
            <c:spPr>
              <a:solidFill>
                <a:srgbClr val="D3C4F5"/>
              </a:solidFill>
            </c:spPr>
          </c:dPt>
          <c:dPt>
            <c:idx val="7"/>
            <c:spPr>
              <a:solidFill>
                <a:srgbClr val="D3C4F5"/>
              </a:solidFill>
            </c:spPr>
          </c:dPt>
          <c:dPt>
            <c:idx val="8"/>
            <c:spPr>
              <a:solidFill>
                <a:srgbClr val="D3C4F5"/>
              </a:solidFill>
            </c:spPr>
          </c:dPt>
          <c:dPt>
            <c:idx val="9"/>
            <c:spPr>
              <a:solidFill>
                <a:srgbClr val="D054FC"/>
              </a:solidFill>
            </c:spPr>
          </c:dPt>
          <c:dPt>
            <c:idx val="10"/>
            <c:spPr>
              <a:solidFill>
                <a:srgbClr val="D3C4F5"/>
              </a:solidFill>
            </c:spPr>
          </c:dPt>
          <c:dPt>
            <c:idx val="11"/>
            <c:spPr>
              <a:solidFill>
                <a:srgbClr val="D3C4F5"/>
              </a:solidFill>
            </c:spPr>
          </c:dPt>
          <c:dPt>
            <c:idx val="12"/>
            <c:spPr>
              <a:solidFill>
                <a:srgbClr val="D3C4F5"/>
              </a:solidFill>
            </c:spPr>
          </c:dPt>
          <c:dPt>
            <c:idx val="13"/>
            <c:spPr>
              <a:solidFill>
                <a:srgbClr val="D3C4F5"/>
              </a:solidFill>
            </c:spPr>
          </c:dPt>
          <c:dPt>
            <c:idx val="14"/>
            <c:spPr>
              <a:solidFill>
                <a:srgbClr val="D3C4F5"/>
              </a:solidFill>
            </c:spPr>
          </c:dPt>
          <c:dPt>
            <c:idx val="15"/>
            <c:spPr>
              <a:solidFill>
                <a:srgbClr val="D3C4F5"/>
              </a:solidFill>
            </c:spPr>
          </c:dPt>
          <c:dPt>
            <c:idx val="16"/>
            <c:spPr>
              <a:solidFill>
                <a:srgbClr val="D3C4F5"/>
              </a:solidFill>
            </c:spPr>
          </c:dPt>
          <c:dPt>
            <c:idx val="17"/>
            <c:spPr>
              <a:solidFill>
                <a:srgbClr val="D3C4F5"/>
              </a:solidFill>
            </c:spPr>
          </c:dPt>
          <c:dPt>
            <c:idx val="18"/>
            <c:spPr>
              <a:solidFill>
                <a:srgbClr val="D054FC"/>
              </a:solidFill>
            </c:spPr>
          </c:dPt>
          <c:cat>
            <c:strRef>
              <c:f>Sheet1!$A$2:$A$20</c:f>
              <c:strCache>
                <c:ptCount val="19"/>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pt idx="16">
                  <c:v>85</c:v>
                </c:pt>
                <c:pt idx="17">
                  <c:v>90</c:v>
                </c:pt>
                <c:pt idx="18">
                  <c:v>95</c:v>
                </c:pt>
              </c:strCache>
            </c:strRef>
          </c:cat>
          <c:val>
            <c:numRef>
              <c:f>Sheet1!$B$2:$B$20</c:f>
              <c:numCache>
                <c:formatCode>General</c:formatCode>
                <c:ptCount val="19"/>
                <c:pt idx="0">
                  <c:v>25.196349997713696</c:v>
                </c:pt>
                <c:pt idx="1">
                  <c:v>25.929622999683488</c:v>
                </c:pt>
                <c:pt idx="2">
                  <c:v>26.528970993240364</c:v>
                </c:pt>
                <c:pt idx="3">
                  <c:v>27.048338000895455</c:v>
                </c:pt>
                <c:pt idx="4">
                  <c:v>27.577328000916168</c:v>
                </c:pt>
                <c:pt idx="5">
                  <c:v>28.045704995747656</c:v>
                </c:pt>
                <c:pt idx="6">
                  <c:v>28.51677900616778</c:v>
                </c:pt>
                <c:pt idx="7">
                  <c:v>29.01470100186998</c:v>
                </c:pt>
                <c:pt idx="8">
                  <c:v>29.469218003214337</c:v>
                </c:pt>
                <c:pt idx="9">
                  <c:v>29.946508999273647</c:v>
                </c:pt>
                <c:pt idx="10">
                  <c:v>30.396454996662214</c:v>
                </c:pt>
                <c:pt idx="11">
                  <c:v>30.908257998817135</c:v>
                </c:pt>
                <c:pt idx="12">
                  <c:v>31.45043199765496</c:v>
                </c:pt>
                <c:pt idx="13">
                  <c:v>32.11757299868623</c:v>
                </c:pt>
                <c:pt idx="14">
                  <c:v>32.964591002382804</c:v>
                </c:pt>
                <c:pt idx="15">
                  <c:v>33.97944599419134</c:v>
                </c:pt>
                <c:pt idx="16">
                  <c:v>35.25779399933526</c:v>
                </c:pt>
                <c:pt idx="17">
                  <c:v>37.09175499534467</c:v>
                </c:pt>
                <c:pt idx="18">
                  <c:v>41.08268300478812</c:v>
                </c:pt>
              </c:numCache>
            </c:numRef>
          </c:val>
        </c:ser>
        <c:gapWidth val="30"/>
        <c:axId val="-2068027336"/>
        <c:axId val="-2113994440"/>
      </c:barChart>
      <c:catAx>
        <c:axId val="-2068027336"/>
        <c:scaling>
          <c:orientation val="minMax"/>
        </c:scaling>
        <c:delete val="0"/>
        <c:axPos val="b"/>
        <c:majorTickMark val="out"/>
        <c:minorTickMark val="none"/>
        <c:tickLblPos val="nextTo"/>
        <c:spPr>
          <a:ln>
            <a:solidFill>
              <a:srgbClr val="BDB3DA"/>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DD6EE"/>
              </a:solidFill>
            </a:ln>
          </c:spPr>
        </c:majorGridlines>
        <c:numFmt formatCode="0" sourceLinked="0"/>
        <c:majorTickMark val="out"/>
        <c:minorTickMark val="none"/>
        <c:tickLblPos val="nextTo"/>
        <c:spPr>
          <a:ln>
            <a:noFill/>
          </a:ln>
        </c:spPr>
        <c:txPr>
          <a:bodyPr/>
          <a:lstStyle/>
          <a:p>
            <a:pPr>
              <a:defRPr sz="900">
                <a:solidFill>
                  <a:srgbClr val="6B6B80"/>
                </a:solidFill>
              </a:defRPr>
            </a:pPr>
          </a:p>
        </c:txPr>
        <c:crossAx val="-2068027336"/>
        <c:crosses val="autoZero"/>
      </c:valAx>
    </c:plotArea>
    <c:dispBlanksAs val="gap"/>
  </c:chart>
  <c:txPr>
    <a:bodyPr/>
    <a:lstStyle/>
    <a:p>
      <a:pPr>
        <a:defRPr sz="1100">
          <a:solidFill>
            <a:srgbClr val="434343"/>
          </a:solidFill>
          <a:latin typeface="DM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34343"/>
                </a:solidFill>
                <a:latin typeface="DM Sans"/>
              </a:rPr>
              <a:t>Milisegundos · Stack Overflow, 100.000 vectores</a:t>
            </a:r>
          </a:p>
        </c:rich>
      </c:tx>
      <c:layout/>
      <c:overlay val="0"/>
    </c:title>
    <c:autoTitleDeleted val="0"/>
    <c:plotArea>
      <c:barChart>
        <c:barDir val="col"/>
        <c:grouping val="clustered"/>
        <c:ser>
          <c:idx val="0"/>
          <c:order val="0"/>
          <c:tx>
            <c:strRef>
              <c:f>Sheet1!$B$1</c:f>
              <c:strCache>
                <c:ptCount val="1"/>
                <c:pt idx="0">
                  <c:v>p50</c:v>
                </c:pt>
              </c:strCache>
            </c:strRef>
          </c:tx>
          <c:spPr>
            <a:solidFill>
              <a:srgbClr val="A433F3"/>
            </a:solidFill>
          </c:spPr>
          <c:cat>
            <c:strRef>
              <c:f>Sheet1!$A$2:$A$5</c:f>
              <c:strCache>
                <c:ptCount val="4"/>
                <c:pt idx="0">
                  <c:v>Aurora</c:v>
                </c:pt>
                <c:pt idx="1">
                  <c:v>DynamoDB</c:v>
                </c:pt>
                <c:pt idx="2">
                  <c:v>OpenSearch</c:v>
                </c:pt>
                <c:pt idx="3">
                  <c:v>S3 Vectors</c:v>
                </c:pt>
              </c:strCache>
            </c:strRef>
          </c:cat>
          <c:val>
            <c:numRef>
              <c:f>Sheet1!$B$2:$B$5</c:f>
              <c:numCache>
                <c:formatCode>General</c:formatCode>
                <c:ptCount val="4"/>
                <c:pt idx="0">
                  <c:v>1.310304993239697</c:v>
                </c:pt>
                <c:pt idx="1">
                  <c:v>12.714864002191462</c:v>
                </c:pt>
                <c:pt idx="2">
                  <c:v>29.946508999273647</c:v>
                </c:pt>
                <c:pt idx="3">
                  <c:v>62.26490499830106</c:v>
                </c:pt>
              </c:numCache>
            </c:numRef>
          </c:val>
        </c:ser>
        <c:ser>
          <c:idx val="1"/>
          <c:order val="1"/>
          <c:tx>
            <c:strRef>
              <c:f>Sheet1!$C$1</c:f>
              <c:strCache>
                <c:ptCount val="1"/>
                <c:pt idx="0">
                  <c:v>p95</c:v>
                </c:pt>
              </c:strCache>
            </c:strRef>
          </c:tx>
          <c:spPr>
            <a:solidFill>
              <a:srgbClr val="D3C4F5"/>
            </a:solidFill>
          </c:spPr>
          <c:cat>
            <c:strRef>
              <c:f>Sheet1!$A$2:$A$5</c:f>
              <c:strCache>
                <c:ptCount val="4"/>
                <c:pt idx="0">
                  <c:v>Aurora</c:v>
                </c:pt>
                <c:pt idx="1">
                  <c:v>DynamoDB</c:v>
                </c:pt>
                <c:pt idx="2">
                  <c:v>OpenSearch</c:v>
                </c:pt>
                <c:pt idx="3">
                  <c:v>S3 Vectors</c:v>
                </c:pt>
              </c:strCache>
            </c:strRef>
          </c:cat>
          <c:val>
            <c:numRef>
              <c:f>Sheet1!$C$2:$C$5</c:f>
              <c:numCache>
                <c:formatCode>General</c:formatCode>
                <c:ptCount val="4"/>
                <c:pt idx="0">
                  <c:v>1.6060560010373592</c:v>
                </c:pt>
                <c:pt idx="1">
                  <c:v>14.603852003347129</c:v>
                </c:pt>
                <c:pt idx="2">
                  <c:v>41.08268300478812</c:v>
                </c:pt>
                <c:pt idx="3">
                  <c:v>67.26781000179471</c:v>
                </c:pt>
              </c:numCache>
            </c:numRef>
          </c:val>
        </c:ser>
        <c:dLbls>
          <c:numFmt formatCode="0.0" sourceLinked="0"/>
          <c:txPr>
            <a:bodyPr/>
            <a:lstStyle/>
            <a:p>
              <a:pPr>
                <a:defRPr sz="1000" b="1">
                  <a:latin typeface="DM Sans"/>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BDB3DA"/>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DD6EE"/>
              </a:solidFill>
            </a:ln>
          </c:spPr>
        </c:majorGridlines>
        <c:numFmt formatCode="0.0" sourceLinked="0"/>
        <c:majorTickMark val="out"/>
        <c:minorTickMark val="none"/>
        <c:tickLblPos val="nextTo"/>
        <c:spPr>
          <a:ln>
            <a:noFill/>
          </a:ln>
        </c:spPr>
        <c:txPr>
          <a:bodyPr/>
          <a:lstStyle/>
          <a:p>
            <a:pPr>
              <a:defRPr sz="900">
                <a:solidFill>
                  <a:srgbClr val="6B6B80"/>
                </a:solidFill>
              </a:defRPr>
            </a:pPr>
          </a:p>
        </c:txPr>
        <c:crossAx val="-2068027336"/>
        <c:crosses val="autoZero"/>
      </c:valAx>
    </c:plotArea>
    <c:legend>
      <c:legendPos val="t"/>
      <c:overlay val="0"/>
      <c:txPr>
        <a:bodyPr/>
        <a:lstStyle/>
        <a:p>
          <a:pPr>
            <a:defRPr sz="1000">
              <a:latin typeface="DM Sans"/>
            </a:defRPr>
          </a:pPr>
        </a:p>
      </c:txPr>
    </c:legend>
    <c:dispBlanksAs val="gap"/>
  </c:chart>
  <c:txPr>
    <a:bodyPr/>
    <a:lstStyle/>
    <a:p>
      <a:pPr>
        <a:defRPr sz="1100">
          <a:solidFill>
            <a:srgbClr val="434343"/>
          </a:solidFill>
          <a:latin typeface="DM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34343"/>
                </a:solidFill>
                <a:latin typeface="DM Sans"/>
              </a:rPr>
              <a:t>Recall@10 · Stack Overflow · eje desde 90%</a:t>
            </a:r>
          </a:p>
        </c:rich>
      </c:tx>
      <c:layout/>
      <c:overlay val="0"/>
    </c:title>
    <c:autoTitleDeleted val="0"/>
    <c:plotArea>
      <c:barChart>
        <c:barDir val="bar"/>
        <c:grouping val="clustered"/>
        <c:ser>
          <c:idx val="0"/>
          <c:order val="0"/>
          <c:tx>
            <c:strRef>
              <c:f>Sheet1!$B$1</c:f>
              <c:strCache>
                <c:ptCount val="1"/>
                <c:pt idx="0">
                  <c:v>recall@10</c:v>
                </c:pt>
              </c:strCache>
            </c:strRef>
          </c:tx>
          <c:dPt>
            <c:idx val="0"/>
            <c:spPr>
              <a:solidFill>
                <a:srgbClr val="C9B3F7"/>
              </a:solidFill>
            </c:spPr>
          </c:dPt>
          <c:dPt>
            <c:idx val="1"/>
            <c:spPr>
              <a:solidFill>
                <a:srgbClr val="B38CF5"/>
              </a:solidFill>
            </c:spPr>
          </c:dPt>
          <c:dPt>
            <c:idx val="2"/>
            <c:spPr>
              <a:solidFill>
                <a:srgbClr val="A433F3"/>
              </a:solidFill>
            </c:spPr>
          </c:dPt>
          <c:dPt>
            <c:idx val="3"/>
            <c:spPr>
              <a:solidFill>
                <a:srgbClr val="3D5AFE"/>
              </a:solidFill>
            </c:spPr>
          </c:dPt>
          <c:dPt>
            <c:idx val="4"/>
            <c:spPr>
              <a:solidFill>
                <a:srgbClr val="0E9F9A"/>
              </a:solidFill>
            </c:spPr>
          </c:dPt>
          <c:dPt>
            <c:idx val="5"/>
            <c:spPr>
              <a:solidFill>
                <a:srgbClr val="E8590C"/>
              </a:solidFill>
            </c:spPr>
          </c:dPt>
          <c:cat>
            <c:strRef>
              <c:f>Sheet1!$A$2:$A$7</c:f>
              <c:strCache>
                <c:ptCount val="6"/>
                <c:pt idx="0">
                  <c:v>Aurora ef=40</c:v>
                </c:pt>
                <c:pt idx="1">
                  <c:v>Aurora ef=100</c:v>
                </c:pt>
                <c:pt idx="2">
                  <c:v>Aurora ef=200</c:v>
                </c:pt>
                <c:pt idx="3">
                  <c:v>DynamoDB</c:v>
                </c:pt>
                <c:pt idx="4">
                  <c:v>OpenSearch</c:v>
                </c:pt>
                <c:pt idx="5">
                  <c:v>S3 Vectors</c:v>
                </c:pt>
              </c:strCache>
            </c:strRef>
          </c:cat>
          <c:val>
            <c:numRef>
              <c:f>Sheet1!$B$2:$B$7</c:f>
              <c:numCache>
                <c:formatCode>General</c:formatCode>
                <c:ptCount val="6"/>
                <c:pt idx="0">
                  <c:v>0.9271</c:v>
                </c:pt>
                <c:pt idx="1">
                  <c:v>0.9689</c:v>
                </c:pt>
                <c:pt idx="2">
                  <c:v>0.9856</c:v>
                </c:pt>
                <c:pt idx="3">
                  <c:v>0.9957666666666667</c:v>
                </c:pt>
                <c:pt idx="4">
                  <c:v>0.9609</c:v>
                </c:pt>
                <c:pt idx="5">
                  <c:v>0.9613333333333334</c:v>
                </c:pt>
              </c:numCache>
            </c:numRef>
          </c:val>
        </c:ser>
        <c:dLbls>
          <c:numFmt formatCode="0.0%" sourceLinked="0"/>
          <c:txPr>
            <a:bodyPr/>
            <a:lstStyle/>
            <a:p>
              <a:pPr>
                <a:defRPr sz="1000" b="1">
                  <a:latin typeface="DM Sans"/>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BDB3DA"/>
            </a:solidFill>
          </a:ln>
        </c:spPr>
        <c:txPr>
          <a:bodyPr/>
          <a:lstStyle/>
          <a:p>
            <a:pPr>
              <a:defRPr sz="1000"/>
            </a:pPr>
          </a:p>
        </c:txPr>
        <c:crossAx val="-2113994440"/>
        <c:crosses val="autoZero"/>
        <c:auto val="1"/>
        <c:lblAlgn val="ctr"/>
        <c:lblOffset val="100"/>
        <c:noMultiLvlLbl val="0"/>
      </c:catAx>
      <c:valAx>
        <c:axId val="-2113994440"/>
        <c:scaling>
          <c:max val="1.0"/>
          <c:min val="0.9"/>
        </c:scaling>
        <c:delete val="0"/>
        <c:axPos val="b"/>
        <c:majorGridlines>
          <c:spPr>
            <a:ln>
              <a:solidFill>
                <a:srgbClr val="DDD6EE"/>
              </a:solidFill>
            </a:ln>
          </c:spPr>
        </c:majorGridlines>
        <c:numFmt formatCode="0%" sourceLinked="0"/>
        <c:majorTickMark val="out"/>
        <c:minorTickMark val="none"/>
        <c:tickLblPos val="nextTo"/>
        <c:spPr>
          <a:ln>
            <a:noFill/>
          </a:ln>
        </c:spPr>
        <c:txPr>
          <a:bodyPr/>
          <a:lstStyle/>
          <a:p>
            <a:pPr>
              <a:defRPr sz="900">
                <a:solidFill>
                  <a:srgbClr val="6B6B80"/>
                </a:solidFill>
              </a:defRPr>
            </a:pPr>
          </a:p>
        </c:txPr>
        <c:crossAx val="-2068027336"/>
        <c:crosses val="autoZero"/>
      </c:valAx>
    </c:plotArea>
    <c:dispBlanksAs val="gap"/>
  </c:chart>
  <c:txPr>
    <a:bodyPr/>
    <a:lstStyle/>
    <a:p>
      <a:pPr>
        <a:defRPr sz="1100">
          <a:solidFill>
            <a:srgbClr val="434343"/>
          </a:solidFill>
          <a:latin typeface="DM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34343"/>
                </a:solidFill>
                <a:latin typeface="DM Sans"/>
              </a:rPr>
              <a:t>Milisegundos (p50) · Stack Overflow</a:t>
            </a:r>
          </a:p>
        </c:rich>
      </c:tx>
      <c:layout/>
      <c:overlay val="0"/>
    </c:title>
    <c:autoTitleDeleted val="0"/>
    <c:plotArea>
      <c:barChart>
        <c:barDir val="col"/>
        <c:grouping val="clustered"/>
        <c:ser>
          <c:idx val="0"/>
          <c:order val="0"/>
          <c:tx>
            <c:strRef>
              <c:f>Sheet1!$B$1</c:f>
              <c:strCache>
                <c:ptCount val="1"/>
                <c:pt idx="0">
                  <c:v>sin filtro</c:v>
                </c:pt>
              </c:strCache>
            </c:strRef>
          </c:tx>
          <c:spPr>
            <a:solidFill>
              <a:srgbClr val="D3C4F5"/>
            </a:solidFill>
          </c:spPr>
          <c:cat>
            <c:strRef>
              <c:f>Sheet1!$A$2:$A$5</c:f>
              <c:strCache>
                <c:ptCount val="4"/>
                <c:pt idx="0">
                  <c:v>Aurora</c:v>
                </c:pt>
                <c:pt idx="1">
                  <c:v>DynamoDB</c:v>
                </c:pt>
                <c:pt idx="2">
                  <c:v>OpenSearch</c:v>
                </c:pt>
                <c:pt idx="3">
                  <c:v>S3 Vectors</c:v>
                </c:pt>
              </c:strCache>
            </c:strRef>
          </c:cat>
          <c:val>
            <c:numRef>
              <c:f>Sheet1!$B$2:$B$5</c:f>
              <c:numCache>
                <c:formatCode>General</c:formatCode>
                <c:ptCount val="4"/>
                <c:pt idx="0">
                  <c:v>1.310304993239697</c:v>
                </c:pt>
                <c:pt idx="1">
                  <c:v>12.714864002191462</c:v>
                </c:pt>
                <c:pt idx="2">
                  <c:v>29.946508999273647</c:v>
                </c:pt>
                <c:pt idx="3">
                  <c:v>62.26490499830106</c:v>
                </c:pt>
              </c:numCache>
            </c:numRef>
          </c:val>
        </c:ser>
        <c:ser>
          <c:idx val="1"/>
          <c:order val="1"/>
          <c:tx>
            <c:strRef>
              <c:f>Sheet1!$C$1</c:f>
              <c:strCache>
                <c:ptCount val="1"/>
                <c:pt idx="0">
                  <c:v>con filtro</c:v>
                </c:pt>
              </c:strCache>
            </c:strRef>
          </c:tx>
          <c:spPr>
            <a:solidFill>
              <a:srgbClr val="A433F3"/>
            </a:solidFill>
          </c:spPr>
          <c:cat>
            <c:strRef>
              <c:f>Sheet1!$A$2:$A$5</c:f>
              <c:strCache>
                <c:ptCount val="4"/>
                <c:pt idx="0">
                  <c:v>Aurora</c:v>
                </c:pt>
                <c:pt idx="1">
                  <c:v>DynamoDB</c:v>
                </c:pt>
                <c:pt idx="2">
                  <c:v>OpenSearch</c:v>
                </c:pt>
                <c:pt idx="3">
                  <c:v>S3 Vectors</c:v>
                </c:pt>
              </c:strCache>
            </c:strRef>
          </c:cat>
          <c:val>
            <c:numRef>
              <c:f>Sheet1!$C$2:$C$5</c:f>
              <c:numCache>
                <c:formatCode>General</c:formatCode>
                <c:ptCount val="4"/>
                <c:pt idx="0">
                  <c:v>46.14131099515362</c:v>
                </c:pt>
                <c:pt idx="1">
                  <c:v>24.181854001653846</c:v>
                </c:pt>
                <c:pt idx="2">
                  <c:v>30.88067599310307</c:v>
                </c:pt>
                <c:pt idx="3">
                  <c:v>62.38881799799856</c:v>
                </c:pt>
              </c:numCache>
            </c:numRef>
          </c:val>
        </c:ser>
        <c:dLbls>
          <c:numFmt formatCode="0.0" sourceLinked="0"/>
          <c:txPr>
            <a:bodyPr/>
            <a:lstStyle/>
            <a:p>
              <a:pPr>
                <a:defRPr sz="1000" b="1">
                  <a:latin typeface="DM Sans"/>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BDB3DA"/>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DD6EE"/>
              </a:solidFill>
            </a:ln>
          </c:spPr>
        </c:majorGridlines>
        <c:numFmt formatCode="0.0" sourceLinked="0"/>
        <c:majorTickMark val="out"/>
        <c:minorTickMark val="none"/>
        <c:tickLblPos val="nextTo"/>
        <c:spPr>
          <a:ln>
            <a:noFill/>
          </a:ln>
        </c:spPr>
        <c:txPr>
          <a:bodyPr/>
          <a:lstStyle/>
          <a:p>
            <a:pPr>
              <a:defRPr sz="900">
                <a:solidFill>
                  <a:srgbClr val="6B6B80"/>
                </a:solidFill>
              </a:defRPr>
            </a:pPr>
          </a:p>
        </c:txPr>
        <c:crossAx val="-2068027336"/>
        <c:crosses val="autoZero"/>
      </c:valAx>
    </c:plotArea>
    <c:legend>
      <c:legendPos val="t"/>
      <c:overlay val="0"/>
      <c:txPr>
        <a:bodyPr/>
        <a:lstStyle/>
        <a:p>
          <a:pPr>
            <a:defRPr sz="1000">
              <a:latin typeface="DM Sans"/>
            </a:defRPr>
          </a:pPr>
        </a:p>
      </c:txPr>
    </c:legend>
    <c:dispBlanksAs val="gap"/>
  </c:chart>
  <c:txPr>
    <a:bodyPr/>
    <a:lstStyle/>
    <a:p>
      <a:pPr>
        <a:defRPr sz="1100">
          <a:solidFill>
            <a:srgbClr val="434343"/>
          </a:solidFill>
          <a:latin typeface="DM San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34343"/>
                </a:solidFill>
                <a:latin typeface="DM Sans"/>
              </a:rPr>
              <a:t>Milisegundos (p50) · Stack Overflow</a:t>
            </a:r>
          </a:p>
        </c:rich>
      </c:tx>
      <c:layout/>
      <c:overlay val="0"/>
    </c:title>
    <c:autoTitleDeleted val="0"/>
    <c:plotArea>
      <c:barChart>
        <c:barDir val="col"/>
        <c:grouping val="clustered"/>
        <c:ser>
          <c:idx val="0"/>
          <c:order val="0"/>
          <c:tx>
            <c:strRef>
              <c:f>Sheet1!$B$1</c:f>
              <c:strCache>
                <c:ptCount val="1"/>
                <c:pt idx="0">
                  <c:v>solo búsqueda</c:v>
                </c:pt>
              </c:strCache>
            </c:strRef>
          </c:tx>
          <c:spPr>
            <a:solidFill>
              <a:srgbClr val="D3C4F5"/>
            </a:solidFill>
          </c:spPr>
          <c:cat>
            <c:strRef>
              <c:f>Sheet1!$A$2:$A$5</c:f>
              <c:strCache>
                <c:ptCount val="4"/>
                <c:pt idx="0">
                  <c:v>Aurora</c:v>
                </c:pt>
                <c:pt idx="1">
                  <c:v>DynamoDB</c:v>
                </c:pt>
                <c:pt idx="2">
                  <c:v>OpenSearch</c:v>
                </c:pt>
                <c:pt idx="3">
                  <c:v>S3 Vectors</c:v>
                </c:pt>
              </c:strCache>
            </c:strRef>
          </c:cat>
          <c:val>
            <c:numRef>
              <c:f>Sheet1!$B$2:$B$5</c:f>
              <c:numCache>
                <c:formatCode>General</c:formatCode>
                <c:ptCount val="4"/>
                <c:pt idx="0">
                  <c:v>1.310304993239697</c:v>
                </c:pt>
                <c:pt idx="1">
                  <c:v>12.714864002191462</c:v>
                </c:pt>
                <c:pt idx="2">
                  <c:v>29.946508999273647</c:v>
                </c:pt>
                <c:pt idx="3">
                  <c:v>62.26490499830106</c:v>
                </c:pt>
              </c:numCache>
            </c:numRef>
          </c:val>
        </c:ser>
        <c:ser>
          <c:idx val="1"/>
          <c:order val="1"/>
          <c:tx>
            <c:strRef>
              <c:f>Sheet1!$C$1</c:f>
              <c:strCache>
                <c:ptCount val="1"/>
                <c:pt idx="0">
                  <c:v>con datos relacionados</c:v>
                </c:pt>
              </c:strCache>
            </c:strRef>
          </c:tx>
          <c:spPr>
            <a:solidFill>
              <a:srgbClr val="A433F3"/>
            </a:solidFill>
          </c:spPr>
          <c:cat>
            <c:strRef>
              <c:f>Sheet1!$A$2:$A$5</c:f>
              <c:strCache>
                <c:ptCount val="4"/>
                <c:pt idx="0">
                  <c:v>Aurora</c:v>
                </c:pt>
                <c:pt idx="1">
                  <c:v>DynamoDB</c:v>
                </c:pt>
                <c:pt idx="2">
                  <c:v>OpenSearch</c:v>
                </c:pt>
                <c:pt idx="3">
                  <c:v>S3 Vectors</c:v>
                </c:pt>
              </c:strCache>
            </c:strRef>
          </c:cat>
          <c:val>
            <c:numRef>
              <c:f>Sheet1!$C$2:$C$5</c:f>
              <c:numCache>
                <c:formatCode>General</c:formatCode>
                <c:ptCount val="4"/>
                <c:pt idx="0">
                  <c:v>1.4711710027768277</c:v>
                </c:pt>
                <c:pt idx="1">
                  <c:v>17.98979300656356</c:v>
                </c:pt>
                <c:pt idx="2">
                  <c:v>35.1316529995529</c:v>
                </c:pt>
                <c:pt idx="3">
                  <c:v>66.91343699640129</c:v>
                </c:pt>
              </c:numCache>
            </c:numRef>
          </c:val>
        </c:ser>
        <c:dLbls>
          <c:numFmt formatCode="0.0" sourceLinked="0"/>
          <c:txPr>
            <a:bodyPr/>
            <a:lstStyle/>
            <a:p>
              <a:pPr>
                <a:defRPr sz="1000" b="1">
                  <a:latin typeface="DM Sans"/>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BDB3DA"/>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DD6EE"/>
              </a:solidFill>
            </a:ln>
          </c:spPr>
        </c:majorGridlines>
        <c:numFmt formatCode="0.0" sourceLinked="0"/>
        <c:majorTickMark val="out"/>
        <c:minorTickMark val="none"/>
        <c:tickLblPos val="nextTo"/>
        <c:spPr>
          <a:ln>
            <a:noFill/>
          </a:ln>
        </c:spPr>
        <c:txPr>
          <a:bodyPr/>
          <a:lstStyle/>
          <a:p>
            <a:pPr>
              <a:defRPr sz="900">
                <a:solidFill>
                  <a:srgbClr val="6B6B80"/>
                </a:solidFill>
              </a:defRPr>
            </a:pPr>
          </a:p>
        </c:txPr>
        <c:crossAx val="-2068027336"/>
        <c:crosses val="autoZero"/>
      </c:valAx>
    </c:plotArea>
    <c:legend>
      <c:legendPos val="t"/>
      <c:overlay val="0"/>
      <c:txPr>
        <a:bodyPr/>
        <a:lstStyle/>
        <a:p>
          <a:pPr>
            <a:defRPr sz="1000">
              <a:latin typeface="DM Sans"/>
            </a:defRPr>
          </a:pPr>
        </a:p>
      </c:txPr>
    </c:legend>
    <c:dispBlanksAs val="gap"/>
  </c:chart>
  <c:txPr>
    <a:bodyPr/>
    <a:lstStyle/>
    <a:p>
      <a:pPr>
        <a:defRPr sz="1100">
          <a:solidFill>
            <a:srgbClr val="434343"/>
          </a:solidFill>
          <a:latin typeface="DM San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34343"/>
                </a:solidFill>
                <a:latin typeface="DM Sans"/>
              </a:rPr>
              <a:t>USD por millón de búsquedas · Stack Overflow</a:t>
            </a:r>
          </a:p>
        </c:rich>
      </c:tx>
      <c:layout/>
      <c:overlay val="0"/>
    </c:title>
    <c:autoTitleDeleted val="0"/>
    <c:plotArea>
      <c:barChart>
        <c:barDir val="col"/>
        <c:grouping val="clustered"/>
        <c:ser>
          <c:idx val="0"/>
          <c:order val="0"/>
          <c:tx>
            <c:strRef>
              <c:f>Sheet1!$B$1</c:f>
              <c:strCache>
                <c:ptCount val="1"/>
                <c:pt idx="0">
                  <c:v>USD</c:v>
                </c:pt>
              </c:strCache>
            </c:strRef>
          </c:tx>
          <c:dPt>
            <c:idx val="0"/>
            <c:spPr>
              <a:solidFill>
                <a:srgbClr val="3D5AFE"/>
              </a:solidFill>
            </c:spPr>
          </c:dPt>
          <c:dPt>
            <c:idx val="1"/>
            <c:spPr>
              <a:solidFill>
                <a:srgbClr val="0E9F9A"/>
              </a:solidFill>
            </c:spPr>
          </c:dPt>
          <c:dPt>
            <c:idx val="2"/>
            <c:spPr>
              <a:solidFill>
                <a:srgbClr val="A433F3"/>
              </a:solidFill>
            </c:spPr>
          </c:dPt>
          <c:dPt>
            <c:idx val="3"/>
            <c:spPr>
              <a:solidFill>
                <a:srgbClr val="E8590C"/>
              </a:solidFill>
            </c:spPr>
          </c:dPt>
          <c:cat>
            <c:strRef>
              <c:f>Sheet1!$A$2:$A$5</c:f>
              <c:strCache>
                <c:ptCount val="4"/>
                <c:pt idx="0">
                  <c:v>DynamoDB</c:v>
                </c:pt>
                <c:pt idx="1">
                  <c:v>OpenSearch</c:v>
                </c:pt>
                <c:pt idx="2">
                  <c:v>Aurora</c:v>
                </c:pt>
                <c:pt idx="3">
                  <c:v>S3 Vectors</c:v>
                </c:pt>
              </c:strCache>
            </c:strRef>
          </c:cat>
          <c:val>
            <c:numRef>
              <c:f>Sheet1!$B$2:$B$5</c:f>
              <c:numCache>
                <c:formatCode>General</c:formatCode>
                <c:ptCount val="4"/>
                <c:pt idx="0">
                  <c:v>0.12832800423105556</c:v>
                </c:pt>
                <c:pt idx="1">
                  <c:v>2.6</c:v>
                </c:pt>
                <c:pt idx="2">
                  <c:v>3.9973333333333336</c:v>
                </c:pt>
                <c:pt idx="3">
                  <c:v>4.031912130303681</c:v>
                </c:pt>
              </c:numCache>
            </c:numRef>
          </c:val>
        </c:ser>
        <c:dLbls>
          <c:numFmt formatCode="&quot;$&quot;0.00" sourceLinked="0"/>
          <c:txPr>
            <a:bodyPr/>
            <a:lstStyle/>
            <a:p>
              <a:pPr>
                <a:defRPr sz="1000" b="1">
                  <a:latin typeface="DM Sans"/>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DB3DA"/>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DD6EE"/>
              </a:solidFill>
            </a:ln>
          </c:spPr>
        </c:majorGridlines>
        <c:numFmt formatCode="&quot;$&quot;0.00" sourceLinked="0"/>
        <c:majorTickMark val="out"/>
        <c:minorTickMark val="none"/>
        <c:tickLblPos val="nextTo"/>
        <c:spPr>
          <a:ln>
            <a:noFill/>
          </a:ln>
        </c:spPr>
        <c:txPr>
          <a:bodyPr/>
          <a:lstStyle/>
          <a:p>
            <a:pPr>
              <a:defRPr sz="900">
                <a:solidFill>
                  <a:srgbClr val="6B6B80"/>
                </a:solidFill>
              </a:defRPr>
            </a:pPr>
          </a:p>
        </c:txPr>
        <c:crossAx val="-2068027336"/>
        <c:crosses val="autoZero"/>
      </c:valAx>
    </c:plotArea>
    <c:dispBlanksAs val="gap"/>
  </c:chart>
  <c:txPr>
    <a:bodyPr/>
    <a:lstStyle/>
    <a:p>
      <a:pPr>
        <a:defRPr sz="1100">
          <a:solidFill>
            <a:srgbClr val="434343"/>
          </a:solidFill>
          <a:latin typeface="DM San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34343"/>
                </a:solidFill>
                <a:latin typeface="DM Sans"/>
              </a:rPr>
              <a:t>USD al mes si nunca se apaga · capacidad mínima medida</a:t>
            </a:r>
          </a:p>
        </c:rich>
      </c:tx>
      <c:layout/>
      <c:overlay val="0"/>
    </c:title>
    <c:autoTitleDeleted val="0"/>
    <c:plotArea>
      <c:barChart>
        <c:barDir val="col"/>
        <c:grouping val="clustered"/>
        <c:ser>
          <c:idx val="0"/>
          <c:order val="0"/>
          <c:tx>
            <c:strRef>
              <c:f>Sheet1!$B$1</c:f>
              <c:strCache>
                <c:ptCount val="1"/>
                <c:pt idx="0">
                  <c:v>USD/mes</c:v>
                </c:pt>
              </c:strCache>
            </c:strRef>
          </c:tx>
          <c:dPt>
            <c:idx val="0"/>
            <c:spPr>
              <a:solidFill>
                <a:srgbClr val="A433F3"/>
              </a:solidFill>
            </c:spPr>
          </c:dPt>
          <c:dPt>
            <c:idx val="1"/>
            <c:spPr>
              <a:solidFill>
                <a:srgbClr val="3D5AFE"/>
              </a:solidFill>
            </c:spPr>
          </c:dPt>
          <c:dPt>
            <c:idx val="2"/>
            <c:spPr>
              <a:solidFill>
                <a:srgbClr val="0E9F9A"/>
              </a:solidFill>
            </c:spPr>
          </c:dPt>
          <c:dPt>
            <c:idx val="3"/>
            <c:spPr>
              <a:solidFill>
                <a:srgbClr val="E8590C"/>
              </a:solidFill>
            </c:spPr>
          </c:dPt>
          <c:cat>
            <c:strRef>
              <c:f>Sheet1!$A$2:$A$5</c:f>
              <c:strCache>
                <c:ptCount val="4"/>
                <c:pt idx="0">
                  <c:v>Aurora</c:v>
                </c:pt>
                <c:pt idx="1">
                  <c:v>DynamoDB</c:v>
                </c:pt>
                <c:pt idx="2">
                  <c:v>OpenSearch</c:v>
                </c:pt>
                <c:pt idx="3">
                  <c:v>S3 Vectors</c:v>
                </c:pt>
              </c:strCache>
            </c:strRef>
          </c:cat>
          <c:val>
            <c:numRef>
              <c:f>Sheet1!$B$2:$B$5</c:f>
              <c:numCache>
                <c:formatCode>General</c:formatCode>
                <c:ptCount val="4"/>
                <c:pt idx="0">
                  <c:v>58.7</c:v>
                </c:pt>
                <c:pt idx="1">
                  <c:v>0</c:v>
                </c:pt>
                <c:pt idx="2">
                  <c:v>175.2</c:v>
                </c:pt>
                <c:pt idx="3">
                  <c:v>0</c:v>
                </c:pt>
              </c:numCache>
            </c:numRef>
          </c:val>
        </c:ser>
        <c:dLbls>
          <c:numFmt formatCode="&quot;$&quot;0" sourceLinked="0"/>
          <c:txPr>
            <a:bodyPr/>
            <a:lstStyle/>
            <a:p>
              <a:pPr>
                <a:defRPr sz="1000" b="1">
                  <a:latin typeface="DM Sans"/>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DB3DA"/>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DD6EE"/>
              </a:solidFill>
            </a:ln>
          </c:spPr>
        </c:majorGridlines>
        <c:numFmt formatCode="&quot;$&quot;0" sourceLinked="0"/>
        <c:majorTickMark val="out"/>
        <c:minorTickMark val="none"/>
        <c:tickLblPos val="nextTo"/>
        <c:spPr>
          <a:ln>
            <a:noFill/>
          </a:ln>
        </c:spPr>
        <c:txPr>
          <a:bodyPr/>
          <a:lstStyle/>
          <a:p>
            <a:pPr>
              <a:defRPr sz="900">
                <a:solidFill>
                  <a:srgbClr val="6B6B80"/>
                </a:solidFill>
              </a:defRPr>
            </a:pPr>
          </a:p>
        </c:txPr>
        <c:crossAx val="-2068027336"/>
        <c:crosses val="autoZero"/>
      </c:valAx>
    </c:plotArea>
    <c:dispBlanksAs val="gap"/>
  </c:chart>
  <c:txPr>
    <a:bodyPr/>
    <a:lstStyle/>
    <a:p>
      <a:pPr>
        <a:defRPr sz="1100">
          <a:solidFill>
            <a:srgbClr val="434343"/>
          </a:solidFill>
          <a:latin typeface="DM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2b87a6a488bce1f9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2b87a6a488bce1f9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[0:00–0:30] Bienvenida. Pregunta a la sala, a mano alzada: ¿quién ha armado un buscador con IA o un RAG? ¿Y quién lo tuvo que mostrar en vivo?</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[4:30–5:30] Respuesta correcta = la respuesta aceptada en Stack Overflow (results/2026-10-08/bakeoff.csv). Nova 2: 91,2%. Eje recortado desde 85%: entre Cohere y Qwen hay 0,6 puntos. Dato de respaldo para preguntas: con las leyes chilenas, el artículo del que salió cada pregunta aparece entre los 3 primeros resultados 87% de las veces (relevance-ley-cohere.json, búsqueda exacta). Por eso la demo muestra 3 resultados.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2b87a6a488bce1f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2b87a6a488bce1f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[2:00–3:30] Esta es la meta de hoy: que salgas sabiendo dónde guardar los vectores de tu proyecto. Hace un par de años la respuesta era 'instala una base vectorial'. Hoy cuatro servicios que probablemente ya usas guardan vectores, y cada anuncio trae una promesa. Para elegir, primero hay que entender qué es buscar por significado, después medir y al final comparar. No vengo a desmentir a nadie: vengo a medir. Al final volvemos a estas promesas. Citas traducidas de los anuncios What's New, revisadas el 13 oct 2026: https://aws.amazon.com/about-aws/whats-new/2026/08/amazon-dynamodb-vector-search/ · https://aws.amazon.com/about-aws/whats-new/2025/12/amazon-s3-vectors-generally-available/ · https://aws.amazon.com/about-aws/whats-new/2026/05/amazon-opensearch-serverless-next-generation-generally-available/ · https://aws.amazon.com/about-aws/whats-new/2025/04/pgvector-0-8-0-aurora-postgresql/ (en mi clúster: pgvector 0.8.2).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2b87a6a488bce1f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2b87a6a488bce1f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[0:30–1:30] Imagina que mañana presentas tu proyecto. Armaste un buscador, funciona y en el ensayo responde al instante. Lo dejas sin uso un rato y, cuando empieza la presentación, haces la primera pregunta. En mi laboratorio, Aurora respondió en 1,3 ms mientras estaba encendida. Después de 16 minutos sin uso, la primera respuesta tardó 14,0 segundos. Misma base, mismos datos. Hoy vamos a ver por qué pasa esto y cómo elegir. Fuentes: results/2026-10-09/bench-aurora-so-cohere-plain.csv; cold-start.json (12,52 s en reanudar y conectar + 1,46 s la primera consulta). Es una sola observación; la documentación de Aurora indica unos 15 s para reanudar, así que es lo esperable.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2b87a6a488bce1f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2b87a6a488bce1f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[5:30–6:15] Stack Overflow es la colección grande: la de 100.000 vectores. Las leyes chilenas son más chicas y más cercanas; son las de la demo. Las preguntas de Stack Overflow son títulos reales; las de leyes las generé con Claude Haiku 5.5 a partir de cada artículo. Licencia Stack Overflow: CC BY-SA.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2b87a6a488bce1f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2b87a6a488bce1f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[28:30–35:30] Guion de ~7 min desde /admin; el botón grande siempre hace el paso siguiente y no se puede saltar ni elegir ronda. 1:00 para escanear y entrar («Pasar a modo sorteo»; en el piso −1 puede faltar señal: dar tiempo). Cada ronda ~1:15: «Abrir ronda N de 4» y apostar 0:30, «Cerrar apuestas y correr» y leer el resultado 0:20, «Sortear 1 código» entre quienes acertaron 0:25. Las rondas siguen el ciclo búsqueda simple → con filtro → con contexto (JOIN de Aurora) → otra colección, y vuelven a empezar hasta repartir los 5 códigos: un código por ronda, nadie gana dos veces, el código solo aparece en el celular del ganador. Si nadie acierta, el código pasa a la ronda siguiente. Cuando no quedan códigos, el botón ofrece volver a modo libre. Si alguna base está apagada, su fila dice «despertando» y se completa sola con el tiempo real: comentarlo, es el arranque en frío en vivo. Antes de la charla, desde free-tier: event-ops.py reset y event-ops.py codes &lt;archivo&gt; (AWS_PROFILE=fv-site); ~5 min antes de la demo, event-ops.py warmup. No anunciar ganador antes. Sitio cerrado hasta las 05:00 del 24/10; se borra después. Si falla la red: video.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2b87a6a488bce1f9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2b87a6a488bce1f9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[3:30–4:30] Sin matemáticas: puntos en un mapa. Las dos preguntas sobre CSV usan palabras distintas y quedan juntas. Para medir la cercanía uso la distancia coseno.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2b87a6a488bce1f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2b87a6a488bce1f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[38:30–45:00] Preguntas, con el QR de feedback de la organización a la vista; mencionarlo al abrir las preguntas y al despedirse. Preguntas probables: tesis con 10.000 documentos y presupuesto cero; AWS Academy / Learner Lab; modelos gratuitos; ¿y pgvector en RDS normal? (no lo medí).</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[6:15–7:15] Mido lo que siente un usuario, no cuánto aguanta la base con muchos usuarios a la vez. El tiempo incluye la red y el SDK, igual que en tu aplicación. Configuración de cada índice, por si preguntan: Aurora HNSW con m = 16, ef_construction = 64, ef_search = 40 (runner/fv/stores/aurora.py); DynamoDB índice vectorial con coseno y la etiqueta como filtro (dynamo.py); OpenSearch knn_vector con coseno y compresión 1x, el valor por defecto es 32x (aoss.py); S3 Vectors con coseno y filtro en modo ENHANCED (s3v.py). Precios: Price List API de AWS, us-east-1, 8 oct 2026. Código y CSV en el repo.</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[7:15–8:15] Gráfico con datos reales de OpenSearch (bench-aoss-so-cohere-plain.csv): una barra cada 5 percentiles; en magenta el p50 y el p95. Si tu aplicación hace varias búsquedas por respuesta, el mal día llega más seguido.</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[8:15–9:15] En cada medición comparo contra la búsqueda exacta sobre los mismos vectores: así mido el atajo de cada índice. La relevancia ya la vimos con el modelo.</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[9:15–9:45] Para elegir, tu proyecto tiene que responder estas cinco preguntas. Voy una por una, con lo que medí, y cada respuesta termina en 'si necesitas esto, usa esto'. Después lo prueban en su celular. Guarden el celular hasta entonces.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[9:45–11:00] Gana Aurora, mientras está encendida. Dos razones: el índice está en memoria y el cliente mantiene una conexión abierta a Postgres, mientras las otras tres hacen una llamada HTTPS firmada en cada consulta. Para un RAG, el modelo de lenguaje tarda segundos: aquí todas son rápidas. La diferencia importa si haces muchas búsquedas por respuesta. En la demo del celular Aurora va por la Data API (una llamada HTTPS, como las demás) y sigue ganando: lo que pesa es el índice en memoria. Fuente: results/2026-10-09.</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[11:00–12:15] ef_search = cuántos candidatos revisa Aurora antes de responder. 40 / 100 / 200: recall 92,7% / 96,9% / 98,6%, p50 1,3 / 2,7 / 3,2 ms. Aun con 200, Aurora sigue siendo la más rápida. Ojo: la medición con 100 tuvo un p95 irregular (110,4 ms) que no atribuyo al parámetro.</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[12:15–13:30] Este es el caso que prometía el resumen: con filtro, cambia quién gana. Gana OpenSearch: casi todo el acierto y buen tiempo. S3 Vectors en modo ENHANCED: 95,8% en 62,4 ms. DynamoDB pierde 1 de cada 10 resultados al filtrar en esta colección. ¿Y por qué Aurora se volvió 35 veces más lenta? Siguiente lámina.</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[13:30–14:45] EXPLAIN ANALYZE de 3 preguntas, con y sin filtro (results/2026-10-09/aurora-explain.json). Sin filtro: Index Scan sobre el índice HNSW. Con filtro: Bitmap Index Scan sobre el índice de la etiqueta, luego Sort: es búsqueda exacta, por eso acierta 100%. Filas = conteo real por etiqueta (attr_counts). Tenía activado hnsw.iterative_scan; el optimizador igual eligió el B-tree, así que la mejora de pgvector 0.8 para filtros quedó sin probar. Lección: revisa EXPLAIN con tus etiquetas reales.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[14:45–16:00] Gana Aurora. Es el 'join' del resumen. Ojo con la conclusión: esto mide mi arquitectura, con el título en otra tabla. Si guardas el título junto al vector, esa segunda lectura desaparece en las otras tres. DynamoDB 12,7→18,0 ms, OpenSearch 29,9→35,1, S3 Vectors 62,3→66,9.</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[16:00–17:15] Ganan DynamoDB y S3 Vectors: prácticamente empatados. Y aquí vuelve la lámina del principio: la más rápida encendida es de las más lentas en arrancar. Una medición por base (results/2026-10-09/cold-start.json): conexión + primera consulta. Aurora: 12,5 s en reanudar y conectar + 1,5 s la primera consulta. Aurora estaba en 0 ACU antes de la prueba (cold.out). Para OpenSearch no guardé la métrica de capacidad: los 23 s indican que estaba en cero. Su documentación habla de unos 10 s; yo vi 23 s, una vez. Consejo práctico: si tu demo es a las 12:15, haz una consulta a las 12:10.</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[17:15–18:00] Primeras 1.000 consultas de la sesión (archivos *-plain-warmup.csv) frente a las 3.000 que medí después. Aurora: p95 de 545,6 ms a 1,6 ms. Si tu base se reinicia o cambia de tamaño, tus primeros usuarios pagan ese calentamiento. Por eso mido siempre después de calentar y el arranque en frío lo muestro aparte.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[18:00–19:15] Gana DynamoDB. Por mil búsquedas, divide por mil: menos de medio centavo en todas. results/2026-10-09/costs.json. DynamoDB cobra por bytes revisados; S3 Vectors por solicitud y datos procesados; para Aurora y OpenSearch dividí la capacidad que usaron durante la medición por las consultas. Almacenamiento (so.at_rest_month_usd): entre 0,4 y 1,3 GB según la base; Aurora incluye el índice HNSW; el de S3 Vectors es estimado. Precio de lista, antes de la capa gratuita.</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[19:15–20:30] Ganan DynamoDB y S3 Vectors. costs.json notes.always_awake_floor_month_usd: capacidad mínima observada (0,67 ACU; 1 SearchOCU) × 730 h × precio de lista (ACU-hora USD 0,12; OCU-hora USD 0,24; results/prices.md). Con 100.000 vectores Aurora promedió 2,84 ACU (capacity.md): ~USD 249 al mes. Es una extrapolación de lo observado, no un mínimo garantizado. En Aurora, los 10 minutos los configuré yo (seconds_until_auto_pause = 600). Este es el precio de evitar la espera después de una pausa.</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[20:30–21:30] Esto no lo medí: lo estimé con la regla de cobro de cada servicio a partir de lo que medí con 100.000. DynamoDB: la documentación dice que lo que revisa cada búsqueda crece con el logaritmo del tamaño del índice; lo escalé así desde lo medido, pero AWS pide medir con datos reales (VectorSearchMonitoring). Con 100 millones son ~385 GB: sobre 600 GB de tabla, crear el índice requiere pedir acceso. S3 Vectors: cada consulta paga el tamaño completo del índice, con tramos por cantidad de vectores (aws.amazon.com/s3/pricing, 14 oct 2026); hasta 2.000 millones de vectores por índice. OpenSearch: 6 GiB por OCU y compresión 32x por defecto (yo medí con 1x); como carga a memoria solo lo que necesita, podría usar menos. Aurora: 2 GiB por ACU, máximo 256; supuse tabla e índice completos en memoria, por eso dice 'desde'. Con 100 millones necesitas halfvec, cuantización binaria o leer desde disco. Carga inicial de 100 millones, una vez: ~USD 80 en S3 Vectors (USD 0,20/GB) y ~USD 200 en DynamoDB (USD 0,52/GB).</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[21:30–22:30] Misma prueba con 8.851 fragmentos de leyes; el filtro es el código (Código del Trabajo, Código Civil…). Aurora filtra rápido aquí (4,6 ms) porque cada código tiene pocas filas: lo que vimos con el filtro. Tus datos cambian el resultado: mide con los tuyos. Cambian el tamaño y el contenido a la vez, así que esto no aísla el efecto del tamaño.</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[22:30–23:45] Las cinco preguntas, respondidas. Ninguna gana todo: por eso la pregunta correcta no es cuál es la mejor, sino qué necesita tu proyecto.</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[23:45–25:00] Medir, no atacar. DynamoDB: el anuncio habla del tiempo dentro del servicio; yo medí desde mi máquina, con red y SDK incluidos, así que no contradice la promesa: muestra lo que vas a ver tú. OpenSearch: su documentación habla de unos 10 s para arrancar; vi 23 s una vez. Aurora: el índice que yo creé hizo que Postgres no usara el vectorial; la mejora de pgvector 0.8 para filtros quedó sin medir.</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[25:00–26:15] El criterio del resumen. Elige las dos cosas que tu proyecto no puede sacrificar y mira qué base te las da. Es una guía por caso, no un ranking; cada tarjeta sale de una de las cinco preguntas. S3 Vectors está diseñado para volúmenes grandes, pero yo solo medí 100.000 vectores.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[26:15–27:15] Costo al mes de vectores + búsquedas, sin API, Lambda ni embeddings. DynamoDB: costs.json, USD 0,0086 antes de los 25 GB gratis. Aurora que se apaga: supuesto de 20 sesiones × 10 minutos encendida (seconds_until_auto_pause = 600) × 0,67 ACU × USD 0,12 + almacenamiento = USD 0,28. Es una estimación, no una medición. Aurora siempre encendida: el mínimo mensual que vimos. Aurora puede ser barata o instantánea, pero no las dos cosas. Embeddings: Cohere Embed v4, USD 0,12 por millón de tokens; el README del proyecto de ejemplo estima ~USD 0,02 por 1.000 preguntas con todo incluido.</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[27:15–28:30] Elegir una base también es cuánto te cuesta dejarla funcionando. Fuentes: so-pipeline.log (OutOfMemory, pidió 4,0 GiB), commit 'fix(aurora): 1GB maintenance_work_mem'; dynamo.py wait_searchable(); free-tier/README.md (cuota 0, 'Too many tokens per day'); qwen-us-east-2.log (InsufficientInstanceCapacity). Dato extra: cargar los 100.000 vectores tomó de 44 s en Aurora a 14 min en DynamoDB con mi script, que no optimicé; en un hackatón, carga la noche anterior.</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[35:30–36:30] Leer el resultado con honestidad. '3/3 iguales a DynamoDB' compara resultados entre bases; no dice cuál es correcto. El texto que se muestra viene de DynamoDB. Ganar por tiempo no significa devolver el mejor contenido. Fuente: free-tier/app/handler.py (TOP_K = 3, race(), cliente rds-data).</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[36:30–37:30] Para el lunes: toma las preguntas reales de tu proyecto, mide acierto y relevancia, prueba tus filtros y deja la base 15 minutos sin uso antes de medir la primera consulta. El ejemplo necesita acceso a Cohere Embed v4 en Bedrock y cuota mayor que cero (free-tier/README.md). PENDIENTE antes del 24/10: repo público y QR probado sin sesión.</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[37:30–38:30] Cierre: volvamos a la meta del principio. Ahora puedes justificar dónde guardar los vectores de tu proyecto. Aurora brilla encendida y con SQL. DynamoDB es la más barata y responde rápido incluso después de una pausa. OpenSearch mantiene el acierto cuando filtras. S3 Vectors guarda barato y sin mínimo mensual. Cada resultado tiene condiciones, y tus datos pueden cambiar la elección, como vimos con las leyes chilenas. Elige tus dos prioridades y compruébalas con tus datos. Gracias.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5.jpg"/><Relationship Id="rId5" Type="http://schemas.openxmlformats.org/officeDocument/2006/relationships/image" Target="../media/image2.png"/><Relationship Id="rId6"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6.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7.jpg"/><Relationship Id="rId6"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7.jp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1.png"/><Relationship Id="rId8" Type="http://schemas.openxmlformats.org/officeDocument/2006/relationships/image" Target="../media/image3.png"/><Relationship Id="rId9" Type="http://schemas.openxmlformats.org/officeDocument/2006/relationships/image" Target="../media/image6.png"/><Relationship Id="rId10"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0" y="3295450"/>
            <a:ext cx="9144000" cy="18486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13" title="logo aws-01.png"/>
          <p:cNvPicPr preferRelativeResize="0"/>
          <p:nvPr/>
        </p:nvPicPr>
        <p:blipFill rotWithShape="1">
          <a:blip r:embed="rId4">
            <a:alphaModFix/>
          </a:blip>
          <a:srcRect b="0" l="0" r="0" t="0"/>
          <a:stretch/>
        </p:blipFill>
        <p:spPr>
          <a:xfrm>
            <a:off x="2123722" y="4420889"/>
            <a:ext cx="865239" cy="620402"/>
          </a:xfrm>
          <a:prstGeom prst="rect">
            <a:avLst/>
          </a:prstGeom>
          <a:noFill/>
          <a:ln>
            <a:noFill/>
          </a:ln>
        </p:spPr>
      </p:pic>
      <p:pic>
        <p:nvPicPr>
          <p:cNvPr id="56" name="Google Shape;56;p13" title="duoc-logo.png"/>
          <p:cNvPicPr preferRelativeResize="0"/>
          <p:nvPr/>
        </p:nvPicPr>
        <p:blipFill rotWithShape="1">
          <a:blip r:embed="rId5">
            <a:alphaModFix/>
          </a:blip>
          <a:srcRect b="0" l="0" r="0" t="0"/>
          <a:stretch/>
        </p:blipFill>
        <p:spPr>
          <a:xfrm>
            <a:off x="3269534" y="4427477"/>
            <a:ext cx="1373974" cy="512850"/>
          </a:xfrm>
          <a:prstGeom prst="rect">
            <a:avLst/>
          </a:prstGeom>
          <a:noFill/>
          <a:ln>
            <a:noFill/>
          </a:ln>
        </p:spPr>
      </p:pic>
      <p:sp>
        <p:nvSpPr>
          <p:cNvPr id="57" name="Google Shape;57;p13"/>
          <p:cNvSpPr txBox="1"/>
          <p:nvPr/>
        </p:nvSpPr>
        <p:spPr>
          <a:xfrm>
            <a:off x="660625" y="1561750"/>
            <a:ext cx="4423200" cy="70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1" lang="es" sz="3200">
                <a:solidFill>
                  <a:srgbClr val="FFFFFF"/>
                </a:solidFill>
                <a:latin typeface="DM Sans"/>
                <a:ea typeface="DM Sans"/>
                <a:cs typeface="DM Sans"/>
                <a:sym typeface="DM Sans"/>
              </a:rPr>
              <a:t>Fast &amp; Vectorious</a:t>
            </a:r>
            <a:endParaRPr i="0" sz="3200" u="none" cap="none" strike="noStrike">
              <a:solidFill>
                <a:srgbClr val="FFFFFF"/>
              </a:solidFill>
              <a:latin typeface="DM Sans"/>
              <a:ea typeface="DM Sans"/>
              <a:cs typeface="DM Sans"/>
              <a:sym typeface="DM Sans"/>
            </a:endParaRPr>
          </a:p>
        </p:txBody>
      </p:sp>
      <p:sp>
        <p:nvSpPr>
          <p:cNvPr id="58" name="Google Shape;58;p13"/>
          <p:cNvSpPr txBox="1"/>
          <p:nvPr/>
        </p:nvSpPr>
        <p:spPr>
          <a:xfrm>
            <a:off x="726750" y="2363775"/>
            <a:ext cx="4210800" cy="6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lang="es" sz="1600">
                <a:solidFill>
                  <a:srgbClr val="FFFFFF"/>
                </a:solidFill>
                <a:latin typeface="DM Sans"/>
                <a:ea typeface="DM Sans"/>
                <a:cs typeface="DM Sans"/>
                <a:sym typeface="DM Sans"/>
              </a:rPr>
              <a:t>DynamoDB, S3, OpenSearch y Aurora con los mismos vectores, medidos</a:t>
            </a:r>
            <a:endParaRPr i="0" sz="1600" u="none" cap="none" strike="noStrike">
              <a:solidFill>
                <a:srgbClr val="FFFFFF"/>
              </a:solidFill>
              <a:latin typeface="DM Sans"/>
              <a:ea typeface="DM Sans"/>
              <a:cs typeface="DM Sans"/>
              <a:sym typeface="DM Sans"/>
            </a:endParaRPr>
          </a:p>
        </p:txBody>
      </p:sp>
      <p:pic>
        <p:nvPicPr>
          <p:cNvPr id="59" name="Google Shape;59;p13" title="logo rgb pantallas.png"/>
          <p:cNvPicPr preferRelativeResize="0"/>
          <p:nvPr/>
        </p:nvPicPr>
        <p:blipFill>
          <a:blip r:embed="rId6">
            <a:alphaModFix/>
          </a:blip>
          <a:stretch>
            <a:fillRect/>
          </a:stretch>
        </p:blipFill>
        <p:spPr>
          <a:xfrm>
            <a:off x="4851025" y="773862"/>
            <a:ext cx="2779648" cy="2779648"/>
          </a:xfrm>
          <a:prstGeom prst="rect">
            <a:avLst/>
          </a:prstGeom>
          <a:noFill/>
          <a:ln>
            <a:noFill/>
          </a:ln>
        </p:spPr>
      </p:pic>
      <p:sp>
        <p:nvSpPr>
          <p:cNvPr id="60" name="Google Shape;60;p13"/>
          <p:cNvSpPr txBox="1"/>
          <p:nvPr/>
        </p:nvSpPr>
        <p:spPr>
          <a:xfrm>
            <a:off x="7875350" y="121950"/>
            <a:ext cx="11217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100">
                <a:solidFill>
                  <a:srgbClr val="FFFFFF"/>
                </a:solidFill>
              </a:rPr>
              <a:t>1</a:t>
            </a:r>
            <a:r>
              <a:rPr b="1" i="0" lang="es" sz="1100" u="none" cap="none" strike="noStrike">
                <a:solidFill>
                  <a:srgbClr val="FFFFFF"/>
                </a:solidFill>
              </a:rPr>
              <a:t>ra Edición</a:t>
            </a:r>
            <a:endParaRPr b="1" i="0" sz="1100" u="none" cap="none" strike="noStrike">
              <a:solidFill>
                <a:srgbClr val="FFFFFF"/>
              </a:solidFill>
            </a:endParaRPr>
          </a:p>
        </p:txBody>
      </p:sp>
      <p:grpSp>
        <p:nvGrpSpPr>
          <p:cNvPr id="61" name="Google Shape;61;p13"/>
          <p:cNvGrpSpPr/>
          <p:nvPr/>
        </p:nvGrpSpPr>
        <p:grpSpPr>
          <a:xfrm>
            <a:off x="4806070" y="4427475"/>
            <a:ext cx="2652811" cy="521413"/>
            <a:chOff x="6019800" y="4427475"/>
            <a:chExt cx="2652811" cy="521413"/>
          </a:xfrm>
        </p:grpSpPr>
        <p:pic>
          <p:nvPicPr>
            <p:cNvPr id="62" name="Google Shape;62;p13" title="CHIP-BLANCO.png"/>
            <p:cNvPicPr preferRelativeResize="0"/>
            <p:nvPr/>
          </p:nvPicPr>
          <p:blipFill>
            <a:blip r:embed="rId7">
              <a:alphaModFix/>
            </a:blip>
            <a:stretch>
              <a:fillRect/>
            </a:stretch>
          </p:blipFill>
          <p:spPr>
            <a:xfrm>
              <a:off x="6019800" y="4427475"/>
              <a:ext cx="569831" cy="512850"/>
            </a:xfrm>
            <a:prstGeom prst="rect">
              <a:avLst/>
            </a:prstGeom>
            <a:noFill/>
            <a:ln>
              <a:noFill/>
            </a:ln>
          </p:spPr>
        </p:pic>
        <p:sp>
          <p:nvSpPr>
            <p:cNvPr id="63" name="Google Shape;63;p13"/>
            <p:cNvSpPr txBox="1"/>
            <p:nvPr/>
          </p:nvSpPr>
          <p:spPr>
            <a:xfrm>
              <a:off x="6453811" y="4435888"/>
              <a:ext cx="22188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AWS SBG Chile</a:t>
              </a:r>
              <a:endParaRPr sz="1000">
                <a:solidFill>
                  <a:srgbClr val="FFFFFF"/>
                </a:solidFill>
                <a:latin typeface="DM Sans Medium"/>
                <a:ea typeface="DM Sans Medium"/>
                <a:cs typeface="DM Sans Medium"/>
                <a:sym typeface="DM Sans Medium"/>
              </a:endParaRPr>
            </a:p>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Student Builder Groups Chile</a:t>
              </a:r>
              <a:endParaRPr i="0" sz="1000" u="none" cap="none" strike="noStrike">
                <a:solidFill>
                  <a:srgbClr val="FFFFFF"/>
                </a:solidFill>
                <a:latin typeface="DM Sans Medium"/>
                <a:ea typeface="DM Sans Medium"/>
                <a:cs typeface="DM Sans Medium"/>
                <a:sym typeface="DM Sans Medium"/>
              </a:endParaRPr>
            </a:p>
          </p:txBody>
        </p:sp>
      </p:grpSp>
      <p:sp>
        <p:nvSpPr>
          <p:cNvPr id="64" name="TextBox 63"/>
          <p:cNvSpPr txBox="1"/>
          <p:nvPr/>
        </p:nvSpPr>
        <p:spPr>
          <a:xfrm>
            <a:off x="722376" y="3200400"/>
            <a:ext cx="4206240" cy="274320"/>
          </a:xfrm>
          <a:prstGeom prst="rect">
            <a:avLst/>
          </a:prstGeom>
          <a:noFill/>
        </p:spPr>
        <p:txBody>
          <a:bodyPr wrap="square" anchor="t" lIns="0" rIns="0" tIns="0" bIns="0">
            <a:spAutoFit/>
          </a:bodyPr>
          <a:lstStyle/>
          <a:p>
            <a:pPr algn="l">
              <a:spcAft>
                <a:spcPts val="400"/>
              </a:spcAft>
            </a:pPr>
            <a:r>
              <a:rPr sz="1200" b="1">
                <a:solidFill>
                  <a:srgbClr val="FFFFFF"/>
                </a:solidFill>
                <a:latin typeface="DM Sans"/>
              </a:rPr>
              <a:t>Andrés Zeballos</a:t>
            </a:r>
            <a:r>
              <a:rPr sz="1200" b="0">
                <a:solidFill>
                  <a:srgbClr val="FFFFFF"/>
                </a:solidFill>
                <a:latin typeface="DM Sans"/>
              </a:rPr>
              <a:t>  ·  Auditorio, Torre 1  ·  12:15</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2" name="Google Shape;102;p17"/>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FFFFFF"/>
                </a:solidFill>
                <a:latin typeface="DM Sans ExtraBold"/>
                <a:ea typeface="DM Sans ExtraBold"/>
                <a:cs typeface="DM Sans ExtraBold"/>
                <a:sym typeface="DM Sans ExtraBold"/>
              </a:rPr>
              <a:t>La misma base: 1,3 ms o 14 s</a:t>
            </a:r>
            <a:endParaRPr b="1" i="0" sz="2900" u="none" cap="none" strike="noStrike">
              <a:solidFill>
                <a:srgbClr val="FFFFFF"/>
              </a:solidFill>
              <a:latin typeface="DM Sans ExtraBold"/>
              <a:ea typeface="DM Sans ExtraBold"/>
              <a:cs typeface="DM Sans ExtraBold"/>
              <a:sym typeface="DM Sans ExtraBold"/>
            </a:endParaRPr>
          </a:p>
        </p:txBody>
      </p:sp>
      <p:pic>
        <p:nvPicPr>
          <p:cNvPr id="103" name="Google Shape;103;p17"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05" name="Google Shape;105;p17"/>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Rounded Rectangle 105"/>
          <p:cNvSpPr/>
          <p:nvPr/>
        </p:nvSpPr>
        <p:spPr>
          <a:xfrm>
            <a:off x="868680" y="1234440"/>
            <a:ext cx="3520440" cy="201168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43000" y="1371600"/>
            <a:ext cx="3108960" cy="731520"/>
          </a:xfrm>
          <a:prstGeom prst="rect">
            <a:avLst/>
          </a:prstGeom>
          <a:noFill/>
        </p:spPr>
        <p:txBody>
          <a:bodyPr wrap="square" anchor="t" lIns="0" rIns="0" tIns="0" bIns="0">
            <a:spAutoFit/>
          </a:bodyPr>
          <a:lstStyle/>
          <a:p>
            <a:pPr algn="l">
              <a:spcAft>
                <a:spcPts val="400"/>
              </a:spcAft>
            </a:pPr>
            <a:r>
              <a:rPr sz="4800" b="0">
                <a:solidFill>
                  <a:srgbClr val="FFFFFF"/>
                </a:solidFill>
                <a:latin typeface="DM Sans ExtraBold"/>
              </a:rPr>
              <a:t>1,3</a:t>
            </a:r>
            <a:r>
              <a:rPr sz="1600" b="0">
                <a:solidFill>
                  <a:srgbClr val="C9C2E8"/>
                </a:solidFill>
                <a:latin typeface="DM Sans"/>
              </a:rPr>
              <a:t> ms</a:t>
            </a:r>
          </a:p>
        </p:txBody>
      </p:sp>
      <p:sp>
        <p:nvSpPr>
          <p:cNvPr id="108" name="TextBox 107"/>
          <p:cNvSpPr txBox="1"/>
          <p:nvPr/>
        </p:nvSpPr>
        <p:spPr>
          <a:xfrm>
            <a:off x="1143000" y="2148840"/>
            <a:ext cx="3108960" cy="320040"/>
          </a:xfrm>
          <a:prstGeom prst="rect">
            <a:avLst/>
          </a:prstGeom>
          <a:noFill/>
        </p:spPr>
        <p:txBody>
          <a:bodyPr wrap="square" anchor="t" lIns="0" rIns="0" tIns="0" bIns="0">
            <a:spAutoFit/>
          </a:bodyPr>
          <a:lstStyle/>
          <a:p>
            <a:pPr algn="l">
              <a:spcAft>
                <a:spcPts val="400"/>
              </a:spcAft>
            </a:pPr>
            <a:r>
              <a:rPr sz="1300" b="1">
                <a:solidFill>
                  <a:srgbClr val="FFFFFF"/>
                </a:solidFill>
                <a:latin typeface="DM Sans"/>
              </a:rPr>
              <a:t>Con la base encendida</a:t>
            </a:r>
          </a:p>
        </p:txBody>
      </p:sp>
      <p:sp>
        <p:nvSpPr>
          <p:cNvPr id="109" name="TextBox 108"/>
          <p:cNvSpPr txBox="1"/>
          <p:nvPr/>
        </p:nvSpPr>
        <p:spPr>
          <a:xfrm>
            <a:off x="1143000" y="2468880"/>
            <a:ext cx="3108960" cy="457200"/>
          </a:xfrm>
          <a:prstGeom prst="rect">
            <a:avLst/>
          </a:prstGeom>
          <a:noFill/>
        </p:spPr>
        <p:txBody>
          <a:bodyPr wrap="square" anchor="t" lIns="0" rIns="0" tIns="0" bIns="0">
            <a:spAutoFit/>
          </a:bodyPr>
          <a:lstStyle/>
          <a:p>
            <a:pPr algn="l">
              <a:spcAft>
                <a:spcPts val="400"/>
              </a:spcAft>
            </a:pPr>
            <a:r>
              <a:rPr sz="1000" b="0">
                <a:solidFill>
                  <a:srgbClr val="C9C2E8"/>
                </a:solidFill>
                <a:latin typeface="DM Sans"/>
              </a:rPr>
              <a:t>Mediana de 3.000 consultas</a:t>
            </a:r>
          </a:p>
        </p:txBody>
      </p:sp>
      <p:sp>
        <p:nvSpPr>
          <p:cNvPr id="110" name="Rounded Rectangle 109"/>
          <p:cNvSpPr/>
          <p:nvPr/>
        </p:nvSpPr>
        <p:spPr>
          <a:xfrm>
            <a:off x="4754880" y="1234440"/>
            <a:ext cx="3520440" cy="201168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029200" y="1371600"/>
            <a:ext cx="3108960" cy="731520"/>
          </a:xfrm>
          <a:prstGeom prst="rect">
            <a:avLst/>
          </a:prstGeom>
          <a:noFill/>
        </p:spPr>
        <p:txBody>
          <a:bodyPr wrap="square" anchor="t" lIns="0" rIns="0" tIns="0" bIns="0">
            <a:spAutoFit/>
          </a:bodyPr>
          <a:lstStyle/>
          <a:p>
            <a:pPr algn="l">
              <a:spcAft>
                <a:spcPts val="400"/>
              </a:spcAft>
            </a:pPr>
            <a:r>
              <a:rPr sz="4800" b="0">
                <a:solidFill>
                  <a:srgbClr val="D054FC"/>
                </a:solidFill>
                <a:latin typeface="DM Sans ExtraBold"/>
              </a:rPr>
              <a:t>14,0</a:t>
            </a:r>
            <a:r>
              <a:rPr sz="1600" b="0">
                <a:solidFill>
                  <a:srgbClr val="C9C2E8"/>
                </a:solidFill>
                <a:latin typeface="DM Sans"/>
              </a:rPr>
              <a:t> s</a:t>
            </a:r>
          </a:p>
        </p:txBody>
      </p:sp>
      <p:sp>
        <p:nvSpPr>
          <p:cNvPr id="112" name="TextBox 111"/>
          <p:cNvSpPr txBox="1"/>
          <p:nvPr/>
        </p:nvSpPr>
        <p:spPr>
          <a:xfrm>
            <a:off x="5029200" y="2148840"/>
            <a:ext cx="3108960" cy="320040"/>
          </a:xfrm>
          <a:prstGeom prst="rect">
            <a:avLst/>
          </a:prstGeom>
          <a:noFill/>
        </p:spPr>
        <p:txBody>
          <a:bodyPr wrap="square" anchor="t" lIns="0" rIns="0" tIns="0" bIns="0">
            <a:spAutoFit/>
          </a:bodyPr>
          <a:lstStyle/>
          <a:p>
            <a:pPr algn="l">
              <a:spcAft>
                <a:spcPts val="400"/>
              </a:spcAft>
            </a:pPr>
            <a:r>
              <a:rPr sz="1300" b="1">
                <a:solidFill>
                  <a:srgbClr val="FFFFFF"/>
                </a:solidFill>
                <a:latin typeface="DM Sans"/>
              </a:rPr>
              <a:t>Después de 16 minutos sin uso</a:t>
            </a:r>
          </a:p>
        </p:txBody>
      </p:sp>
      <p:sp>
        <p:nvSpPr>
          <p:cNvPr id="113" name="TextBox 112"/>
          <p:cNvSpPr txBox="1"/>
          <p:nvPr/>
        </p:nvSpPr>
        <p:spPr>
          <a:xfrm>
            <a:off x="5029200" y="2468880"/>
            <a:ext cx="3108960" cy="457200"/>
          </a:xfrm>
          <a:prstGeom prst="rect">
            <a:avLst/>
          </a:prstGeom>
          <a:noFill/>
        </p:spPr>
        <p:txBody>
          <a:bodyPr wrap="square" anchor="t" lIns="0" rIns="0" tIns="0" bIns="0">
            <a:spAutoFit/>
          </a:bodyPr>
          <a:lstStyle/>
          <a:p>
            <a:pPr algn="l">
              <a:spcAft>
                <a:spcPts val="400"/>
              </a:spcAft>
            </a:pPr>
            <a:r>
              <a:rPr sz="1000" b="0">
                <a:solidFill>
                  <a:srgbClr val="C9C2E8"/>
                </a:solidFill>
                <a:latin typeface="DM Sans"/>
              </a:rPr>
              <a:t>Se apagó sola y tuvo que volver a encenderse</a:t>
            </a:r>
          </a:p>
        </p:txBody>
      </p:sp>
      <p:sp>
        <p:nvSpPr>
          <p:cNvPr id="114" name="TextBox 113"/>
          <p:cNvSpPr txBox="1"/>
          <p:nvPr/>
        </p:nvSpPr>
        <p:spPr>
          <a:xfrm>
            <a:off x="868680" y="3364992"/>
            <a:ext cx="7406640" cy="274320"/>
          </a:xfrm>
          <a:prstGeom prst="rect">
            <a:avLst/>
          </a:prstGeom>
          <a:noFill/>
        </p:spPr>
        <p:txBody>
          <a:bodyPr wrap="square" anchor="t" lIns="0" rIns="0" tIns="0" bIns="0">
            <a:spAutoFit/>
          </a:bodyPr>
          <a:lstStyle/>
          <a:p>
            <a:pPr algn="ctr">
              <a:spcAft>
                <a:spcPts val="400"/>
              </a:spcAft>
            </a:pPr>
            <a:r>
              <a:rPr sz="1600" b="1">
                <a:solidFill>
                  <a:srgbClr val="E6DFFF"/>
                </a:solidFill>
                <a:latin typeface="DM Sans"/>
              </a:rPr>
              <a:t>¿Cuál de los dos le toca a tu usuario?</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5"/>
          <p:cNvSpPr/>
          <p:nvPr/>
        </p:nvSpPr>
        <p:spPr>
          <a:xfrm>
            <a:off x="3955225" y="0"/>
            <a:ext cx="5189100" cy="5143500"/>
          </a:xfrm>
          <a:prstGeom prst="roundRect">
            <a:avLst>
              <a:gd fmla="val 0" name="adj"/>
            </a:avLst>
          </a:prstGeom>
          <a:gradFill>
            <a:gsLst>
              <a:gs pos="0">
                <a:srgbClr val="FFFFFF">
                  <a:alpha val="0"/>
                </a:srgbClr>
              </a:gs>
              <a:gs pos="84000">
                <a:srgbClr val="3B27A5"/>
              </a:gs>
              <a:gs pos="100000">
                <a:srgbClr val="3B27A5"/>
              </a:gs>
              <a:gs pos="100000">
                <a:srgbClr val="9080BB"/>
              </a:gs>
            </a:gsLst>
            <a:lin ang="50"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5"/>
          <p:cNvSpPr/>
          <p:nvPr/>
        </p:nvSpPr>
        <p:spPr>
          <a:xfrm>
            <a:off x="0" y="3892375"/>
            <a:ext cx="9144000" cy="12516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5"/>
          <p:cNvSpPr txBox="1"/>
          <p:nvPr/>
        </p:nvSpPr>
        <p:spPr>
          <a:xfrm>
            <a:off x="4329657" y="877337"/>
            <a:ext cx="3988800" cy="59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Andrés Zeballos</a:t>
            </a:r>
            <a:endParaRPr b="1" i="0" sz="2900" u="none" cap="none" strike="noStrike">
              <a:solidFill>
                <a:srgbClr val="FFFFFF"/>
              </a:solidFill>
              <a:latin typeface="DM Sans ExtraBold"/>
              <a:ea typeface="DM Sans ExtraBold"/>
              <a:cs typeface="DM Sans ExtraBold"/>
              <a:sym typeface="DM Sans ExtraBold"/>
            </a:endParaRPr>
          </a:p>
        </p:txBody>
      </p:sp>
      <p:pic>
        <p:nvPicPr>
          <p:cNvPr id="88" name="Picture 87" descr="photo.jpg"/>
          <p:cNvPicPr>
            <a:picLocks noChangeAspect="1"/>
          </p:cNvPicPr>
          <p:nvPr/>
        </p:nvPicPr>
        <p:blipFill>
          <a:blip r:embed="rId6"/>
          <a:stretch>
            <a:fillRect/>
          </a:stretch>
        </p:blipFill>
        <p:spPr>
          <a:xfrm>
            <a:off x="1233239" y="842078"/>
            <a:ext cx="2863500" cy="2700600"/>
          </a:xfrm>
          <a:prstGeom prst="roundRect">
            <a:avLst>
              <a:gd fmla="val 16667" name="adj"/>
            </a:avLst>
          </a:prstGeom>
        </p:spPr>
      </p:pic>
      <p:pic>
        <p:nvPicPr>
          <p:cNvPr id="87" name="Google Shape;87;p15" title="letras logo.png"/>
          <p:cNvPicPr preferRelativeResize="0"/>
          <p:nvPr/>
        </p:nvPicPr>
        <p:blipFill>
          <a:blip r:embed="rId5">
            <a:alphaModFix/>
          </a:blip>
          <a:stretch>
            <a:fillRect/>
          </a:stretch>
        </p:blipFill>
        <p:spPr>
          <a:xfrm>
            <a:off x="7635788" y="67913"/>
            <a:ext cx="1360773" cy="785025"/>
          </a:xfrm>
          <a:prstGeom prst="rect">
            <a:avLst/>
          </a:prstGeom>
          <a:noFill/>
          <a:ln>
            <a:noFill/>
          </a:ln>
        </p:spPr>
      </p:pic>
      <p:sp>
        <p:nvSpPr>
          <p:cNvPr id="89" name="TextBox 88"/>
          <p:cNvSpPr txBox="1"/>
          <p:nvPr/>
        </p:nvSpPr>
        <p:spPr>
          <a:xfrm>
            <a:off x="4379976" y="1517904"/>
            <a:ext cx="3749039" cy="2103120"/>
          </a:xfrm>
          <a:prstGeom prst="rect">
            <a:avLst/>
          </a:prstGeom>
          <a:noFill/>
        </p:spPr>
        <p:txBody>
          <a:bodyPr wrap="square" anchor="t" lIns="0" rIns="0" tIns="0" bIns="0">
            <a:spAutoFit/>
          </a:bodyPr>
          <a:lstStyle/>
          <a:p>
            <a:pPr algn="l">
              <a:spcAft>
                <a:spcPts val="400"/>
              </a:spcAft>
            </a:pPr>
            <a:r>
              <a:rPr sz="1300" b="1">
                <a:solidFill>
                  <a:srgbClr val="FFFFFF"/>
                </a:solidFill>
                <a:latin typeface="DM Sans"/>
              </a:rPr>
              <a:t>Solutions Architect en phData</a:t>
            </a:r>
          </a:p>
          <a:p>
            <a:pPr algn="l">
              <a:spcAft>
                <a:spcPts val="400"/>
              </a:spcAft>
            </a:pPr>
            <a:r>
              <a:rPr sz="1300" b="0">
                <a:solidFill>
                  <a:srgbClr val="FFFFFF"/>
                </a:solidFill>
                <a:latin typeface="DM Sans"/>
              </a:rPr>
              <a:t>AWS Community Builder · AWS Golden Jacket</a:t>
            </a:r>
          </a:p>
          <a:p>
            <a:pPr algn="l">
              <a:spcAft>
                <a:spcPts val="400"/>
              </a:spcAft>
            </a:pPr>
            <a:r>
              <a:rPr sz="1300" b="0">
                <a:solidFill>
                  <a:srgbClr val="FFFFFF"/>
                </a:solidFill>
                <a:latin typeface="DM Sans"/>
              </a:rPr>
              <a:t>Apasionado por los datos, DevOps e IA</a:t>
            </a:r>
          </a:p>
          <a:p>
            <a:pPr algn="l">
              <a:spcAft>
                <a:spcPts val="400"/>
              </a:spcAft>
            </a:pPr>
            <a:r>
              <a:rPr sz="1300" b="0">
                <a:solidFill>
                  <a:srgbClr val="FFFFFF"/>
                </a:solidFill>
                <a:latin typeface="DM Sans"/>
              </a:rPr>
              <a:t/>
            </a:r>
          </a:p>
          <a:p>
            <a:pPr algn="l">
              <a:spcAft>
                <a:spcPts val="400"/>
              </a:spcAft>
            </a:pPr>
            <a:r>
              <a:rPr sz="1300" b="1">
                <a:solidFill>
                  <a:srgbClr val="E6DFFF"/>
                </a:solidFill>
                <a:latin typeface="DM Sans"/>
              </a:rPr>
              <a:t>Fuera del trabajo</a:t>
            </a:r>
          </a:p>
          <a:p>
            <a:pPr algn="l">
              <a:spcAft>
                <a:spcPts val="400"/>
              </a:spcAft>
            </a:pPr>
            <a:r>
              <a:rPr sz="1300" b="0">
                <a:solidFill>
                  <a:srgbClr val="FFFFFF"/>
                </a:solidFill>
                <a:latin typeface="DM Sans"/>
              </a:rPr>
              <a:t>Instructor de ski</a:t>
            </a:r>
          </a:p>
          <a:p>
            <a:pPr algn="l">
              <a:spcAft>
                <a:spcPts val="400"/>
              </a:spcAft>
            </a:pPr>
            <a:r>
              <a:rPr sz="1300" b="0">
                <a:solidFill>
                  <a:srgbClr val="FFFFFF"/>
                </a:solidFill>
                <a:latin typeface="DM Sans"/>
              </a:rPr>
              <a:t>Tiro con arco compuesto</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2" name="Google Shape;102;p17"/>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¿Dónde guardo mis vectores?</a:t>
            </a:r>
            <a:endParaRPr b="1" i="0" sz="2900" u="none" cap="none" strike="noStrike">
              <a:solidFill>
                <a:srgbClr val="FFFFFF"/>
              </a:solidFill>
              <a:latin typeface="DM Sans ExtraBold"/>
              <a:ea typeface="DM Sans ExtraBold"/>
              <a:cs typeface="DM Sans ExtraBold"/>
              <a:sym typeface="DM Sans ExtraBold"/>
            </a:endParaRPr>
          </a:p>
        </p:txBody>
      </p:sp>
      <p:pic>
        <p:nvPicPr>
          <p:cNvPr id="103" name="Google Shape;103;p17"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05" name="Google Shape;105;p17"/>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TextBox 105"/>
          <p:cNvSpPr txBox="1"/>
          <p:nvPr/>
        </p:nvSpPr>
        <p:spPr>
          <a:xfrm>
            <a:off x="685800" y="1005840"/>
            <a:ext cx="7772400" cy="228600"/>
          </a:xfrm>
          <a:prstGeom prst="rect">
            <a:avLst/>
          </a:prstGeom>
          <a:noFill/>
        </p:spPr>
        <p:txBody>
          <a:bodyPr wrap="square" anchor="t" lIns="0" rIns="0" tIns="0" bIns="0">
            <a:spAutoFit/>
          </a:bodyPr>
          <a:lstStyle/>
          <a:p>
            <a:pPr algn="ctr">
              <a:spcAft>
                <a:spcPts val="400"/>
              </a:spcAft>
            </a:pPr>
            <a:r>
              <a:rPr sz="1300" b="0">
                <a:solidFill>
                  <a:srgbClr val="E6DFFF"/>
                </a:solidFill>
                <a:latin typeface="DM Sans"/>
              </a:rPr>
              <a:t>Cuatro servicios de AWS ya guardan vectores. Al final vas a poder elegir uno para tu proyecto.</a:t>
            </a:r>
          </a:p>
        </p:txBody>
      </p:sp>
      <p:sp>
        <p:nvSpPr>
          <p:cNvPr id="107" name="Rounded Rectangle 106"/>
          <p:cNvSpPr/>
          <p:nvPr/>
        </p:nvSpPr>
        <p:spPr>
          <a:xfrm>
            <a:off x="685800" y="1371600"/>
            <a:ext cx="1828800" cy="201168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850392" y="1508760"/>
            <a:ext cx="256032" cy="256032"/>
          </a:xfrm>
          <a:prstGeom prst="ellipse">
            <a:avLst/>
          </a:prstGeom>
          <a:solidFill>
            <a:srgbClr val="3D5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50392" y="1783080"/>
            <a:ext cx="1554480" cy="484632"/>
          </a:xfrm>
          <a:prstGeom prst="rect">
            <a:avLst/>
          </a:prstGeom>
          <a:noFill/>
        </p:spPr>
        <p:txBody>
          <a:bodyPr wrap="square" anchor="b" lIns="0" rIns="0" tIns="0" bIns="0">
            <a:spAutoFit/>
          </a:bodyPr>
          <a:lstStyle/>
          <a:p>
            <a:pPr algn="l">
              <a:spcAft>
                <a:spcPts val="400"/>
              </a:spcAft>
            </a:pPr>
            <a:r>
              <a:rPr sz="1300" b="1">
                <a:solidFill>
                  <a:srgbClr val="FFFFFF"/>
                </a:solidFill>
                <a:latin typeface="DM Sans"/>
              </a:rPr>
              <a:t>DynamoDB</a:t>
            </a:r>
          </a:p>
        </p:txBody>
      </p:sp>
      <p:sp>
        <p:nvSpPr>
          <p:cNvPr id="110" name="TextBox 109"/>
          <p:cNvSpPr txBox="1"/>
          <p:nvPr/>
        </p:nvSpPr>
        <p:spPr>
          <a:xfrm>
            <a:off x="850392" y="2304288"/>
            <a:ext cx="1554480" cy="731520"/>
          </a:xfrm>
          <a:prstGeom prst="rect">
            <a:avLst/>
          </a:prstGeom>
          <a:noFill/>
        </p:spPr>
        <p:txBody>
          <a:bodyPr wrap="square" anchor="t" lIns="0" rIns="0" tIns="0" bIns="0">
            <a:spAutoFit/>
          </a:bodyPr>
          <a:lstStyle/>
          <a:p>
            <a:pPr algn="l">
              <a:spcAft>
                <a:spcPts val="400"/>
              </a:spcAft>
            </a:pPr>
            <a:r>
              <a:rPr sz="1200" b="0">
                <a:solidFill>
                  <a:srgbClr val="DCD3FA"/>
                </a:solidFill>
                <a:latin typeface="DM Sans"/>
              </a:rPr>
              <a:t>«Milisegundos de un dígito y más de 99% de recall»</a:t>
            </a:r>
          </a:p>
        </p:txBody>
      </p:sp>
      <p:sp>
        <p:nvSpPr>
          <p:cNvPr id="111" name="TextBox 110"/>
          <p:cNvSpPr txBox="1"/>
          <p:nvPr/>
        </p:nvSpPr>
        <p:spPr>
          <a:xfrm>
            <a:off x="850392" y="3108960"/>
            <a:ext cx="1554480" cy="182880"/>
          </a:xfrm>
          <a:prstGeom prst="rect">
            <a:avLst/>
          </a:prstGeom>
          <a:noFill/>
        </p:spPr>
        <p:txBody>
          <a:bodyPr wrap="square" anchor="t" lIns="0" rIns="0" tIns="0" bIns="0">
            <a:spAutoFit/>
          </a:bodyPr>
          <a:lstStyle/>
          <a:p>
            <a:pPr algn="l">
              <a:spcAft>
                <a:spcPts val="400"/>
              </a:spcAft>
            </a:pPr>
            <a:r>
              <a:rPr sz="900" b="1">
                <a:solidFill>
                  <a:srgbClr val="D054FC"/>
                </a:solidFill>
                <a:latin typeface="DM Sans"/>
              </a:rPr>
              <a:t>Desde agosto 2026</a:t>
            </a:r>
          </a:p>
        </p:txBody>
      </p:sp>
      <p:sp>
        <p:nvSpPr>
          <p:cNvPr id="112" name="Rounded Rectangle 111"/>
          <p:cNvSpPr/>
          <p:nvPr/>
        </p:nvSpPr>
        <p:spPr>
          <a:xfrm>
            <a:off x="2670048" y="1371600"/>
            <a:ext cx="1828800" cy="201168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834640" y="1508760"/>
            <a:ext cx="256032" cy="256032"/>
          </a:xfrm>
          <a:prstGeom prst="ellipse">
            <a:avLst/>
          </a:prstGeom>
          <a:solidFill>
            <a:srgbClr val="E85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834640" y="1783080"/>
            <a:ext cx="1554480" cy="484632"/>
          </a:xfrm>
          <a:prstGeom prst="rect">
            <a:avLst/>
          </a:prstGeom>
          <a:noFill/>
        </p:spPr>
        <p:txBody>
          <a:bodyPr wrap="square" anchor="b" lIns="0" rIns="0" tIns="0" bIns="0">
            <a:spAutoFit/>
          </a:bodyPr>
          <a:lstStyle/>
          <a:p>
            <a:pPr algn="l">
              <a:spcAft>
                <a:spcPts val="400"/>
              </a:spcAft>
            </a:pPr>
            <a:r>
              <a:rPr sz="1300" b="1">
                <a:solidFill>
                  <a:srgbClr val="FFFFFF"/>
                </a:solidFill>
                <a:latin typeface="DM Sans"/>
              </a:rPr>
              <a:t>S3 Vectors</a:t>
            </a:r>
          </a:p>
        </p:txBody>
      </p:sp>
      <p:sp>
        <p:nvSpPr>
          <p:cNvPr id="115" name="TextBox 114"/>
          <p:cNvSpPr txBox="1"/>
          <p:nvPr/>
        </p:nvSpPr>
        <p:spPr>
          <a:xfrm>
            <a:off x="2834640" y="2304288"/>
            <a:ext cx="1554480" cy="731520"/>
          </a:xfrm>
          <a:prstGeom prst="rect">
            <a:avLst/>
          </a:prstGeom>
          <a:noFill/>
        </p:spPr>
        <p:txBody>
          <a:bodyPr wrap="square" anchor="t" lIns="0" rIns="0" tIns="0" bIns="0">
            <a:spAutoFit/>
          </a:bodyPr>
          <a:lstStyle/>
          <a:p>
            <a:pPr algn="l">
              <a:spcAft>
                <a:spcPts val="400"/>
              </a:spcAft>
            </a:pPr>
            <a:r>
              <a:rPr sz="1200" b="0">
                <a:solidFill>
                  <a:srgbClr val="DCD3FA"/>
                </a:solidFill>
                <a:latin typeface="DM Sans"/>
              </a:rPr>
              <a:t>«Unos 100 ms o menos en consultas frecuentes»</a:t>
            </a:r>
          </a:p>
        </p:txBody>
      </p:sp>
      <p:sp>
        <p:nvSpPr>
          <p:cNvPr id="116" name="TextBox 115"/>
          <p:cNvSpPr txBox="1"/>
          <p:nvPr/>
        </p:nvSpPr>
        <p:spPr>
          <a:xfrm>
            <a:off x="2834640" y="3108960"/>
            <a:ext cx="1554480" cy="182880"/>
          </a:xfrm>
          <a:prstGeom prst="rect">
            <a:avLst/>
          </a:prstGeom>
          <a:noFill/>
        </p:spPr>
        <p:txBody>
          <a:bodyPr wrap="square" anchor="t" lIns="0" rIns="0" tIns="0" bIns="0">
            <a:spAutoFit/>
          </a:bodyPr>
          <a:lstStyle/>
          <a:p>
            <a:pPr algn="l">
              <a:spcAft>
                <a:spcPts val="400"/>
              </a:spcAft>
            </a:pPr>
            <a:r>
              <a:rPr sz="900" b="1">
                <a:solidFill>
                  <a:srgbClr val="D054FC"/>
                </a:solidFill>
                <a:latin typeface="DM Sans"/>
              </a:rPr>
              <a:t>Desde diciembre 2025</a:t>
            </a:r>
          </a:p>
        </p:txBody>
      </p:sp>
      <p:sp>
        <p:nvSpPr>
          <p:cNvPr id="117" name="Rounded Rectangle 116"/>
          <p:cNvSpPr/>
          <p:nvPr/>
        </p:nvSpPr>
        <p:spPr>
          <a:xfrm>
            <a:off x="4654296" y="1371600"/>
            <a:ext cx="1828800" cy="201168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818888" y="1508760"/>
            <a:ext cx="256032" cy="256032"/>
          </a:xfrm>
          <a:prstGeom prst="ellipse">
            <a:avLst/>
          </a:prstGeom>
          <a:solidFill>
            <a:srgbClr val="0E9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818888" y="1783080"/>
            <a:ext cx="1554480" cy="484632"/>
          </a:xfrm>
          <a:prstGeom prst="rect">
            <a:avLst/>
          </a:prstGeom>
          <a:noFill/>
        </p:spPr>
        <p:txBody>
          <a:bodyPr wrap="square" anchor="b" lIns="0" rIns="0" tIns="0" bIns="0">
            <a:spAutoFit/>
          </a:bodyPr>
          <a:lstStyle/>
          <a:p>
            <a:pPr algn="l">
              <a:spcAft>
                <a:spcPts val="400"/>
              </a:spcAft>
            </a:pPr>
            <a:r>
              <a:rPr sz="1300" b="1">
                <a:solidFill>
                  <a:srgbClr val="FFFFFF"/>
                </a:solidFill>
                <a:latin typeface="DM Sans"/>
              </a:rPr>
              <a:t>OpenSearch Serverless</a:t>
            </a:r>
          </a:p>
        </p:txBody>
      </p:sp>
      <p:sp>
        <p:nvSpPr>
          <p:cNvPr id="120" name="TextBox 119"/>
          <p:cNvSpPr txBox="1"/>
          <p:nvPr/>
        </p:nvSpPr>
        <p:spPr>
          <a:xfrm>
            <a:off x="4818888" y="2304288"/>
            <a:ext cx="1554480" cy="731520"/>
          </a:xfrm>
          <a:prstGeom prst="rect">
            <a:avLst/>
          </a:prstGeom>
          <a:noFill/>
        </p:spPr>
        <p:txBody>
          <a:bodyPr wrap="square" anchor="t" lIns="0" rIns="0" tIns="0" bIns="0">
            <a:spAutoFit/>
          </a:bodyPr>
          <a:lstStyle/>
          <a:p>
            <a:pPr algn="l">
              <a:spcAft>
                <a:spcPts val="400"/>
              </a:spcAft>
            </a:pPr>
            <a:r>
              <a:rPr sz="1200" b="0">
                <a:solidFill>
                  <a:srgbClr val="DCD3FA"/>
                </a:solidFill>
                <a:latin typeface="DM Sans"/>
              </a:rPr>
              <a:t>«Escala a cero y pagas solo lo que usas»</a:t>
            </a:r>
          </a:p>
        </p:txBody>
      </p:sp>
      <p:sp>
        <p:nvSpPr>
          <p:cNvPr id="121" name="TextBox 120"/>
          <p:cNvSpPr txBox="1"/>
          <p:nvPr/>
        </p:nvSpPr>
        <p:spPr>
          <a:xfrm>
            <a:off x="4818888" y="3108960"/>
            <a:ext cx="1554480" cy="182880"/>
          </a:xfrm>
          <a:prstGeom prst="rect">
            <a:avLst/>
          </a:prstGeom>
          <a:noFill/>
        </p:spPr>
        <p:txBody>
          <a:bodyPr wrap="square" anchor="t" lIns="0" rIns="0" tIns="0" bIns="0">
            <a:spAutoFit/>
          </a:bodyPr>
          <a:lstStyle/>
          <a:p>
            <a:pPr algn="l">
              <a:spcAft>
                <a:spcPts val="400"/>
              </a:spcAft>
            </a:pPr>
            <a:r>
              <a:rPr sz="900" b="1">
                <a:solidFill>
                  <a:srgbClr val="D054FC"/>
                </a:solidFill>
                <a:latin typeface="DM Sans"/>
              </a:rPr>
              <a:t>Desde mayo 2026</a:t>
            </a:r>
          </a:p>
        </p:txBody>
      </p:sp>
      <p:sp>
        <p:nvSpPr>
          <p:cNvPr id="122" name="Rounded Rectangle 121"/>
          <p:cNvSpPr/>
          <p:nvPr/>
        </p:nvSpPr>
        <p:spPr>
          <a:xfrm>
            <a:off x="6638544" y="1371600"/>
            <a:ext cx="1828800" cy="201168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6803136" y="1508760"/>
            <a:ext cx="256032" cy="256032"/>
          </a:xfrm>
          <a:prstGeom prst="ellipse">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803136" y="1783080"/>
            <a:ext cx="1554480" cy="484632"/>
          </a:xfrm>
          <a:prstGeom prst="rect">
            <a:avLst/>
          </a:prstGeom>
          <a:noFill/>
        </p:spPr>
        <p:txBody>
          <a:bodyPr wrap="square" anchor="b" lIns="0" rIns="0" tIns="0" bIns="0">
            <a:spAutoFit/>
          </a:bodyPr>
          <a:lstStyle/>
          <a:p>
            <a:pPr algn="l">
              <a:spcAft>
                <a:spcPts val="400"/>
              </a:spcAft>
            </a:pPr>
            <a:r>
              <a:rPr sz="1300" b="1">
                <a:solidFill>
                  <a:srgbClr val="FFFFFF"/>
                </a:solidFill>
                <a:latin typeface="DM Sans"/>
              </a:rPr>
              <a:t>Aurora PostgreSQL</a:t>
            </a:r>
          </a:p>
        </p:txBody>
      </p:sp>
      <p:sp>
        <p:nvSpPr>
          <p:cNvPr id="125" name="TextBox 124"/>
          <p:cNvSpPr txBox="1"/>
          <p:nvPr/>
        </p:nvSpPr>
        <p:spPr>
          <a:xfrm>
            <a:off x="6803136" y="2304288"/>
            <a:ext cx="1554480" cy="731520"/>
          </a:xfrm>
          <a:prstGeom prst="rect">
            <a:avLst/>
          </a:prstGeom>
          <a:noFill/>
        </p:spPr>
        <p:txBody>
          <a:bodyPr wrap="square" anchor="t" lIns="0" rIns="0" tIns="0" bIns="0">
            <a:spAutoFit/>
          </a:bodyPr>
          <a:lstStyle/>
          <a:p>
            <a:pPr algn="l">
              <a:spcAft>
                <a:spcPts val="400"/>
              </a:spcAft>
            </a:pPr>
            <a:r>
              <a:rPr sz="1200" b="0">
                <a:solidFill>
                  <a:srgbClr val="DCD3FA"/>
                </a:solidFill>
                <a:latin typeface="DM Sans"/>
              </a:rPr>
              <a:t>«pgvector filtra con WHERE y une tablas con JOIN»</a:t>
            </a:r>
          </a:p>
        </p:txBody>
      </p:sp>
      <p:sp>
        <p:nvSpPr>
          <p:cNvPr id="126" name="TextBox 125"/>
          <p:cNvSpPr txBox="1"/>
          <p:nvPr/>
        </p:nvSpPr>
        <p:spPr>
          <a:xfrm>
            <a:off x="6803136" y="3108960"/>
            <a:ext cx="1554480" cy="182880"/>
          </a:xfrm>
          <a:prstGeom prst="rect">
            <a:avLst/>
          </a:prstGeom>
          <a:noFill/>
        </p:spPr>
        <p:txBody>
          <a:bodyPr wrap="square" anchor="t" lIns="0" rIns="0" tIns="0" bIns="0">
            <a:spAutoFit/>
          </a:bodyPr>
          <a:lstStyle/>
          <a:p>
            <a:pPr algn="l">
              <a:spcAft>
                <a:spcPts val="400"/>
              </a:spcAft>
            </a:pPr>
            <a:r>
              <a:rPr sz="900" b="1">
                <a:solidFill>
                  <a:srgbClr val="D054FC"/>
                </a:solidFill>
                <a:latin typeface="DM Sans"/>
              </a:rPr>
              <a:t>pgvector 0.8</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Buscar por significado</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234440"/>
            <a:ext cx="3931920" cy="251460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914400" y="1508760"/>
            <a:ext cx="146304" cy="146304"/>
          </a:xfrm>
          <a:prstGeom prst="ellipse">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5568" y="1481328"/>
            <a:ext cx="2377440" cy="228600"/>
          </a:xfrm>
          <a:prstGeom prst="rect">
            <a:avLst/>
          </a:prstGeom>
          <a:noFill/>
        </p:spPr>
        <p:txBody>
          <a:bodyPr wrap="square" anchor="t" lIns="0" rIns="0" tIns="0" bIns="0">
            <a:spAutoFit/>
          </a:bodyPr>
          <a:lstStyle/>
          <a:p>
            <a:pPr algn="l">
              <a:spcAft>
                <a:spcPts val="400"/>
              </a:spcAft>
            </a:pPr>
            <a:r>
              <a:rPr sz="1000" b="0">
                <a:solidFill>
                  <a:srgbClr val="434343"/>
                </a:solidFill>
                <a:latin typeface="DM Sans"/>
              </a:rPr>
              <a:t>¿Cómo leo un CSV con pandas?</a:t>
            </a:r>
          </a:p>
        </p:txBody>
      </p:sp>
      <p:sp>
        <p:nvSpPr>
          <p:cNvPr id="134" name="Oval 133"/>
          <p:cNvSpPr/>
          <p:nvPr/>
        </p:nvSpPr>
        <p:spPr>
          <a:xfrm>
            <a:off x="1188720" y="1874519"/>
            <a:ext cx="146304" cy="146304"/>
          </a:xfrm>
          <a:prstGeom prst="ellipse">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1389888" y="1847088"/>
            <a:ext cx="2377440" cy="228600"/>
          </a:xfrm>
          <a:prstGeom prst="rect">
            <a:avLst/>
          </a:prstGeom>
          <a:noFill/>
        </p:spPr>
        <p:txBody>
          <a:bodyPr wrap="square" anchor="t" lIns="0" rIns="0" tIns="0" bIns="0">
            <a:spAutoFit/>
          </a:bodyPr>
          <a:lstStyle/>
          <a:p>
            <a:pPr algn="l">
              <a:spcAft>
                <a:spcPts val="400"/>
              </a:spcAft>
            </a:pPr>
            <a:r>
              <a:rPr sz="1000" b="0">
                <a:solidFill>
                  <a:srgbClr val="434343"/>
                </a:solidFill>
                <a:latin typeface="DM Sans"/>
              </a:rPr>
              <a:t>Leer un archivo CSV en Python</a:t>
            </a:r>
          </a:p>
        </p:txBody>
      </p:sp>
      <p:sp>
        <p:nvSpPr>
          <p:cNvPr id="136" name="Oval 135"/>
          <p:cNvSpPr/>
          <p:nvPr/>
        </p:nvSpPr>
        <p:spPr>
          <a:xfrm>
            <a:off x="2331720" y="2468880"/>
            <a:ext cx="146304" cy="146304"/>
          </a:xfrm>
          <a:prstGeom prst="ellipse">
            <a:avLst/>
          </a:prstGeom>
          <a:solidFill>
            <a:srgbClr val="9A9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532888" y="2441448"/>
            <a:ext cx="237744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¿Qué es un índice en SQL?</a:t>
            </a:r>
          </a:p>
        </p:txBody>
      </p:sp>
      <p:sp>
        <p:nvSpPr>
          <p:cNvPr id="138" name="Oval 137"/>
          <p:cNvSpPr/>
          <p:nvPr/>
        </p:nvSpPr>
        <p:spPr>
          <a:xfrm>
            <a:off x="1463040" y="3017520"/>
            <a:ext cx="146304" cy="146304"/>
          </a:xfrm>
          <a:prstGeom prst="ellipse">
            <a:avLst/>
          </a:prstGeom>
          <a:solidFill>
            <a:srgbClr val="9A9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664208" y="2990088"/>
            <a:ext cx="237744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Error de permisos en Linux</a:t>
            </a:r>
          </a:p>
        </p:txBody>
      </p:sp>
      <p:sp>
        <p:nvSpPr>
          <p:cNvPr id="140" name="TextBox 139"/>
          <p:cNvSpPr txBox="1"/>
          <p:nvPr/>
        </p:nvSpPr>
        <p:spPr>
          <a:xfrm>
            <a:off x="777240" y="3456432"/>
            <a:ext cx="3657600" cy="228600"/>
          </a:xfrm>
          <a:prstGeom prst="rect">
            <a:avLst/>
          </a:prstGeom>
          <a:noFill/>
        </p:spPr>
        <p:txBody>
          <a:bodyPr wrap="square" anchor="t" lIns="0" rIns="0" tIns="0" bIns="0">
            <a:spAutoFit/>
          </a:bodyPr>
          <a:lstStyle/>
          <a:p>
            <a:pPr algn="l">
              <a:spcAft>
                <a:spcPts val="400"/>
              </a:spcAft>
            </a:pPr>
            <a:r>
              <a:rPr sz="1000" b="1">
                <a:solidFill>
                  <a:srgbClr val="A433F3"/>
                </a:solidFill>
                <a:latin typeface="DM Sans"/>
              </a:rPr>
              <a:t>Cerca = significado parecido, con otras palabras</a:t>
            </a:r>
          </a:p>
        </p:txBody>
      </p:sp>
      <p:sp>
        <p:nvSpPr>
          <p:cNvPr id="141" name="Rounded Rectangle 140"/>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983480" y="1298448"/>
            <a:ext cx="3291840" cy="2423160"/>
          </a:xfrm>
          <a:prstGeom prst="rect">
            <a:avLst/>
          </a:prstGeom>
          <a:noFill/>
        </p:spPr>
        <p:txBody>
          <a:bodyPr wrap="square" anchor="t" lIns="0" rIns="0" tIns="0" bIns="0">
            <a:spAutoFit/>
          </a:bodyPr>
          <a:lstStyle/>
          <a:p>
            <a:pPr algn="l">
              <a:spcAft>
                <a:spcPts val="800"/>
              </a:spcAft>
            </a:pPr>
            <a:r>
              <a:rPr sz="1300" b="1">
                <a:solidFill>
                  <a:srgbClr val="434343"/>
                </a:solidFill>
                <a:latin typeface="DM Sans"/>
              </a:rPr>
              <a:t>1.</a:t>
            </a:r>
            <a:r>
              <a:rPr sz="1300" b="0">
                <a:solidFill>
                  <a:srgbClr val="434343"/>
                </a:solidFill>
                <a:latin typeface="DM Sans"/>
              </a:rPr>
              <a:t> Un modelo convierte cada texto en 1.024 números: un vector</a:t>
            </a:r>
          </a:p>
          <a:p>
            <a:pPr algn="l">
              <a:spcAft>
                <a:spcPts val="800"/>
              </a:spcAft>
            </a:pPr>
            <a:r>
              <a:rPr sz="1300" b="1">
                <a:solidFill>
                  <a:srgbClr val="434343"/>
                </a:solidFill>
                <a:latin typeface="DM Sans"/>
              </a:rPr>
              <a:t>2.</a:t>
            </a:r>
            <a:r>
              <a:rPr sz="1300" b="0">
                <a:solidFill>
                  <a:srgbClr val="434343"/>
                </a:solidFill>
                <a:latin typeface="DM Sans"/>
              </a:rPr>
              <a:t> Textos con significado parecido quedan cerca</a:t>
            </a:r>
          </a:p>
          <a:p>
            <a:pPr algn="l">
              <a:spcAft>
                <a:spcPts val="800"/>
              </a:spcAft>
            </a:pPr>
            <a:r>
              <a:rPr sz="1300" b="1">
                <a:solidFill>
                  <a:srgbClr val="434343"/>
                </a:solidFill>
                <a:latin typeface="DM Sans"/>
              </a:rPr>
              <a:t>3.</a:t>
            </a:r>
            <a:r>
              <a:rPr sz="1300" b="0">
                <a:solidFill>
                  <a:srgbClr val="434343"/>
                </a:solidFill>
                <a:latin typeface="DM Sans"/>
              </a:rPr>
              <a:t> Buscar es traer los 10 vectores más cercanos a tu pregunta</a:t>
            </a:r>
          </a:p>
          <a:p>
            <a:pPr algn="l">
              <a:spcAft>
                <a:spcPts val="800"/>
              </a:spcAft>
            </a:pPr>
            <a:r>
              <a:rPr sz="1300" b="1">
                <a:solidFill>
                  <a:srgbClr val="A433F3"/>
                </a:solidFill>
                <a:latin typeface="DM Sans"/>
              </a:rPr>
              <a:t>Las cuatro bases hacen esto. Cambia qué tan rápido, qué tan bien y a qué precio.</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Antes de la base, el modelo</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188720"/>
            <a:ext cx="402336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2" name="Chart 131"/>
          <p:cNvGraphicFramePr>
            <a:graphicFrameLocks noGrp="1"/>
          </p:cNvGraphicFramePr>
          <p:nvPr/>
        </p:nvGraphicFramePr>
        <p:xfrm>
          <a:off x="731520" y="1234440"/>
          <a:ext cx="3840480" cy="2514600"/>
        </p:xfrm>
        <a:graphic>
          <a:graphicData uri="http://schemas.openxmlformats.org/drawingml/2006/chart">
            <c:chart r:id="rId2"/>
          </a:graphicData>
        </a:graphic>
      </p:graphicFrame>
      <p:sp>
        <p:nvSpPr>
          <p:cNvPr id="133" name="Rounded Rectangle 132"/>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983480" y="1298448"/>
            <a:ext cx="3291840" cy="2423160"/>
          </a:xfrm>
          <a:prstGeom prst="rect">
            <a:avLst/>
          </a:prstGeom>
          <a:noFill/>
        </p:spPr>
        <p:txBody>
          <a:bodyPr wrap="square" anchor="t" lIns="0" rIns="0" tIns="0" bIns="0">
            <a:spAutoFit/>
          </a:bodyPr>
          <a:lstStyle/>
          <a:p>
            <a:pPr algn="l">
              <a:spcAft>
                <a:spcPts val="800"/>
              </a:spcAft>
            </a:pPr>
            <a:r>
              <a:rPr sz="1700" b="1">
                <a:solidFill>
                  <a:srgbClr val="A433F3"/>
                </a:solidFill>
                <a:latin typeface="DM Sans"/>
              </a:rPr>
              <a:t>Cohere Embed v4: 95,2%</a:t>
            </a:r>
          </a:p>
          <a:p>
            <a:pPr algn="l">
              <a:spcAft>
                <a:spcPts val="800"/>
              </a:spcAft>
            </a:pPr>
            <a:r>
              <a:rPr sz="1300" b="0">
                <a:solidFill>
                  <a:srgbClr val="434343"/>
                </a:solidFill>
                <a:latin typeface="DM Sans"/>
              </a:rPr>
              <a:t>Encontró la respuesta correcta entre los 10 primeros. Es el que uso en todo lo que sigue</a:t>
            </a:r>
          </a:p>
          <a:p>
            <a:pPr algn="l">
              <a:spcAft>
                <a:spcPts val="800"/>
              </a:spcAft>
            </a:pPr>
            <a:r>
              <a:rPr sz="1300" b="1">
                <a:solidFill>
                  <a:srgbClr val="434343"/>
                </a:solidFill>
                <a:latin typeface="DM Sans"/>
              </a:rPr>
              <a:t>Qwen</a:t>
            </a:r>
            <a:r>
              <a:rPr sz="1300" b="0">
                <a:solidFill>
                  <a:srgbClr val="434343"/>
                </a:solidFill>
                <a:latin typeface="DM Sans"/>
              </a:rPr>
              <a:t>, de código abierto, casi empata (94,6%), pero necesitas tu propia GPU</a:t>
            </a:r>
          </a:p>
          <a:p>
            <a:pPr algn="l">
              <a:spcAft>
                <a:spcPts val="800"/>
              </a:spcAft>
            </a:pPr>
            <a:r>
              <a:rPr sz="1300" b="1">
                <a:solidFill>
                  <a:srgbClr val="A433F3"/>
                </a:solidFill>
                <a:latin typeface="DM Sans"/>
              </a:rPr>
              <a:t>Si el modelo no entiende la pregunta, ninguna base lo arregla</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Con qué datos medí</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234440"/>
            <a:ext cx="3611880" cy="20574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5840" y="1325880"/>
            <a:ext cx="3200400" cy="685800"/>
          </a:xfrm>
          <a:prstGeom prst="rect">
            <a:avLst/>
          </a:prstGeom>
          <a:noFill/>
        </p:spPr>
        <p:txBody>
          <a:bodyPr wrap="square" anchor="t" lIns="0" rIns="0" tIns="0" bIns="0">
            <a:spAutoFit/>
          </a:bodyPr>
          <a:lstStyle/>
          <a:p>
            <a:pPr algn="l">
              <a:spcAft>
                <a:spcPts val="400"/>
              </a:spcAft>
            </a:pPr>
            <a:r>
              <a:rPr sz="4000" b="1">
                <a:solidFill>
                  <a:srgbClr val="A433F3"/>
                </a:solidFill>
                <a:latin typeface="DM Sans ExtraBold"/>
              </a:rPr>
              <a:t>100.000</a:t>
            </a:r>
          </a:p>
        </p:txBody>
      </p:sp>
      <p:sp>
        <p:nvSpPr>
          <p:cNvPr id="116" name="TextBox 115"/>
          <p:cNvSpPr txBox="1"/>
          <p:nvPr/>
        </p:nvSpPr>
        <p:spPr>
          <a:xfrm>
            <a:off x="1005840" y="2057400"/>
            <a:ext cx="3200400" cy="594360"/>
          </a:xfrm>
          <a:prstGeom prst="rect">
            <a:avLst/>
          </a:prstGeom>
          <a:noFill/>
        </p:spPr>
        <p:txBody>
          <a:bodyPr wrap="square" anchor="t" lIns="0" rIns="0" tIns="0" bIns="0">
            <a:spAutoFit/>
          </a:bodyPr>
          <a:lstStyle/>
          <a:p>
            <a:pPr algn="l">
              <a:spcAft>
                <a:spcPts val="400"/>
              </a:spcAft>
            </a:pPr>
            <a:r>
              <a:rPr sz="1500" b="1">
                <a:solidFill>
                  <a:srgbClr val="434343"/>
                </a:solidFill>
                <a:latin typeface="DM Sans"/>
              </a:rPr>
              <a:t>fragmentos de Stack Overflow en español</a:t>
            </a:r>
          </a:p>
        </p:txBody>
      </p:sp>
      <p:sp>
        <p:nvSpPr>
          <p:cNvPr id="117" name="TextBox 116"/>
          <p:cNvSpPr txBox="1"/>
          <p:nvPr/>
        </p:nvSpPr>
        <p:spPr>
          <a:xfrm>
            <a:off x="1005840" y="2697480"/>
            <a:ext cx="3200400" cy="548640"/>
          </a:xfrm>
          <a:prstGeom prst="rect">
            <a:avLst/>
          </a:prstGeom>
          <a:noFill/>
        </p:spPr>
        <p:txBody>
          <a:bodyPr wrap="square" anchor="t" lIns="0" rIns="0" tIns="0" bIns="0">
            <a:spAutoFit/>
          </a:bodyPr>
          <a:lstStyle/>
          <a:p>
            <a:pPr algn="l">
              <a:spcAft>
                <a:spcPts val="400"/>
              </a:spcAft>
            </a:pPr>
            <a:r>
              <a:rPr sz="1200" b="0">
                <a:solidFill>
                  <a:srgbClr val="6B6B80"/>
                </a:solidFill>
                <a:latin typeface="DM Sans"/>
              </a:rPr>
              <a:t>69.402 preguntas reales · abril 2024</a:t>
            </a:r>
          </a:p>
        </p:txBody>
      </p:sp>
      <p:sp>
        <p:nvSpPr>
          <p:cNvPr id="118" name="Rounded Rectangle 117"/>
          <p:cNvSpPr/>
          <p:nvPr/>
        </p:nvSpPr>
        <p:spPr>
          <a:xfrm>
            <a:off x="4663440" y="1234440"/>
            <a:ext cx="3611880" cy="20574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892040" y="1325880"/>
            <a:ext cx="3200400" cy="685800"/>
          </a:xfrm>
          <a:prstGeom prst="rect">
            <a:avLst/>
          </a:prstGeom>
          <a:noFill/>
        </p:spPr>
        <p:txBody>
          <a:bodyPr wrap="square" anchor="t" lIns="0" rIns="0" tIns="0" bIns="0">
            <a:spAutoFit/>
          </a:bodyPr>
          <a:lstStyle/>
          <a:p>
            <a:pPr algn="l">
              <a:spcAft>
                <a:spcPts val="400"/>
              </a:spcAft>
            </a:pPr>
            <a:r>
              <a:rPr sz="4000" b="1">
                <a:solidFill>
                  <a:srgbClr val="A433F3"/>
                </a:solidFill>
                <a:latin typeface="DM Sans ExtraBold"/>
              </a:rPr>
              <a:t>8.851</a:t>
            </a:r>
          </a:p>
        </p:txBody>
      </p:sp>
      <p:sp>
        <p:nvSpPr>
          <p:cNvPr id="120" name="TextBox 119"/>
          <p:cNvSpPr txBox="1"/>
          <p:nvPr/>
        </p:nvSpPr>
        <p:spPr>
          <a:xfrm>
            <a:off x="4892040" y="2057400"/>
            <a:ext cx="3200400" cy="594360"/>
          </a:xfrm>
          <a:prstGeom prst="rect">
            <a:avLst/>
          </a:prstGeom>
          <a:noFill/>
        </p:spPr>
        <p:txBody>
          <a:bodyPr wrap="square" anchor="t" lIns="0" rIns="0" tIns="0" bIns="0">
            <a:spAutoFit/>
          </a:bodyPr>
          <a:lstStyle/>
          <a:p>
            <a:pPr algn="l">
              <a:spcAft>
                <a:spcPts val="400"/>
              </a:spcAft>
            </a:pPr>
            <a:r>
              <a:rPr sz="1500" b="1">
                <a:solidFill>
                  <a:srgbClr val="434343"/>
                </a:solidFill>
                <a:latin typeface="DM Sans"/>
              </a:rPr>
              <a:t>fragmentos de leyes chilenas</a:t>
            </a:r>
          </a:p>
        </p:txBody>
      </p:sp>
      <p:sp>
        <p:nvSpPr>
          <p:cNvPr id="121" name="TextBox 120"/>
          <p:cNvSpPr txBox="1"/>
          <p:nvPr/>
        </p:nvSpPr>
        <p:spPr>
          <a:xfrm>
            <a:off x="4892040" y="2697480"/>
            <a:ext cx="3200400" cy="548640"/>
          </a:xfrm>
          <a:prstGeom prst="rect">
            <a:avLst/>
          </a:prstGeom>
          <a:noFill/>
        </p:spPr>
        <p:txBody>
          <a:bodyPr wrap="square" anchor="t" lIns="0" rIns="0" tIns="0" bIns="0">
            <a:spAutoFit/>
          </a:bodyPr>
          <a:lstStyle/>
          <a:p>
            <a:pPr algn="l">
              <a:spcAft>
                <a:spcPts val="400"/>
              </a:spcAft>
            </a:pPr>
            <a:r>
              <a:rPr sz="1200" b="0">
                <a:solidFill>
                  <a:srgbClr val="6B6B80"/>
                </a:solidFill>
                <a:latin typeface="DM Sans"/>
              </a:rPr>
              <a:t>Constitución y 10 códigos · Biblioteca del Congreso Nacional</a:t>
            </a:r>
          </a:p>
        </p:txBody>
      </p:sp>
      <p:sp>
        <p:nvSpPr>
          <p:cNvPr id="122" name="TextBox 121"/>
          <p:cNvSpPr txBox="1"/>
          <p:nvPr/>
        </p:nvSpPr>
        <p:spPr>
          <a:xfrm>
            <a:off x="777240" y="3383280"/>
            <a:ext cx="4023360" cy="274320"/>
          </a:xfrm>
          <a:prstGeom prst="rect">
            <a:avLst/>
          </a:prstGeom>
          <a:noFill/>
        </p:spPr>
        <p:txBody>
          <a:bodyPr wrap="square" anchor="t" lIns="0" rIns="0" tIns="0" bIns="0">
            <a:spAutoFit/>
          </a:bodyPr>
          <a:lstStyle/>
          <a:p>
            <a:pPr algn="l">
              <a:spcAft>
                <a:spcPts val="400"/>
              </a:spcAft>
            </a:pPr>
            <a:r>
              <a:rPr sz="1200" b="1">
                <a:solidFill>
                  <a:srgbClr val="434343"/>
                </a:solidFill>
                <a:latin typeface="DM Sans"/>
              </a:rPr>
              <a:t>1.000 preguntas, las mismas para las cuatro bases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Cómo medí</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188720"/>
            <a:ext cx="402336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868680" y="2103120"/>
            <a:ext cx="1143000" cy="777240"/>
          </a:xfrm>
          <a:prstGeom prst="roundRect">
            <a:avLst>
              <a:gd name="adj" fmla="val 8000"/>
            </a:avLst>
          </a:prstGeom>
          <a:solidFill>
            <a:srgbClr val="F4F0FC"/>
          </a:solidFill>
          <a:ln w="12700">
            <a:solidFill>
              <a:srgbClr val="BD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68680" y="2212848"/>
            <a:ext cx="1143000" cy="548640"/>
          </a:xfrm>
          <a:prstGeom prst="rect">
            <a:avLst/>
          </a:prstGeom>
          <a:noFill/>
        </p:spPr>
        <p:txBody>
          <a:bodyPr wrap="square" anchor="t" lIns="0" rIns="0" tIns="0" bIns="0">
            <a:spAutoFit/>
          </a:bodyPr>
          <a:lstStyle/>
          <a:p>
            <a:pPr algn="ctr">
              <a:spcAft>
                <a:spcPts val="400"/>
              </a:spcAft>
            </a:pPr>
            <a:r>
              <a:rPr sz="1000" b="1">
                <a:solidFill>
                  <a:srgbClr val="434343"/>
                </a:solidFill>
                <a:latin typeface="DM Sans"/>
              </a:rPr>
              <a:t>EC2</a:t>
            </a:r>
          </a:p>
          <a:p>
            <a:pPr algn="ctr">
              <a:spcAft>
                <a:spcPts val="400"/>
              </a:spcAft>
            </a:pPr>
            <a:r>
              <a:rPr sz="1000" b="0">
                <a:solidFill>
                  <a:srgbClr val="434343"/>
                </a:solidFill>
                <a:latin typeface="DM Sans"/>
              </a:rPr>
              <a:t>misma región</a:t>
            </a:r>
          </a:p>
        </p:txBody>
      </p:sp>
      <p:sp>
        <p:nvSpPr>
          <p:cNvPr id="134" name="Rounded Rectangle 133"/>
          <p:cNvSpPr/>
          <p:nvPr/>
        </p:nvSpPr>
        <p:spPr>
          <a:xfrm>
            <a:off x="2743200" y="1325880"/>
            <a:ext cx="1737360" cy="457200"/>
          </a:xfrm>
          <a:prstGeom prst="roundRect">
            <a:avLst>
              <a:gd name="adj" fmla="val 8000"/>
            </a:avLst>
          </a:prstGeom>
          <a:solidFill>
            <a:srgbClr val="A43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743200" y="1444752"/>
            <a:ext cx="1737360" cy="228600"/>
          </a:xfrm>
          <a:prstGeom prst="rect">
            <a:avLst/>
          </a:prstGeom>
          <a:noFill/>
        </p:spPr>
        <p:txBody>
          <a:bodyPr wrap="square" anchor="t" lIns="0" rIns="0" tIns="0" bIns="0">
            <a:spAutoFit/>
          </a:bodyPr>
          <a:lstStyle/>
          <a:p>
            <a:pPr algn="ctr">
              <a:spcAft>
                <a:spcPts val="400"/>
              </a:spcAft>
            </a:pPr>
            <a:r>
              <a:rPr sz="1100" b="1">
                <a:solidFill>
                  <a:srgbClr val="FFFFFF"/>
                </a:solidFill>
                <a:latin typeface="DM Sans"/>
              </a:rPr>
              <a:t>Aurora pgvector</a:t>
            </a:r>
          </a:p>
        </p:txBody>
      </p:sp>
      <p:cxnSp>
        <p:nvCxnSpPr>
          <p:cNvPr id="136" name="Connector 135"/>
          <p:cNvCxnSpPr/>
          <p:nvPr/>
        </p:nvCxnSpPr>
        <p:spPr>
          <a:xfrm flipV="1">
            <a:off x="2011680" y="1554480"/>
            <a:ext cx="731520" cy="932688"/>
          </a:xfrm>
          <a:prstGeom prst="line">
            <a:avLst/>
          </a:prstGeom>
          <a:ln w="15875">
            <a:solidFill>
              <a:srgbClr val="BDB3DA"/>
            </a:solidFill>
          </a:ln>
        </p:spPr>
        <p:style>
          <a:lnRef idx="2">
            <a:schemeClr val="accent1"/>
          </a:lnRef>
          <a:fillRef idx="0">
            <a:schemeClr val="accent1"/>
          </a:fillRef>
          <a:effectRef idx="1">
            <a:schemeClr val="accent1"/>
          </a:effectRef>
          <a:fontRef idx="minor">
            <a:schemeClr val="tx1"/>
          </a:fontRef>
        </p:style>
      </p:cxnSp>
      <p:sp>
        <p:nvSpPr>
          <p:cNvPr id="137" name="Rounded Rectangle 136"/>
          <p:cNvSpPr/>
          <p:nvPr/>
        </p:nvSpPr>
        <p:spPr>
          <a:xfrm>
            <a:off x="2743200" y="1929384"/>
            <a:ext cx="1737360" cy="457200"/>
          </a:xfrm>
          <a:prstGeom prst="roundRect">
            <a:avLst>
              <a:gd name="adj" fmla="val 8000"/>
            </a:avLst>
          </a:prstGeom>
          <a:solidFill>
            <a:srgbClr val="3D5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743200" y="2048255"/>
            <a:ext cx="1737360" cy="228600"/>
          </a:xfrm>
          <a:prstGeom prst="rect">
            <a:avLst/>
          </a:prstGeom>
          <a:noFill/>
        </p:spPr>
        <p:txBody>
          <a:bodyPr wrap="square" anchor="t" lIns="0" rIns="0" tIns="0" bIns="0">
            <a:spAutoFit/>
          </a:bodyPr>
          <a:lstStyle/>
          <a:p>
            <a:pPr algn="ctr">
              <a:spcAft>
                <a:spcPts val="400"/>
              </a:spcAft>
            </a:pPr>
            <a:r>
              <a:rPr sz="1100" b="1">
                <a:solidFill>
                  <a:srgbClr val="FFFFFF"/>
                </a:solidFill>
                <a:latin typeface="DM Sans"/>
              </a:rPr>
              <a:t>DynamoDB</a:t>
            </a:r>
          </a:p>
        </p:txBody>
      </p:sp>
      <p:cxnSp>
        <p:nvCxnSpPr>
          <p:cNvPr id="139" name="Connector 138"/>
          <p:cNvCxnSpPr/>
          <p:nvPr/>
        </p:nvCxnSpPr>
        <p:spPr>
          <a:xfrm flipV="1">
            <a:off x="2011680" y="2157984"/>
            <a:ext cx="731520" cy="329184"/>
          </a:xfrm>
          <a:prstGeom prst="line">
            <a:avLst/>
          </a:prstGeom>
          <a:ln w="15875">
            <a:solidFill>
              <a:srgbClr val="BDB3DA"/>
            </a:solidFill>
          </a:ln>
        </p:spPr>
        <p:style>
          <a:lnRef idx="2">
            <a:schemeClr val="accent1"/>
          </a:lnRef>
          <a:fillRef idx="0">
            <a:schemeClr val="accent1"/>
          </a:fillRef>
          <a:effectRef idx="1">
            <a:schemeClr val="accent1"/>
          </a:effectRef>
          <a:fontRef idx="minor">
            <a:schemeClr val="tx1"/>
          </a:fontRef>
        </p:style>
      </p:cxnSp>
      <p:sp>
        <p:nvSpPr>
          <p:cNvPr id="140" name="Rounded Rectangle 139"/>
          <p:cNvSpPr/>
          <p:nvPr/>
        </p:nvSpPr>
        <p:spPr>
          <a:xfrm>
            <a:off x="2743200" y="2532888"/>
            <a:ext cx="1737360" cy="457200"/>
          </a:xfrm>
          <a:prstGeom prst="roundRect">
            <a:avLst>
              <a:gd name="adj" fmla="val 8000"/>
            </a:avLst>
          </a:prstGeom>
          <a:solidFill>
            <a:srgbClr val="0E9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743200" y="2651760"/>
            <a:ext cx="1737360" cy="228600"/>
          </a:xfrm>
          <a:prstGeom prst="rect">
            <a:avLst/>
          </a:prstGeom>
          <a:noFill/>
        </p:spPr>
        <p:txBody>
          <a:bodyPr wrap="square" anchor="t" lIns="0" rIns="0" tIns="0" bIns="0">
            <a:spAutoFit/>
          </a:bodyPr>
          <a:lstStyle/>
          <a:p>
            <a:pPr algn="ctr">
              <a:spcAft>
                <a:spcPts val="400"/>
              </a:spcAft>
            </a:pPr>
            <a:r>
              <a:rPr sz="1100" b="1">
                <a:solidFill>
                  <a:srgbClr val="FFFFFF"/>
                </a:solidFill>
                <a:latin typeface="DM Sans"/>
              </a:rPr>
              <a:t>OpenSearch</a:t>
            </a:r>
          </a:p>
        </p:txBody>
      </p:sp>
      <p:cxnSp>
        <p:nvCxnSpPr>
          <p:cNvPr id="142" name="Connector 141"/>
          <p:cNvCxnSpPr/>
          <p:nvPr/>
        </p:nvCxnSpPr>
        <p:spPr>
          <a:xfrm>
            <a:off x="2011680" y="2487168"/>
            <a:ext cx="731520" cy="274320"/>
          </a:xfrm>
          <a:prstGeom prst="line">
            <a:avLst/>
          </a:prstGeom>
          <a:ln w="15875">
            <a:solidFill>
              <a:srgbClr val="BDB3DA"/>
            </a:solidFill>
          </a:ln>
        </p:spPr>
        <p:style>
          <a:lnRef idx="2">
            <a:schemeClr val="accent1"/>
          </a:lnRef>
          <a:fillRef idx="0">
            <a:schemeClr val="accent1"/>
          </a:fillRef>
          <a:effectRef idx="1">
            <a:schemeClr val="accent1"/>
          </a:effectRef>
          <a:fontRef idx="minor">
            <a:schemeClr val="tx1"/>
          </a:fontRef>
        </p:style>
      </p:cxnSp>
      <p:sp>
        <p:nvSpPr>
          <p:cNvPr id="143" name="Rounded Rectangle 142"/>
          <p:cNvSpPr/>
          <p:nvPr/>
        </p:nvSpPr>
        <p:spPr>
          <a:xfrm>
            <a:off x="2743200" y="3136391"/>
            <a:ext cx="1737360" cy="457200"/>
          </a:xfrm>
          <a:prstGeom prst="roundRect">
            <a:avLst>
              <a:gd name="adj" fmla="val 8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2743200" y="3255263"/>
            <a:ext cx="1737360" cy="228600"/>
          </a:xfrm>
          <a:prstGeom prst="rect">
            <a:avLst/>
          </a:prstGeom>
          <a:noFill/>
        </p:spPr>
        <p:txBody>
          <a:bodyPr wrap="square" anchor="t" lIns="0" rIns="0" tIns="0" bIns="0">
            <a:spAutoFit/>
          </a:bodyPr>
          <a:lstStyle/>
          <a:p>
            <a:pPr algn="ctr">
              <a:spcAft>
                <a:spcPts val="400"/>
              </a:spcAft>
            </a:pPr>
            <a:r>
              <a:rPr sz="1100" b="1">
                <a:solidFill>
                  <a:srgbClr val="FFFFFF"/>
                </a:solidFill>
                <a:latin typeface="DM Sans"/>
              </a:rPr>
              <a:t>S3 Vectors</a:t>
            </a:r>
          </a:p>
        </p:txBody>
      </p:sp>
      <p:cxnSp>
        <p:nvCxnSpPr>
          <p:cNvPr id="145" name="Connector 144"/>
          <p:cNvCxnSpPr/>
          <p:nvPr/>
        </p:nvCxnSpPr>
        <p:spPr>
          <a:xfrm>
            <a:off x="2011680" y="2487168"/>
            <a:ext cx="731520" cy="877823"/>
          </a:xfrm>
          <a:prstGeom prst="line">
            <a:avLst/>
          </a:prstGeom>
          <a:ln w="15875">
            <a:solidFill>
              <a:srgbClr val="BDB3DA"/>
            </a:solidFill>
          </a:ln>
        </p:spPr>
        <p:style>
          <a:lnRef idx="2">
            <a:schemeClr val="accent1"/>
          </a:lnRef>
          <a:fillRef idx="0">
            <a:schemeClr val="accent1"/>
          </a:fillRef>
          <a:effectRef idx="1">
            <a:schemeClr val="accent1"/>
          </a:effectRef>
          <a:fontRef idx="minor">
            <a:schemeClr val="tx1"/>
          </a:fontRef>
        </p:style>
      </p:cxnSp>
      <p:sp>
        <p:nvSpPr>
          <p:cNvPr id="146" name="Rounded Rectangle 145"/>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983480" y="1298448"/>
            <a:ext cx="3291840" cy="2423160"/>
          </a:xfrm>
          <a:prstGeom prst="rect">
            <a:avLst/>
          </a:prstGeom>
          <a:noFill/>
        </p:spPr>
        <p:txBody>
          <a:bodyPr wrap="square" anchor="t" lIns="0" rIns="0" tIns="0" bIns="0">
            <a:spAutoFit/>
          </a:bodyPr>
          <a:lstStyle/>
          <a:p>
            <a:pPr algn="l">
              <a:spcAft>
                <a:spcPts val="800"/>
              </a:spcAft>
            </a:pPr>
            <a:r>
              <a:rPr sz="1300" b="0">
                <a:solidFill>
                  <a:srgbClr val="434343"/>
                </a:solidFill>
                <a:latin typeface="DM Sans"/>
              </a:rPr>
              <a:t>Los mismos vectores en las cuatro</a:t>
            </a:r>
          </a:p>
          <a:p>
            <a:pPr algn="l">
              <a:spcAft>
                <a:spcPts val="800"/>
              </a:spcAft>
            </a:pPr>
            <a:r>
              <a:rPr sz="1300" b="0">
                <a:solidFill>
                  <a:srgbClr val="434343"/>
                </a:solidFill>
                <a:latin typeface="DM Sans"/>
              </a:rPr>
              <a:t>Cada pregunta pide los 10 más cercanos</a:t>
            </a:r>
          </a:p>
          <a:p>
            <a:pPr algn="l">
              <a:spcAft>
                <a:spcPts val="800"/>
              </a:spcAft>
            </a:pPr>
            <a:r>
              <a:rPr sz="1300" b="0">
                <a:solidFill>
                  <a:srgbClr val="434343"/>
                </a:solidFill>
                <a:latin typeface="DM Sans"/>
              </a:rPr>
              <a:t>1.000 preguntas, 3 veces, de una en una</a:t>
            </a:r>
          </a:p>
          <a:p>
            <a:pPr algn="l">
              <a:spcAft>
                <a:spcPts val="800"/>
              </a:spcAft>
            </a:pPr>
            <a:r>
              <a:rPr sz="1300" b="0">
                <a:solidFill>
                  <a:srgbClr val="434343"/>
                </a:solidFill>
                <a:latin typeface="DM Sans"/>
              </a:rPr>
              <a:t>Antes de medir, 1.000 consultas de calentamiento</a:t>
            </a:r>
          </a:p>
          <a:p>
            <a:pPr algn="l">
              <a:spcAft>
                <a:spcPts val="800"/>
              </a:spcAft>
            </a:pPr>
            <a:r>
              <a:rPr sz="1300" b="0">
                <a:solidFill>
                  <a:srgbClr val="434343"/>
                </a:solidFill>
                <a:latin typeface="DM Sans"/>
              </a:rPr>
              <a:t>El tiempo se mide desde una máquina en la misma región</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Cómo leer los tiempos: p50 y p95</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188720"/>
            <a:ext cx="402336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2" name="Chart 131"/>
          <p:cNvGraphicFramePr>
            <a:graphicFrameLocks noGrp="1"/>
          </p:cNvGraphicFramePr>
          <p:nvPr/>
        </p:nvGraphicFramePr>
        <p:xfrm>
          <a:off x="731520" y="1234440"/>
          <a:ext cx="3840480" cy="2514600"/>
        </p:xfrm>
        <a:graphic>
          <a:graphicData uri="http://schemas.openxmlformats.org/drawingml/2006/chart">
            <c:chart r:id="rId2"/>
          </a:graphicData>
        </a:graphic>
      </p:graphicFrame>
      <p:sp>
        <p:nvSpPr>
          <p:cNvPr id="133" name="Rounded Rectangle 132"/>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983480" y="1298448"/>
            <a:ext cx="3291840" cy="2423160"/>
          </a:xfrm>
          <a:prstGeom prst="rect">
            <a:avLst/>
          </a:prstGeom>
          <a:noFill/>
        </p:spPr>
        <p:txBody>
          <a:bodyPr wrap="square" anchor="t" lIns="0" rIns="0" tIns="0" bIns="0">
            <a:spAutoFit/>
          </a:bodyPr>
          <a:lstStyle/>
          <a:p>
            <a:pPr algn="l">
              <a:spcAft>
                <a:spcPts val="800"/>
              </a:spcAft>
            </a:pPr>
            <a:r>
              <a:rPr sz="1300" b="0">
                <a:solidFill>
                  <a:srgbClr val="434343"/>
                </a:solidFill>
                <a:latin typeface="DM Sans"/>
              </a:rPr>
              <a:t>Ordena las consultas de la más rápida a la más lenta</a:t>
            </a:r>
          </a:p>
          <a:p>
            <a:pPr algn="l">
              <a:spcAft>
                <a:spcPts val="800"/>
              </a:spcAft>
            </a:pPr>
            <a:r>
              <a:rPr sz="1300" b="1">
                <a:solidFill>
                  <a:srgbClr val="D054FC"/>
                </a:solidFill>
                <a:latin typeface="DM Sans"/>
              </a:rPr>
              <a:t>p50</a:t>
            </a:r>
            <a:r>
              <a:rPr sz="1300" b="0">
                <a:solidFill>
                  <a:srgbClr val="434343"/>
                </a:solidFill>
                <a:latin typeface="DM Sans"/>
              </a:rPr>
              <a:t>: la del medio. Lo normal: 29,9 ms</a:t>
            </a:r>
          </a:p>
          <a:p>
            <a:pPr algn="l">
              <a:spcAft>
                <a:spcPts val="800"/>
              </a:spcAft>
            </a:pPr>
            <a:r>
              <a:rPr sz="1300" b="1">
                <a:solidFill>
                  <a:srgbClr val="D054FC"/>
                </a:solidFill>
                <a:latin typeface="DM Sans"/>
              </a:rPr>
              <a:t>p95</a:t>
            </a:r>
            <a:r>
              <a:rPr sz="1300" b="0">
                <a:solidFill>
                  <a:srgbClr val="434343"/>
                </a:solidFill>
                <a:latin typeface="DM Sans"/>
              </a:rPr>
              <a:t>: 95 de cada 100 son más rápidas. Un mal día: 41,1 ms</a:t>
            </a:r>
          </a:p>
          <a:p>
            <a:pPr algn="l">
              <a:spcAft>
                <a:spcPts val="800"/>
              </a:spcAft>
            </a:pPr>
            <a:r>
              <a:rPr sz="1300" b="1">
                <a:solidFill>
                  <a:srgbClr val="A433F3"/>
                </a:solidFill>
                <a:latin typeface="DM Sans"/>
              </a:rPr>
              <a:t>El promedio esconde las consultas lentas; el p95, no</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Cómo leer el acierto: recall</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234440"/>
            <a:ext cx="3611880" cy="25146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5840" y="1371600"/>
            <a:ext cx="3200400" cy="365760"/>
          </a:xfrm>
          <a:prstGeom prst="rect">
            <a:avLst/>
          </a:prstGeom>
          <a:noFill/>
        </p:spPr>
        <p:txBody>
          <a:bodyPr wrap="square" anchor="t" lIns="0" rIns="0" tIns="0" bIns="0">
            <a:spAutoFit/>
          </a:bodyPr>
          <a:lstStyle/>
          <a:p>
            <a:pPr algn="l">
              <a:spcAft>
                <a:spcPts val="400"/>
              </a:spcAft>
            </a:pPr>
            <a:r>
              <a:rPr sz="1800" b="1">
                <a:solidFill>
                  <a:srgbClr val="A433F3"/>
                </a:solidFill>
                <a:latin typeface="DM Sans"/>
              </a:rPr>
              <a:t>Recall@10</a:t>
            </a:r>
          </a:p>
        </p:txBody>
      </p:sp>
      <p:sp>
        <p:nvSpPr>
          <p:cNvPr id="116" name="TextBox 115"/>
          <p:cNvSpPr txBox="1"/>
          <p:nvPr/>
        </p:nvSpPr>
        <p:spPr>
          <a:xfrm>
            <a:off x="1005840" y="1783080"/>
            <a:ext cx="3200400" cy="822960"/>
          </a:xfrm>
          <a:prstGeom prst="rect">
            <a:avLst/>
          </a:prstGeom>
          <a:noFill/>
        </p:spPr>
        <p:txBody>
          <a:bodyPr wrap="square" anchor="t" lIns="0" rIns="0" tIns="0" bIns="0">
            <a:spAutoFit/>
          </a:bodyPr>
          <a:lstStyle/>
          <a:p>
            <a:pPr algn="l">
              <a:spcAft>
                <a:spcPts val="400"/>
              </a:spcAft>
            </a:pPr>
            <a:r>
              <a:rPr sz="1200" b="0">
                <a:solidFill>
                  <a:srgbClr val="434343"/>
                </a:solidFill>
                <a:latin typeface="DM Sans"/>
              </a:rPr>
              <a:t>La búsqueda exacta compara tu pregunta con todos los vectores: es lenta, pero no se equivoca. Los índices toman atajos para ir más rápido.</a:t>
            </a:r>
          </a:p>
        </p:txBody>
      </p:sp>
      <p:sp>
        <p:nvSpPr>
          <p:cNvPr id="117" name="Rounded Rectangle 116"/>
          <p:cNvSpPr/>
          <p:nvPr/>
        </p:nvSpPr>
        <p:spPr>
          <a:xfrm>
            <a:off x="1005840"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1307592"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ounded Rectangle 118"/>
          <p:cNvSpPr/>
          <p:nvPr/>
        </p:nvSpPr>
        <p:spPr>
          <a:xfrm>
            <a:off x="1609344"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1911095"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2212848"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2514600"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2816352"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3118104"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3419856" y="2788920"/>
            <a:ext cx="237744" cy="237744"/>
          </a:xfrm>
          <a:prstGeom prst="roundRect">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3721608" y="2788920"/>
            <a:ext cx="237744" cy="237744"/>
          </a:xfrm>
          <a:prstGeom prst="roundRect">
            <a:avLst/>
          </a:prstGeom>
          <a:solidFill>
            <a:srgbClr val="D9D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05840" y="3154680"/>
            <a:ext cx="3200400" cy="411480"/>
          </a:xfrm>
          <a:prstGeom prst="rect">
            <a:avLst/>
          </a:prstGeom>
          <a:noFill/>
        </p:spPr>
        <p:txBody>
          <a:bodyPr wrap="square" anchor="t" lIns="0" rIns="0" tIns="0" bIns="0">
            <a:spAutoFit/>
          </a:bodyPr>
          <a:lstStyle/>
          <a:p>
            <a:pPr algn="l">
              <a:spcAft>
                <a:spcPts val="400"/>
              </a:spcAft>
            </a:pPr>
            <a:r>
              <a:rPr sz="1200" b="1">
                <a:solidFill>
                  <a:srgbClr val="6B6B80"/>
                </a:solidFill>
                <a:latin typeface="DM Sans"/>
              </a:rPr>
              <a:t>Encontró 9 de los 10 = 90% de recall</a:t>
            </a:r>
          </a:p>
        </p:txBody>
      </p:sp>
      <p:sp>
        <p:nvSpPr>
          <p:cNvPr id="128" name="Rounded Rectangle 127"/>
          <p:cNvSpPr/>
          <p:nvPr/>
        </p:nvSpPr>
        <p:spPr>
          <a:xfrm>
            <a:off x="4663440" y="1234440"/>
            <a:ext cx="3703320" cy="251460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4892040" y="1371600"/>
            <a:ext cx="3291840" cy="2286000"/>
          </a:xfrm>
          <a:prstGeom prst="rect">
            <a:avLst/>
          </a:prstGeom>
          <a:noFill/>
        </p:spPr>
        <p:txBody>
          <a:bodyPr wrap="square" anchor="t" lIns="0" rIns="0" tIns="0" bIns="0">
            <a:spAutoFit/>
          </a:bodyPr>
          <a:lstStyle/>
          <a:p>
            <a:pPr algn="l">
              <a:spcAft>
                <a:spcPts val="900"/>
              </a:spcAft>
            </a:pPr>
            <a:r>
              <a:rPr sz="1700" b="1">
                <a:solidFill>
                  <a:srgbClr val="D054FC"/>
                </a:solidFill>
                <a:latin typeface="DM Sans"/>
              </a:rPr>
              <a:t>Recall no es relevancia</a:t>
            </a:r>
          </a:p>
          <a:p>
            <a:pPr algn="l">
              <a:spcAft>
                <a:spcPts val="900"/>
              </a:spcAft>
            </a:pPr>
            <a:r>
              <a:rPr sz="1300" b="1">
                <a:solidFill>
                  <a:srgbClr val="434343"/>
                </a:solidFill>
                <a:latin typeface="DM Sans"/>
              </a:rPr>
              <a:t>Recall</a:t>
            </a:r>
            <a:r>
              <a:rPr sz="1300" b="0">
                <a:solidFill>
                  <a:srgbClr val="434343"/>
                </a:solidFill>
                <a:latin typeface="DM Sans"/>
              </a:rPr>
              <a:t>: ¿el atajo encontró lo mismo que la búsqueda exacta?</a:t>
            </a:r>
          </a:p>
          <a:p>
            <a:pPr algn="l">
              <a:spcAft>
                <a:spcPts val="900"/>
              </a:spcAft>
            </a:pPr>
            <a:r>
              <a:rPr sz="1300" b="1">
                <a:solidFill>
                  <a:srgbClr val="434343"/>
                </a:solidFill>
                <a:latin typeface="DM Sans"/>
              </a:rPr>
              <a:t>Relevancia</a:t>
            </a:r>
            <a:r>
              <a:rPr sz="1300" b="0">
                <a:solidFill>
                  <a:srgbClr val="434343"/>
                </a:solidFill>
                <a:latin typeface="DM Sans"/>
              </a:rPr>
              <a:t>: ¿lo que volvió responde tu pregunta? Eso depende del modelo, no de la base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Cinco preguntas antes de elegir</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188720"/>
            <a:ext cx="7589520" cy="402336"/>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60120" y="1243584"/>
            <a:ext cx="365760" cy="274320"/>
          </a:xfrm>
          <a:prstGeom prst="rect">
            <a:avLst/>
          </a:prstGeom>
          <a:noFill/>
        </p:spPr>
        <p:txBody>
          <a:bodyPr wrap="square" anchor="t" lIns="0" rIns="0" tIns="0" bIns="0">
            <a:spAutoFit/>
          </a:bodyPr>
          <a:lstStyle/>
          <a:p>
            <a:pPr algn="l">
              <a:spcAft>
                <a:spcPts val="400"/>
              </a:spcAft>
            </a:pPr>
            <a:r>
              <a:rPr sz="1600" b="1">
                <a:solidFill>
                  <a:srgbClr val="A433F3"/>
                </a:solidFill>
                <a:latin typeface="DM Sans ExtraBold"/>
              </a:rPr>
              <a:t>1</a:t>
            </a:r>
          </a:p>
        </p:txBody>
      </p:sp>
      <p:sp>
        <p:nvSpPr>
          <p:cNvPr id="116" name="TextBox 115"/>
          <p:cNvSpPr txBox="1"/>
          <p:nvPr/>
        </p:nvSpPr>
        <p:spPr>
          <a:xfrm>
            <a:off x="1371600" y="1271016"/>
            <a:ext cx="3291840" cy="274320"/>
          </a:xfrm>
          <a:prstGeom prst="rect">
            <a:avLst/>
          </a:prstGeom>
          <a:noFill/>
        </p:spPr>
        <p:txBody>
          <a:bodyPr wrap="square" anchor="t" lIns="0" rIns="0" tIns="0" bIns="0">
            <a:spAutoFit/>
          </a:bodyPr>
          <a:lstStyle/>
          <a:p>
            <a:pPr algn="l">
              <a:spcAft>
                <a:spcPts val="400"/>
              </a:spcAft>
            </a:pPr>
            <a:r>
              <a:rPr sz="1400" b="1">
                <a:solidFill>
                  <a:srgbClr val="434343"/>
                </a:solidFill>
                <a:latin typeface="DM Sans"/>
              </a:rPr>
              <a:t>¿Cuál responde más rápido?</a:t>
            </a:r>
          </a:p>
        </p:txBody>
      </p:sp>
      <p:sp>
        <p:nvSpPr>
          <p:cNvPr id="117" name="TextBox 116"/>
          <p:cNvSpPr txBox="1"/>
          <p:nvPr/>
        </p:nvSpPr>
        <p:spPr>
          <a:xfrm>
            <a:off x="4754880" y="1289304"/>
            <a:ext cx="3566160" cy="274320"/>
          </a:xfrm>
          <a:prstGeom prst="rect">
            <a:avLst/>
          </a:prstGeom>
          <a:noFill/>
        </p:spPr>
        <p:txBody>
          <a:bodyPr wrap="square" anchor="t" lIns="0" rIns="0" tIns="0" bIns="0">
            <a:spAutoFit/>
          </a:bodyPr>
          <a:lstStyle/>
          <a:p>
            <a:pPr algn="l">
              <a:spcAft>
                <a:spcPts val="400"/>
              </a:spcAft>
            </a:pPr>
            <a:r>
              <a:rPr sz="1200" b="0">
                <a:solidFill>
                  <a:srgbClr val="6B6B80"/>
                </a:solidFill>
                <a:latin typeface="DM Sans"/>
              </a:rPr>
              <a:t>Con la base ya encendida</a:t>
            </a:r>
          </a:p>
        </p:txBody>
      </p:sp>
      <p:sp>
        <p:nvSpPr>
          <p:cNvPr id="118" name="Rounded Rectangle 117"/>
          <p:cNvSpPr/>
          <p:nvPr/>
        </p:nvSpPr>
        <p:spPr>
          <a:xfrm>
            <a:off x="777240" y="1664208"/>
            <a:ext cx="7589520" cy="402336"/>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60120" y="1719072"/>
            <a:ext cx="365760" cy="274320"/>
          </a:xfrm>
          <a:prstGeom prst="rect">
            <a:avLst/>
          </a:prstGeom>
          <a:noFill/>
        </p:spPr>
        <p:txBody>
          <a:bodyPr wrap="square" anchor="t" lIns="0" rIns="0" tIns="0" bIns="0">
            <a:spAutoFit/>
          </a:bodyPr>
          <a:lstStyle/>
          <a:p>
            <a:pPr algn="l">
              <a:spcAft>
                <a:spcPts val="400"/>
              </a:spcAft>
            </a:pPr>
            <a:r>
              <a:rPr sz="1600" b="1">
                <a:solidFill>
                  <a:srgbClr val="A433F3"/>
                </a:solidFill>
                <a:latin typeface="DM Sans ExtraBold"/>
              </a:rPr>
              <a:t>2</a:t>
            </a:r>
          </a:p>
        </p:txBody>
      </p:sp>
      <p:sp>
        <p:nvSpPr>
          <p:cNvPr id="120" name="TextBox 119"/>
          <p:cNvSpPr txBox="1"/>
          <p:nvPr/>
        </p:nvSpPr>
        <p:spPr>
          <a:xfrm>
            <a:off x="1371600" y="1746504"/>
            <a:ext cx="3291840" cy="274320"/>
          </a:xfrm>
          <a:prstGeom prst="rect">
            <a:avLst/>
          </a:prstGeom>
          <a:noFill/>
        </p:spPr>
        <p:txBody>
          <a:bodyPr wrap="square" anchor="t" lIns="0" rIns="0" tIns="0" bIns="0">
            <a:spAutoFit/>
          </a:bodyPr>
          <a:lstStyle/>
          <a:p>
            <a:pPr algn="l">
              <a:spcAft>
                <a:spcPts val="400"/>
              </a:spcAft>
            </a:pPr>
            <a:r>
              <a:rPr sz="1400" b="1">
                <a:solidFill>
                  <a:srgbClr val="434343"/>
                </a:solidFill>
                <a:latin typeface="DM Sans"/>
              </a:rPr>
              <a:t>¿Y si filtro por categoría?</a:t>
            </a:r>
          </a:p>
        </p:txBody>
      </p:sp>
      <p:sp>
        <p:nvSpPr>
          <p:cNvPr id="121" name="TextBox 120"/>
          <p:cNvSpPr txBox="1"/>
          <p:nvPr/>
        </p:nvSpPr>
        <p:spPr>
          <a:xfrm>
            <a:off x="4754880" y="1764792"/>
            <a:ext cx="3566160" cy="274320"/>
          </a:xfrm>
          <a:prstGeom prst="rect">
            <a:avLst/>
          </a:prstGeom>
          <a:noFill/>
        </p:spPr>
        <p:txBody>
          <a:bodyPr wrap="square" anchor="t" lIns="0" rIns="0" tIns="0" bIns="0">
            <a:spAutoFit/>
          </a:bodyPr>
          <a:lstStyle/>
          <a:p>
            <a:pPr algn="l">
              <a:spcAft>
                <a:spcPts val="400"/>
              </a:spcAft>
            </a:pPr>
            <a:r>
              <a:rPr sz="1200" b="0">
                <a:solidFill>
                  <a:srgbClr val="6B6B80"/>
                </a:solidFill>
                <a:latin typeface="DM Sans"/>
              </a:rPr>
              <a:t>Solo resultados de una etiqueta</a:t>
            </a:r>
          </a:p>
        </p:txBody>
      </p:sp>
      <p:sp>
        <p:nvSpPr>
          <p:cNvPr id="122" name="Rounded Rectangle 121"/>
          <p:cNvSpPr/>
          <p:nvPr/>
        </p:nvSpPr>
        <p:spPr>
          <a:xfrm>
            <a:off x="777240" y="2139696"/>
            <a:ext cx="7589520" cy="402336"/>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60120" y="2194560"/>
            <a:ext cx="365760" cy="274320"/>
          </a:xfrm>
          <a:prstGeom prst="rect">
            <a:avLst/>
          </a:prstGeom>
          <a:noFill/>
        </p:spPr>
        <p:txBody>
          <a:bodyPr wrap="square" anchor="t" lIns="0" rIns="0" tIns="0" bIns="0">
            <a:spAutoFit/>
          </a:bodyPr>
          <a:lstStyle/>
          <a:p>
            <a:pPr algn="l">
              <a:spcAft>
                <a:spcPts val="400"/>
              </a:spcAft>
            </a:pPr>
            <a:r>
              <a:rPr sz="1600" b="1">
                <a:solidFill>
                  <a:srgbClr val="A433F3"/>
                </a:solidFill>
                <a:latin typeface="DM Sans ExtraBold"/>
              </a:rPr>
              <a:t>3</a:t>
            </a:r>
          </a:p>
        </p:txBody>
      </p:sp>
      <p:sp>
        <p:nvSpPr>
          <p:cNvPr id="124" name="TextBox 123"/>
          <p:cNvSpPr txBox="1"/>
          <p:nvPr/>
        </p:nvSpPr>
        <p:spPr>
          <a:xfrm>
            <a:off x="1371600" y="2221991"/>
            <a:ext cx="3291840" cy="274320"/>
          </a:xfrm>
          <a:prstGeom prst="rect">
            <a:avLst/>
          </a:prstGeom>
          <a:noFill/>
        </p:spPr>
        <p:txBody>
          <a:bodyPr wrap="square" anchor="t" lIns="0" rIns="0" tIns="0" bIns="0">
            <a:spAutoFit/>
          </a:bodyPr>
          <a:lstStyle/>
          <a:p>
            <a:pPr algn="l">
              <a:spcAft>
                <a:spcPts val="400"/>
              </a:spcAft>
            </a:pPr>
            <a:r>
              <a:rPr sz="1400" b="1">
                <a:solidFill>
                  <a:srgbClr val="434343"/>
                </a:solidFill>
                <a:latin typeface="DM Sans"/>
              </a:rPr>
              <a:t>¿Y si necesito datos de otra tabla?</a:t>
            </a:r>
          </a:p>
        </p:txBody>
      </p:sp>
      <p:sp>
        <p:nvSpPr>
          <p:cNvPr id="125" name="TextBox 124"/>
          <p:cNvSpPr txBox="1"/>
          <p:nvPr/>
        </p:nvSpPr>
        <p:spPr>
          <a:xfrm>
            <a:off x="4754880" y="2240279"/>
            <a:ext cx="3566160" cy="274320"/>
          </a:xfrm>
          <a:prstGeom prst="rect">
            <a:avLst/>
          </a:prstGeom>
          <a:noFill/>
        </p:spPr>
        <p:txBody>
          <a:bodyPr wrap="square" anchor="t" lIns="0" rIns="0" tIns="0" bIns="0">
            <a:spAutoFit/>
          </a:bodyPr>
          <a:lstStyle/>
          <a:p>
            <a:pPr algn="l">
              <a:spcAft>
                <a:spcPts val="400"/>
              </a:spcAft>
            </a:pPr>
            <a:r>
              <a:rPr sz="1200" b="0">
                <a:solidFill>
                  <a:srgbClr val="6B6B80"/>
                </a:solidFill>
                <a:latin typeface="DM Sans"/>
              </a:rPr>
              <a:t>Título y puntaje de la pregunta original</a:t>
            </a:r>
          </a:p>
        </p:txBody>
      </p:sp>
      <p:sp>
        <p:nvSpPr>
          <p:cNvPr id="126" name="Rounded Rectangle 125"/>
          <p:cNvSpPr/>
          <p:nvPr/>
        </p:nvSpPr>
        <p:spPr>
          <a:xfrm>
            <a:off x="777240" y="2615184"/>
            <a:ext cx="7589520" cy="402336"/>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0120" y="2670048"/>
            <a:ext cx="365760" cy="274320"/>
          </a:xfrm>
          <a:prstGeom prst="rect">
            <a:avLst/>
          </a:prstGeom>
          <a:noFill/>
        </p:spPr>
        <p:txBody>
          <a:bodyPr wrap="square" anchor="t" lIns="0" rIns="0" tIns="0" bIns="0">
            <a:spAutoFit/>
          </a:bodyPr>
          <a:lstStyle/>
          <a:p>
            <a:pPr algn="l">
              <a:spcAft>
                <a:spcPts val="400"/>
              </a:spcAft>
            </a:pPr>
            <a:r>
              <a:rPr sz="1600" b="1">
                <a:solidFill>
                  <a:srgbClr val="A433F3"/>
                </a:solidFill>
                <a:latin typeface="DM Sans ExtraBold"/>
              </a:rPr>
              <a:t>4</a:t>
            </a:r>
          </a:p>
        </p:txBody>
      </p:sp>
      <p:sp>
        <p:nvSpPr>
          <p:cNvPr id="128" name="TextBox 127"/>
          <p:cNvSpPr txBox="1"/>
          <p:nvPr/>
        </p:nvSpPr>
        <p:spPr>
          <a:xfrm>
            <a:off x="1371600" y="2697480"/>
            <a:ext cx="3291840" cy="274320"/>
          </a:xfrm>
          <a:prstGeom prst="rect">
            <a:avLst/>
          </a:prstGeom>
          <a:noFill/>
        </p:spPr>
        <p:txBody>
          <a:bodyPr wrap="square" anchor="t" lIns="0" rIns="0" tIns="0" bIns="0">
            <a:spAutoFit/>
          </a:bodyPr>
          <a:lstStyle/>
          <a:p>
            <a:pPr algn="l">
              <a:spcAft>
                <a:spcPts val="400"/>
              </a:spcAft>
            </a:pPr>
            <a:r>
              <a:rPr sz="1400" b="1">
                <a:solidFill>
                  <a:srgbClr val="434343"/>
                </a:solidFill>
                <a:latin typeface="DM Sans"/>
              </a:rPr>
              <a:t>¿Qué pasa después de una pausa?</a:t>
            </a:r>
          </a:p>
        </p:txBody>
      </p:sp>
      <p:sp>
        <p:nvSpPr>
          <p:cNvPr id="129" name="TextBox 128"/>
          <p:cNvSpPr txBox="1"/>
          <p:nvPr/>
        </p:nvSpPr>
        <p:spPr>
          <a:xfrm>
            <a:off x="4754880" y="2715768"/>
            <a:ext cx="3566160" cy="274320"/>
          </a:xfrm>
          <a:prstGeom prst="rect">
            <a:avLst/>
          </a:prstGeom>
          <a:noFill/>
        </p:spPr>
        <p:txBody>
          <a:bodyPr wrap="square" anchor="t" lIns="0" rIns="0" tIns="0" bIns="0">
            <a:spAutoFit/>
          </a:bodyPr>
          <a:lstStyle/>
          <a:p>
            <a:pPr algn="l">
              <a:spcAft>
                <a:spcPts val="400"/>
              </a:spcAft>
            </a:pPr>
            <a:r>
              <a:rPr sz="1200" b="0">
                <a:solidFill>
                  <a:srgbClr val="6B6B80"/>
                </a:solidFill>
                <a:latin typeface="DM Sans"/>
              </a:rPr>
              <a:t>La primera consulta tras 16 minutos sin uso</a:t>
            </a:r>
          </a:p>
        </p:txBody>
      </p:sp>
      <p:sp>
        <p:nvSpPr>
          <p:cNvPr id="130" name="Rounded Rectangle 129"/>
          <p:cNvSpPr/>
          <p:nvPr/>
        </p:nvSpPr>
        <p:spPr>
          <a:xfrm>
            <a:off x="777240" y="3090672"/>
            <a:ext cx="7589520" cy="402336"/>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60120" y="3145536"/>
            <a:ext cx="365760" cy="274320"/>
          </a:xfrm>
          <a:prstGeom prst="rect">
            <a:avLst/>
          </a:prstGeom>
          <a:noFill/>
        </p:spPr>
        <p:txBody>
          <a:bodyPr wrap="square" anchor="t" lIns="0" rIns="0" tIns="0" bIns="0">
            <a:spAutoFit/>
          </a:bodyPr>
          <a:lstStyle/>
          <a:p>
            <a:pPr algn="l">
              <a:spcAft>
                <a:spcPts val="400"/>
              </a:spcAft>
            </a:pPr>
            <a:r>
              <a:rPr sz="1600" b="1">
                <a:solidFill>
                  <a:srgbClr val="A433F3"/>
                </a:solidFill>
                <a:latin typeface="DM Sans ExtraBold"/>
              </a:rPr>
              <a:t>5</a:t>
            </a:r>
          </a:p>
        </p:txBody>
      </p:sp>
      <p:sp>
        <p:nvSpPr>
          <p:cNvPr id="132" name="TextBox 131"/>
          <p:cNvSpPr txBox="1"/>
          <p:nvPr/>
        </p:nvSpPr>
        <p:spPr>
          <a:xfrm>
            <a:off x="1371600" y="3172968"/>
            <a:ext cx="3291840" cy="274320"/>
          </a:xfrm>
          <a:prstGeom prst="rect">
            <a:avLst/>
          </a:prstGeom>
          <a:noFill/>
        </p:spPr>
        <p:txBody>
          <a:bodyPr wrap="square" anchor="t" lIns="0" rIns="0" tIns="0" bIns="0">
            <a:spAutoFit/>
          </a:bodyPr>
          <a:lstStyle/>
          <a:p>
            <a:pPr algn="l">
              <a:spcAft>
                <a:spcPts val="400"/>
              </a:spcAft>
            </a:pPr>
            <a:r>
              <a:rPr sz="1400" b="1">
                <a:solidFill>
                  <a:srgbClr val="434343"/>
                </a:solidFill>
                <a:latin typeface="DM Sans"/>
              </a:rPr>
              <a:t>¿Cuánto cuesta?</a:t>
            </a:r>
          </a:p>
        </p:txBody>
      </p:sp>
      <p:sp>
        <p:nvSpPr>
          <p:cNvPr id="133" name="TextBox 132"/>
          <p:cNvSpPr txBox="1"/>
          <p:nvPr/>
        </p:nvSpPr>
        <p:spPr>
          <a:xfrm>
            <a:off x="4754880" y="3191256"/>
            <a:ext cx="3566160" cy="274320"/>
          </a:xfrm>
          <a:prstGeom prst="rect">
            <a:avLst/>
          </a:prstGeom>
          <a:noFill/>
        </p:spPr>
        <p:txBody>
          <a:bodyPr wrap="square" anchor="t" lIns="0" rIns="0" tIns="0" bIns="0">
            <a:spAutoFit/>
          </a:bodyPr>
          <a:lstStyle/>
          <a:p>
            <a:pPr algn="l">
              <a:spcAft>
                <a:spcPts val="400"/>
              </a:spcAft>
            </a:pPr>
            <a:r>
              <a:rPr sz="1200" b="0">
                <a:solidFill>
                  <a:srgbClr val="6B6B80"/>
                </a:solidFill>
                <a:latin typeface="DM Sans"/>
              </a:rPr>
              <a:t>Por búsqueda y por mes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¿Cuál responde más rápido?</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188720"/>
            <a:ext cx="402336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2" name="Chart 131"/>
          <p:cNvGraphicFramePr>
            <a:graphicFrameLocks noGrp="1"/>
          </p:cNvGraphicFramePr>
          <p:nvPr/>
        </p:nvGraphicFramePr>
        <p:xfrm>
          <a:off x="731520" y="1234440"/>
          <a:ext cx="3840480" cy="2514600"/>
        </p:xfrm>
        <a:graphic>
          <a:graphicData uri="http://schemas.openxmlformats.org/drawingml/2006/chart">
            <c:chart r:id="rId2"/>
          </a:graphicData>
        </a:graphic>
      </p:graphicFrame>
      <p:sp>
        <p:nvSpPr>
          <p:cNvPr id="133" name="Rounded Rectangle 132"/>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983480" y="1298448"/>
            <a:ext cx="3291840" cy="2423160"/>
          </a:xfrm>
          <a:prstGeom prst="rect">
            <a:avLst/>
          </a:prstGeom>
          <a:noFill/>
        </p:spPr>
        <p:txBody>
          <a:bodyPr wrap="square" anchor="t" lIns="0" rIns="0" tIns="0" bIns="0">
            <a:spAutoFit/>
          </a:bodyPr>
          <a:lstStyle/>
          <a:p>
            <a:pPr algn="l">
              <a:spcAft>
                <a:spcPts val="800"/>
              </a:spcAft>
            </a:pPr>
            <a:r>
              <a:rPr sz="1700" b="1">
                <a:solidFill>
                  <a:srgbClr val="A433F3"/>
                </a:solidFill>
                <a:latin typeface="DM Sans"/>
              </a:rPr>
              <a:t>Aurora responde en 1,3 ms</a:t>
            </a:r>
          </a:p>
          <a:p>
            <a:pPr algn="l">
              <a:spcAft>
                <a:spcPts val="800"/>
              </a:spcAft>
            </a:pPr>
            <a:r>
              <a:rPr sz="1300" b="1">
                <a:solidFill>
                  <a:srgbClr val="3D5AFE"/>
                </a:solidFill>
                <a:latin typeface="DM Sans"/>
              </a:rPr>
              <a:t>DynamoDB</a:t>
            </a:r>
            <a:r>
              <a:rPr sz="1300" b="0">
                <a:solidFill>
                  <a:srgbClr val="434343"/>
                </a:solidFill>
                <a:latin typeface="DM Sans"/>
              </a:rPr>
              <a:t>: 12,7 ms, y 14,6 en p95</a:t>
            </a:r>
          </a:p>
          <a:p>
            <a:pPr algn="l">
              <a:spcAft>
                <a:spcPts val="800"/>
              </a:spcAft>
            </a:pPr>
            <a:r>
              <a:rPr sz="1300" b="1">
                <a:solidFill>
                  <a:srgbClr val="0E9F9A"/>
                </a:solidFill>
                <a:latin typeface="DM Sans"/>
              </a:rPr>
              <a:t>OpenSearch</a:t>
            </a:r>
            <a:r>
              <a:rPr sz="1300" b="0">
                <a:solidFill>
                  <a:srgbClr val="434343"/>
                </a:solidFill>
                <a:latin typeface="DM Sans"/>
              </a:rPr>
              <a:t>: 29,9 ms</a:t>
            </a:r>
          </a:p>
          <a:p>
            <a:pPr algn="l">
              <a:spcAft>
                <a:spcPts val="800"/>
              </a:spcAft>
            </a:pPr>
            <a:r>
              <a:rPr sz="1300" b="1">
                <a:solidFill>
                  <a:srgbClr val="E8590C"/>
                </a:solidFill>
                <a:latin typeface="DM Sans"/>
              </a:rPr>
              <a:t>S3 Vectors</a:t>
            </a:r>
            <a:r>
              <a:rPr sz="1300" b="0">
                <a:solidFill>
                  <a:srgbClr val="434343"/>
                </a:solidFill>
                <a:latin typeface="DM Sans"/>
              </a:rPr>
              <a:t>: 62,3 ms, bajo los 100 ms que promete</a:t>
            </a:r>
          </a:p>
          <a:p>
            <a:pPr algn="l">
              <a:spcAft>
                <a:spcPts val="800"/>
              </a:spcAft>
            </a:pPr>
            <a:r>
              <a:rPr sz="1100" b="0">
                <a:solidFill>
                  <a:srgbClr val="6B6B80"/>
                </a:solidFill>
                <a:latin typeface="DM Sans"/>
              </a:rPr>
              <a:t>Con la base ya encendida y la caché lista</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¿Y encuentra lo correcto?</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188720"/>
            <a:ext cx="402336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2" name="Chart 131"/>
          <p:cNvGraphicFramePr>
            <a:graphicFrameLocks noGrp="1"/>
          </p:cNvGraphicFramePr>
          <p:nvPr/>
        </p:nvGraphicFramePr>
        <p:xfrm>
          <a:off x="731520" y="1234440"/>
          <a:ext cx="3840480" cy="2514600"/>
        </p:xfrm>
        <a:graphic>
          <a:graphicData uri="http://schemas.openxmlformats.org/drawingml/2006/chart">
            <c:chart r:id="rId2"/>
          </a:graphicData>
        </a:graphic>
      </p:graphicFrame>
      <p:sp>
        <p:nvSpPr>
          <p:cNvPr id="133" name="Rounded Rectangle 132"/>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983480" y="1298448"/>
            <a:ext cx="3291840" cy="2423160"/>
          </a:xfrm>
          <a:prstGeom prst="rect">
            <a:avLst/>
          </a:prstGeom>
          <a:noFill/>
        </p:spPr>
        <p:txBody>
          <a:bodyPr wrap="square" anchor="t" lIns="0" rIns="0" tIns="0" bIns="0">
            <a:spAutoFit/>
          </a:bodyPr>
          <a:lstStyle/>
          <a:p>
            <a:pPr algn="l">
              <a:spcAft>
                <a:spcPts val="800"/>
              </a:spcAft>
            </a:pPr>
            <a:r>
              <a:rPr sz="1700" b="1">
                <a:solidFill>
                  <a:srgbClr val="A433F3"/>
                </a:solidFill>
                <a:latin typeface="DM Sans"/>
              </a:rPr>
              <a:t>Rápido no basta: también tiene que encontrar</a:t>
            </a:r>
          </a:p>
          <a:p>
            <a:pPr algn="l">
              <a:spcAft>
                <a:spcPts val="800"/>
              </a:spcAft>
            </a:pPr>
            <a:r>
              <a:rPr sz="1300" b="1">
                <a:solidFill>
                  <a:srgbClr val="434343"/>
                </a:solidFill>
                <a:latin typeface="DM Sans"/>
              </a:rPr>
              <a:t>Aurora</a:t>
            </a:r>
            <a:r>
              <a:rPr sz="1300" b="0">
                <a:solidFill>
                  <a:srgbClr val="434343"/>
                </a:solidFill>
                <a:latin typeface="DM Sans"/>
              </a:rPr>
              <a:t>, como viene: 92,7%</a:t>
            </a:r>
          </a:p>
          <a:p>
            <a:pPr algn="l">
              <a:spcAft>
                <a:spcPts val="800"/>
              </a:spcAft>
            </a:pPr>
            <a:r>
              <a:rPr sz="1300" b="1">
                <a:solidFill>
                  <a:srgbClr val="434343"/>
                </a:solidFill>
                <a:latin typeface="DM Sans"/>
              </a:rPr>
              <a:t>Subiendo un parámetro (ef_search)</a:t>
            </a:r>
            <a:r>
              <a:rPr sz="1300" b="0">
                <a:solidFill>
                  <a:srgbClr val="434343"/>
                </a:solidFill>
                <a:latin typeface="DM Sans"/>
              </a:rPr>
              <a:t>: 98,6%, y pasa de 1,3 a 3,2 ms</a:t>
            </a:r>
          </a:p>
          <a:p>
            <a:pPr algn="l">
              <a:spcAft>
                <a:spcPts val="800"/>
              </a:spcAft>
            </a:pPr>
            <a:r>
              <a:rPr sz="1300" b="1">
                <a:solidFill>
                  <a:srgbClr val="434343"/>
                </a:solidFill>
                <a:latin typeface="DM Sans"/>
              </a:rPr>
              <a:t>DynamoDB</a:t>
            </a:r>
            <a:r>
              <a:rPr sz="1300" b="0">
                <a:solidFill>
                  <a:srgbClr val="434343"/>
                </a:solidFill>
                <a:latin typeface="DM Sans"/>
              </a:rPr>
              <a:t>: 99,6% sin tocar nada</a:t>
            </a:r>
          </a:p>
          <a:p>
            <a:pPr algn="l">
              <a:spcAft>
                <a:spcPts val="800"/>
              </a:spcAft>
            </a:pPr>
            <a:r>
              <a:rPr sz="1300" b="1">
                <a:solidFill>
                  <a:srgbClr val="A433F3"/>
                </a:solidFill>
                <a:latin typeface="DM Sans"/>
              </a:rPr>
              <a:t>Compara tiempos con el mismo nivel de acierto</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¿Y si filtro por categoría?</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188720"/>
            <a:ext cx="402336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2" name="Chart 131"/>
          <p:cNvGraphicFramePr>
            <a:graphicFrameLocks noGrp="1"/>
          </p:cNvGraphicFramePr>
          <p:nvPr/>
        </p:nvGraphicFramePr>
        <p:xfrm>
          <a:off x="731520" y="1234440"/>
          <a:ext cx="3840480" cy="2514600"/>
        </p:xfrm>
        <a:graphic>
          <a:graphicData uri="http://schemas.openxmlformats.org/drawingml/2006/chart">
            <c:chart r:id="rId2"/>
          </a:graphicData>
        </a:graphic>
      </p:graphicFrame>
      <p:sp>
        <p:nvSpPr>
          <p:cNvPr id="133" name="Rounded Rectangle 132"/>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983480" y="1298448"/>
            <a:ext cx="3291840" cy="2423160"/>
          </a:xfrm>
          <a:prstGeom prst="rect">
            <a:avLst/>
          </a:prstGeom>
          <a:noFill/>
        </p:spPr>
        <p:txBody>
          <a:bodyPr wrap="square" anchor="t" lIns="0" rIns="0" tIns="0" bIns="0">
            <a:spAutoFit/>
          </a:bodyPr>
          <a:lstStyle/>
          <a:p>
            <a:pPr algn="l">
              <a:spcAft>
                <a:spcPts val="700"/>
              </a:spcAft>
            </a:pPr>
            <a:r>
              <a:rPr sz="1700" b="1">
                <a:solidFill>
                  <a:srgbClr val="A433F3"/>
                </a:solidFill>
                <a:latin typeface="DM Sans"/>
              </a:rPr>
              <a:t>Con filtro, cambia quién gana</a:t>
            </a:r>
          </a:p>
          <a:p>
            <a:pPr algn="l">
              <a:spcAft>
                <a:spcPts val="700"/>
              </a:spcAft>
            </a:pPr>
            <a:r>
              <a:rPr sz="1300" b="0">
                <a:solidFill>
                  <a:srgbClr val="434343"/>
                </a:solidFill>
                <a:latin typeface="DM Sans"/>
              </a:rPr>
              <a:t>Ejemplo: los 10 más cercanos, pero solo con la etiqueta javascript</a:t>
            </a:r>
          </a:p>
          <a:p>
            <a:pPr algn="l">
              <a:spcAft>
                <a:spcPts val="700"/>
              </a:spcAft>
            </a:pPr>
            <a:r>
              <a:rPr sz="1300" b="1">
                <a:solidFill>
                  <a:srgbClr val="434343"/>
                </a:solidFill>
                <a:latin typeface="DM Sans"/>
              </a:rPr>
              <a:t>OpenSearch</a:t>
            </a:r>
            <a:r>
              <a:rPr sz="1300" b="0">
                <a:solidFill>
                  <a:srgbClr val="434343"/>
                </a:solidFill>
                <a:latin typeface="DM Sans"/>
              </a:rPr>
              <a:t>: 99,96% de acierto en 30,9 ms</a:t>
            </a:r>
          </a:p>
          <a:p>
            <a:pPr algn="l">
              <a:spcAft>
                <a:spcPts val="700"/>
              </a:spcAft>
            </a:pPr>
            <a:r>
              <a:rPr sz="1300" b="1">
                <a:solidFill>
                  <a:srgbClr val="434343"/>
                </a:solidFill>
                <a:latin typeface="DM Sans"/>
              </a:rPr>
              <a:t>DynamoDB</a:t>
            </a:r>
            <a:r>
              <a:rPr sz="1300" b="0">
                <a:solidFill>
                  <a:srgbClr val="434343"/>
                </a:solidFill>
                <a:latin typeface="DM Sans"/>
              </a:rPr>
              <a:t>: el más rápido (24,2 ms), pero acierta 89,9%</a:t>
            </a:r>
          </a:p>
          <a:p>
            <a:pPr algn="l">
              <a:spcAft>
                <a:spcPts val="700"/>
              </a:spcAft>
            </a:pPr>
            <a:r>
              <a:rPr sz="1300" b="1">
                <a:solidFill>
                  <a:srgbClr val="434343"/>
                </a:solidFill>
                <a:latin typeface="DM Sans"/>
              </a:rPr>
              <a:t>Aurora</a:t>
            </a:r>
            <a:r>
              <a:rPr sz="1300" b="0">
                <a:solidFill>
                  <a:srgbClr val="434343"/>
                </a:solidFill>
                <a:latin typeface="DM Sans"/>
              </a:rPr>
              <a:t>: acierta 100%, pero pasa de 1,3 a 46,1 ms</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¿Por qué Aurora se volvió lenta?</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234440"/>
            <a:ext cx="3108960" cy="251460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60120" y="1344168"/>
            <a:ext cx="2743200" cy="2331720"/>
          </a:xfrm>
          <a:prstGeom prst="rect">
            <a:avLst/>
          </a:prstGeom>
          <a:noFill/>
        </p:spPr>
        <p:txBody>
          <a:bodyPr wrap="square" anchor="t" lIns="0" rIns="0" tIns="0" bIns="0">
            <a:spAutoFit/>
          </a:bodyPr>
          <a:lstStyle/>
          <a:p>
            <a:pPr algn="l">
              <a:spcAft>
                <a:spcPts val="700"/>
              </a:spcAft>
            </a:pPr>
            <a:r>
              <a:rPr sz="1400" b="1">
                <a:solidFill>
                  <a:srgbClr val="A433F3"/>
                </a:solidFill>
                <a:latin typeface="DM Sans"/>
              </a:rPr>
              <a:t>Sin filtro</a:t>
            </a:r>
          </a:p>
          <a:p>
            <a:pPr algn="l">
              <a:spcAft>
                <a:spcPts val="700"/>
              </a:spcAft>
            </a:pPr>
            <a:r>
              <a:rPr sz="1200" b="0">
                <a:solidFill>
                  <a:srgbClr val="434343"/>
                </a:solidFill>
                <a:latin typeface="DM Sans"/>
              </a:rPr>
              <a:t>Postgres usa el índice vectorial: menos de 2 ms</a:t>
            </a:r>
          </a:p>
          <a:p>
            <a:pPr algn="l">
              <a:spcAft>
                <a:spcPts val="700"/>
              </a:spcAft>
            </a:pPr>
            <a:r>
              <a:rPr sz="1400" b="1">
                <a:solidFill>
                  <a:srgbClr val="D054FC"/>
                </a:solidFill>
                <a:latin typeface="DM Sans"/>
              </a:rPr>
              <a:t>Con filtro</a:t>
            </a:r>
          </a:p>
          <a:p>
            <a:pPr algn="l">
              <a:spcAft>
                <a:spcPts val="700"/>
              </a:spcAft>
            </a:pPr>
            <a:r>
              <a:rPr sz="1200" b="0">
                <a:solidFill>
                  <a:srgbClr val="434343"/>
                </a:solidFill>
                <a:latin typeface="DM Sans"/>
              </a:rPr>
              <a:t>Postgres prefiere el índice normal de la etiqueta y compara una por una todas las filas que pasan</a:t>
            </a:r>
          </a:p>
          <a:p>
            <a:pPr algn="l">
              <a:spcAft>
                <a:spcPts val="700"/>
              </a:spcAft>
            </a:pPr>
            <a:r>
              <a:rPr sz="1200" b="1">
                <a:solidFill>
                  <a:srgbClr val="A433F3"/>
                </a:solidFill>
                <a:latin typeface="DM Sans"/>
              </a:rPr>
              <a:t>Acierta todo, pero tarda según cuántas filas pasen</a:t>
            </a:r>
          </a:p>
        </p:txBody>
      </p:sp>
      <p:graphicFrame>
        <p:nvGraphicFramePr>
          <p:cNvPr id="116" name="Table 115"/>
          <p:cNvGraphicFramePr>
            <a:graphicFrameLocks noGrp="1"/>
          </p:cNvGraphicFramePr>
          <p:nvPr/>
        </p:nvGraphicFramePr>
        <p:xfrm>
          <a:off x="4114800" y="1234440"/>
          <a:ext cx="4251960" cy="1645920"/>
        </p:xfrm>
        <a:graphic>
          <a:graphicData uri="http://schemas.openxmlformats.org/drawingml/2006/table">
            <a:tbl>
              <a:tblPr firstRow="1" bandRow="1">
                <a:tableStyleId>{5C22544A-7EE6-4342-B048-85BDC9FD1C3A}</a:tableStyleId>
              </a:tblPr>
              <a:tblGrid>
                <a:gridCol w="1325880"/>
                <a:gridCol w="1737360"/>
                <a:gridCol w="1188720"/>
              </a:tblGrid>
              <a:tr h="411480">
                <a:tc>
                  <a:txBody>
                    <a:bodyPr wrap="square"/>
                    <a:lstStyle/>
                    <a:p>
                      <a:pPr algn="l"/>
                      <a:r>
                        <a:rPr sz="1300" b="1">
                          <a:solidFill>
                            <a:srgbClr val="FFFFFF"/>
                          </a:solidFill>
                          <a:latin typeface="DM Sans"/>
                        </a:rPr>
                        <a:t>Etiqueta</a:t>
                      </a:r>
                    </a:p>
                  </a:txBody>
                  <a:tcPr marL="73152" marR="73152" marT="27432" marB="27432" anchor="ctr">
                    <a:solidFill>
                      <a:srgbClr val="A433F3"/>
                    </a:solidFill>
                  </a:tcPr>
                </a:tc>
                <a:tc>
                  <a:txBody>
                    <a:bodyPr wrap="square"/>
                    <a:lstStyle/>
                    <a:p>
                      <a:pPr algn="ctr"/>
                      <a:r>
                        <a:rPr sz="1300" b="1">
                          <a:solidFill>
                            <a:srgbClr val="FFFFFF"/>
                          </a:solidFill>
                          <a:latin typeface="DM Sans"/>
                        </a:rPr>
                        <a:t>Filas que pasan</a:t>
                      </a:r>
                    </a:p>
                  </a:txBody>
                  <a:tcPr marL="73152" marR="73152" marT="27432" marB="27432" anchor="ctr">
                    <a:solidFill>
                      <a:srgbClr val="A433F3"/>
                    </a:solidFill>
                  </a:tcPr>
                </a:tc>
                <a:tc>
                  <a:txBody>
                    <a:bodyPr wrap="square"/>
                    <a:lstStyle/>
                    <a:p>
                      <a:pPr algn="ctr"/>
                      <a:r>
                        <a:rPr sz="1300" b="1">
                          <a:solidFill>
                            <a:srgbClr val="FFFFFF"/>
                          </a:solidFill>
                          <a:latin typeface="DM Sans"/>
                        </a:rPr>
                        <a:t>Tiempo</a:t>
                      </a:r>
                    </a:p>
                  </a:txBody>
                  <a:tcPr marL="73152" marR="73152" marT="27432" marB="27432" anchor="ctr">
                    <a:solidFill>
                      <a:srgbClr val="A433F3"/>
                    </a:solidFill>
                  </a:tcPr>
                </a:tc>
              </a:tr>
              <a:tr h="411480">
                <a:tc>
                  <a:txBody>
                    <a:bodyPr wrap="square"/>
                    <a:lstStyle/>
                    <a:p>
                      <a:pPr algn="l"/>
                      <a:r>
                        <a:rPr sz="1300" b="1">
                          <a:solidFill>
                            <a:srgbClr val="434343"/>
                          </a:solidFill>
                          <a:latin typeface="DM Sans"/>
                        </a:rPr>
                        <a:t>javascript</a:t>
                      </a:r>
                    </a:p>
                  </a:txBody>
                  <a:tcPr marL="73152" marR="73152" marT="27432" marB="27432" anchor="ctr">
                    <a:solidFill>
                      <a:srgbClr val="FFFFFF"/>
                    </a:solidFill>
                  </a:tcPr>
                </a:tc>
                <a:tc>
                  <a:txBody>
                    <a:bodyPr wrap="square"/>
                    <a:lstStyle/>
                    <a:p>
                      <a:pPr algn="ctr"/>
                      <a:r>
                        <a:rPr sz="1300" b="0">
                          <a:solidFill>
                            <a:srgbClr val="434343"/>
                          </a:solidFill>
                          <a:latin typeface="DM Sans"/>
                        </a:rPr>
                        <a:t>18.064</a:t>
                      </a:r>
                    </a:p>
                  </a:txBody>
                  <a:tcPr marL="73152" marR="73152" marT="27432" marB="27432" anchor="ctr">
                    <a:solidFill>
                      <a:srgbClr val="FFFFFF"/>
                    </a:solidFill>
                  </a:tcPr>
                </a:tc>
                <a:tc>
                  <a:txBody>
                    <a:bodyPr wrap="square"/>
                    <a:lstStyle/>
                    <a:p>
                      <a:pPr algn="ctr"/>
                      <a:r>
                        <a:rPr sz="1300" b="1">
                          <a:solidFill>
                            <a:srgbClr val="D054FC"/>
                          </a:solidFill>
                          <a:latin typeface="DM Sans"/>
                        </a:rPr>
                        <a:t>83,8 ms</a:t>
                      </a:r>
                    </a:p>
                  </a:txBody>
                  <a:tcPr marL="73152" marR="73152" marT="27432" marB="27432" anchor="ctr">
                    <a:solidFill>
                      <a:srgbClr val="FFFFFF"/>
                    </a:solidFill>
                  </a:tcPr>
                </a:tc>
              </a:tr>
              <a:tr h="411480">
                <a:tc>
                  <a:txBody>
                    <a:bodyPr wrap="square"/>
                    <a:lstStyle/>
                    <a:p>
                      <a:pPr algn="l"/>
                      <a:r>
                        <a:rPr sz="1300" b="1">
                          <a:solidFill>
                            <a:srgbClr val="434343"/>
                          </a:solidFill>
                          <a:latin typeface="DM Sans"/>
                        </a:rPr>
                        <a:t>r</a:t>
                      </a:r>
                    </a:p>
                  </a:txBody>
                  <a:tcPr marL="73152" marR="73152" marT="27432" marB="27432" anchor="ctr">
                    <a:solidFill>
                      <a:srgbClr val="F4F0FC"/>
                    </a:solidFill>
                  </a:tcPr>
                </a:tc>
                <a:tc>
                  <a:txBody>
                    <a:bodyPr wrap="square"/>
                    <a:lstStyle/>
                    <a:p>
                      <a:pPr algn="ctr"/>
                      <a:r>
                        <a:rPr sz="1300" b="0">
                          <a:solidFill>
                            <a:srgbClr val="434343"/>
                          </a:solidFill>
                          <a:latin typeface="DM Sans"/>
                        </a:rPr>
                        <a:t>1.206</a:t>
                      </a:r>
                    </a:p>
                  </a:txBody>
                  <a:tcPr marL="73152" marR="73152" marT="27432" marB="27432" anchor="ctr">
                    <a:solidFill>
                      <a:srgbClr val="F4F0FC"/>
                    </a:solidFill>
                  </a:tcPr>
                </a:tc>
                <a:tc>
                  <a:txBody>
                    <a:bodyPr wrap="square"/>
                    <a:lstStyle/>
                    <a:p>
                      <a:pPr algn="ctr"/>
                      <a:r>
                        <a:rPr sz="1300" b="0">
                          <a:solidFill>
                            <a:srgbClr val="434343"/>
                          </a:solidFill>
                          <a:latin typeface="DM Sans"/>
                        </a:rPr>
                        <a:t>7,3 ms</a:t>
                      </a:r>
                    </a:p>
                  </a:txBody>
                  <a:tcPr marL="73152" marR="73152" marT="27432" marB="27432" anchor="ctr">
                    <a:solidFill>
                      <a:srgbClr val="F4F0FC"/>
                    </a:solidFill>
                  </a:tcPr>
                </a:tc>
              </a:tr>
              <a:tr h="411480">
                <a:tc>
                  <a:txBody>
                    <a:bodyPr wrap="square"/>
                    <a:lstStyle/>
                    <a:p>
                      <a:pPr algn="l"/>
                      <a:r>
                        <a:rPr sz="1300" b="1">
                          <a:solidFill>
                            <a:srgbClr val="434343"/>
                          </a:solidFill>
                          <a:latin typeface="DM Sans"/>
                        </a:rPr>
                        <a:t>asp.net</a:t>
                      </a:r>
                    </a:p>
                  </a:txBody>
                  <a:tcPr marL="73152" marR="73152" marT="27432" marB="27432" anchor="ctr">
                    <a:solidFill>
                      <a:srgbClr val="FFFFFF"/>
                    </a:solidFill>
                  </a:tcPr>
                </a:tc>
                <a:tc>
                  <a:txBody>
                    <a:bodyPr wrap="square"/>
                    <a:lstStyle/>
                    <a:p>
                      <a:pPr algn="ctr"/>
                      <a:r>
                        <a:rPr sz="1300" b="0">
                          <a:solidFill>
                            <a:srgbClr val="434343"/>
                          </a:solidFill>
                          <a:latin typeface="DM Sans"/>
                        </a:rPr>
                        <a:t>250</a:t>
                      </a:r>
                    </a:p>
                  </a:txBody>
                  <a:tcPr marL="73152" marR="73152" marT="27432" marB="27432" anchor="ctr">
                    <a:solidFill>
                      <a:srgbClr val="FFFFFF"/>
                    </a:solidFill>
                  </a:tcPr>
                </a:tc>
                <a:tc>
                  <a:txBody>
                    <a:bodyPr wrap="square"/>
                    <a:lstStyle/>
                    <a:p>
                      <a:pPr algn="ctr"/>
                      <a:r>
                        <a:rPr sz="1300" b="0">
                          <a:solidFill>
                            <a:srgbClr val="434343"/>
                          </a:solidFill>
                          <a:latin typeface="DM Sans"/>
                        </a:rPr>
                        <a:t>1,5 ms</a:t>
                      </a:r>
                    </a:p>
                  </a:txBody>
                  <a:tcPr marL="73152" marR="73152" marT="27432" marB="27432" anchor="ctr">
                    <a:solidFill>
                      <a:srgbClr val="FFFFFF"/>
                    </a:solidFill>
                  </a:tcPr>
                </a:tc>
              </a:tr>
            </a:tbl>
          </a:graphicData>
        </a:graphic>
      </p:graphicFrame>
      <p:sp>
        <p:nvSpPr>
          <p:cNvPr id="117" name="TextBox 116"/>
          <p:cNvSpPr txBox="1"/>
          <p:nvPr/>
        </p:nvSpPr>
        <p:spPr>
          <a:xfrm>
            <a:off x="4114800" y="2971800"/>
            <a:ext cx="2468880" cy="731520"/>
          </a:xfrm>
          <a:prstGeom prst="rect">
            <a:avLst/>
          </a:prstGeom>
          <a:noFill/>
        </p:spPr>
        <p:txBody>
          <a:bodyPr wrap="square" anchor="t" lIns="0" rIns="0" tIns="0" bIns="0">
            <a:spAutoFit/>
          </a:bodyPr>
          <a:lstStyle/>
          <a:p>
            <a:pPr algn="l">
              <a:spcAft>
                <a:spcPts val="400"/>
              </a:spcAft>
            </a:pPr>
            <a:r>
              <a:rPr sz="1100" b="0">
                <a:solidFill>
                  <a:srgbClr val="6B6B80"/>
                </a:solidFill>
                <a:latin typeface="DM Sans"/>
              </a:rPr>
              <a:t>Yo creé ese índice en la etiqueta. Sin él, Postgres habría seguido otro camino que no medí.</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¿Y si necesito datos de otra tabla?</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234440"/>
            <a:ext cx="3291840" cy="25146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5840" y="1371600"/>
            <a:ext cx="2880360" cy="2331720"/>
          </a:xfrm>
          <a:prstGeom prst="rect">
            <a:avLst/>
          </a:prstGeom>
          <a:noFill/>
        </p:spPr>
        <p:txBody>
          <a:bodyPr wrap="square" anchor="t" lIns="0" rIns="0" tIns="0" bIns="0">
            <a:spAutoFit/>
          </a:bodyPr>
          <a:lstStyle/>
          <a:p>
            <a:pPr algn="l">
              <a:spcAft>
                <a:spcPts val="800"/>
              </a:spcAft>
            </a:pPr>
            <a:r>
              <a:rPr sz="1700" b="1">
                <a:solidFill>
                  <a:srgbClr val="A433F3"/>
                </a:solidFill>
                <a:latin typeface="DM Sans"/>
              </a:rPr>
              <a:t>Con un JOIN, Aurora casi no suma tiempo</a:t>
            </a:r>
          </a:p>
          <a:p>
            <a:pPr algn="l">
              <a:spcAft>
                <a:spcPts val="800"/>
              </a:spcAft>
            </a:pPr>
            <a:r>
              <a:rPr sz="1300" b="0">
                <a:solidFill>
                  <a:srgbClr val="434343"/>
                </a:solidFill>
                <a:latin typeface="DM Sans"/>
              </a:rPr>
              <a:t>Para cada resultado, traer el título y el puntaje de la pregunta original</a:t>
            </a:r>
          </a:p>
          <a:p>
            <a:pPr algn="l">
              <a:spcAft>
                <a:spcPts val="800"/>
              </a:spcAft>
            </a:pPr>
            <a:r>
              <a:rPr sz="1300" b="1">
                <a:solidFill>
                  <a:srgbClr val="434343"/>
                </a:solidFill>
                <a:latin typeface="DM Sans"/>
              </a:rPr>
              <a:t>Aurora</a:t>
            </a:r>
            <a:r>
              <a:rPr sz="1300" b="0">
                <a:solidFill>
                  <a:srgbClr val="434343"/>
                </a:solidFill>
                <a:latin typeface="DM Sans"/>
              </a:rPr>
              <a:t>: un solo SQL con JOIN, +0,2 ms</a:t>
            </a:r>
          </a:p>
          <a:p>
            <a:pPr algn="l">
              <a:spcAft>
                <a:spcPts val="800"/>
              </a:spcAft>
            </a:pPr>
            <a:r>
              <a:rPr sz="1300" b="1">
                <a:solidFill>
                  <a:srgbClr val="434343"/>
                </a:solidFill>
                <a:latin typeface="DM Sans"/>
              </a:rPr>
              <a:t>Las otras</a:t>
            </a:r>
            <a:r>
              <a:rPr sz="1300" b="0">
                <a:solidFill>
                  <a:srgbClr val="434343"/>
                </a:solidFill>
                <a:latin typeface="DM Sans"/>
              </a:rPr>
              <a:t>: buscar y después leer el título en otra tabla, ~5 ms más</a:t>
            </a:r>
          </a:p>
        </p:txBody>
      </p:sp>
      <p:sp>
        <p:nvSpPr>
          <p:cNvPr id="116" name="Rounded Rectangle 115"/>
          <p:cNvSpPr/>
          <p:nvPr/>
        </p:nvSpPr>
        <p:spPr>
          <a:xfrm>
            <a:off x="4251960" y="1188720"/>
            <a:ext cx="411480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7" name="Chart 116"/>
          <p:cNvGraphicFramePr>
            <a:graphicFrameLocks noGrp="1"/>
          </p:cNvGraphicFramePr>
          <p:nvPr/>
        </p:nvGraphicFramePr>
        <p:xfrm>
          <a:off x="4343400" y="1234440"/>
          <a:ext cx="3931920" cy="2514600"/>
        </p:xfrm>
        <a:graphic>
          <a:graphicData uri="http://schemas.openxmlformats.org/drawingml/2006/chart">
            <c:chart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¿Qué pasa después de una pausa?</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TextBox 113"/>
          <p:cNvSpPr txBox="1"/>
          <p:nvPr/>
        </p:nvSpPr>
        <p:spPr>
          <a:xfrm>
            <a:off x="777240" y="1143000"/>
            <a:ext cx="7589520" cy="274320"/>
          </a:xfrm>
          <a:prstGeom prst="rect">
            <a:avLst/>
          </a:prstGeom>
          <a:noFill/>
        </p:spPr>
        <p:txBody>
          <a:bodyPr wrap="square" anchor="t" lIns="0" rIns="0" tIns="0" bIns="0">
            <a:spAutoFit/>
          </a:bodyPr>
          <a:lstStyle/>
          <a:p>
            <a:pPr algn="l">
              <a:spcAft>
                <a:spcPts val="400"/>
              </a:spcAft>
            </a:pPr>
            <a:r>
              <a:rPr sz="1400" b="1">
                <a:solidFill>
                  <a:srgbClr val="A433F3"/>
                </a:solidFill>
                <a:latin typeface="DM Sans"/>
              </a:rPr>
              <a:t>La primera consulta después de 16 minutos sin uso</a:t>
            </a:r>
          </a:p>
        </p:txBody>
      </p:sp>
      <p:sp>
        <p:nvSpPr>
          <p:cNvPr id="115" name="Rounded Rectangle 114"/>
          <p:cNvSpPr/>
          <p:nvPr/>
        </p:nvSpPr>
        <p:spPr>
          <a:xfrm>
            <a:off x="777240" y="1508760"/>
            <a:ext cx="1737360" cy="160020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960120" y="1664208"/>
            <a:ext cx="201168" cy="201168"/>
          </a:xfrm>
          <a:prstGeom prst="ellipse">
            <a:avLst/>
          </a:prstGeom>
          <a:solidFill>
            <a:srgbClr val="0E9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60120" y="1965960"/>
            <a:ext cx="1463040" cy="640080"/>
          </a:xfrm>
          <a:prstGeom prst="rect">
            <a:avLst/>
          </a:prstGeom>
          <a:noFill/>
        </p:spPr>
        <p:txBody>
          <a:bodyPr wrap="square" anchor="t" lIns="0" rIns="0" tIns="0" bIns="0">
            <a:spAutoFit/>
          </a:bodyPr>
          <a:lstStyle/>
          <a:p>
            <a:pPr algn="l">
              <a:spcAft>
                <a:spcPts val="400"/>
              </a:spcAft>
            </a:pPr>
            <a:r>
              <a:rPr sz="3200" b="0">
                <a:solidFill>
                  <a:srgbClr val="D054FC"/>
                </a:solidFill>
                <a:latin typeface="DM Sans ExtraBold"/>
              </a:rPr>
              <a:t>23,2</a:t>
            </a:r>
            <a:r>
              <a:rPr sz="1400" b="0">
                <a:solidFill>
                  <a:srgbClr val="6B6B80"/>
                </a:solidFill>
                <a:latin typeface="DM Sans"/>
              </a:rPr>
              <a:t> s</a:t>
            </a:r>
          </a:p>
        </p:txBody>
      </p:sp>
      <p:sp>
        <p:nvSpPr>
          <p:cNvPr id="118" name="TextBox 117"/>
          <p:cNvSpPr txBox="1"/>
          <p:nvPr/>
        </p:nvSpPr>
        <p:spPr>
          <a:xfrm>
            <a:off x="960120" y="2697480"/>
            <a:ext cx="1463040" cy="36576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OpenSearch</a:t>
            </a:r>
          </a:p>
        </p:txBody>
      </p:sp>
      <p:sp>
        <p:nvSpPr>
          <p:cNvPr id="119" name="Rounded Rectangle 118"/>
          <p:cNvSpPr/>
          <p:nvPr/>
        </p:nvSpPr>
        <p:spPr>
          <a:xfrm>
            <a:off x="2697480" y="1508760"/>
            <a:ext cx="1737360" cy="160020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880360" y="1664208"/>
            <a:ext cx="201168" cy="201168"/>
          </a:xfrm>
          <a:prstGeom prst="ellipse">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80360" y="1965960"/>
            <a:ext cx="1463040" cy="640080"/>
          </a:xfrm>
          <a:prstGeom prst="rect">
            <a:avLst/>
          </a:prstGeom>
          <a:noFill/>
        </p:spPr>
        <p:txBody>
          <a:bodyPr wrap="square" anchor="t" lIns="0" rIns="0" tIns="0" bIns="0">
            <a:spAutoFit/>
          </a:bodyPr>
          <a:lstStyle/>
          <a:p>
            <a:pPr algn="l">
              <a:spcAft>
                <a:spcPts val="400"/>
              </a:spcAft>
            </a:pPr>
            <a:r>
              <a:rPr sz="3200" b="0">
                <a:solidFill>
                  <a:srgbClr val="D054FC"/>
                </a:solidFill>
                <a:latin typeface="DM Sans ExtraBold"/>
              </a:rPr>
              <a:t>14,0</a:t>
            </a:r>
            <a:r>
              <a:rPr sz="1400" b="0">
                <a:solidFill>
                  <a:srgbClr val="6B6B80"/>
                </a:solidFill>
                <a:latin typeface="DM Sans"/>
              </a:rPr>
              <a:t> s</a:t>
            </a:r>
          </a:p>
        </p:txBody>
      </p:sp>
      <p:sp>
        <p:nvSpPr>
          <p:cNvPr id="122" name="TextBox 121"/>
          <p:cNvSpPr txBox="1"/>
          <p:nvPr/>
        </p:nvSpPr>
        <p:spPr>
          <a:xfrm>
            <a:off x="2880360" y="2697480"/>
            <a:ext cx="1463040" cy="36576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Aurora</a:t>
            </a:r>
          </a:p>
        </p:txBody>
      </p:sp>
      <p:sp>
        <p:nvSpPr>
          <p:cNvPr id="123" name="Rounded Rectangle 122"/>
          <p:cNvSpPr/>
          <p:nvPr/>
        </p:nvSpPr>
        <p:spPr>
          <a:xfrm>
            <a:off x="4617720" y="1508760"/>
            <a:ext cx="1737360" cy="160020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4800600" y="1664208"/>
            <a:ext cx="201168" cy="201168"/>
          </a:xfrm>
          <a:prstGeom prst="ellipse">
            <a:avLst/>
          </a:prstGeom>
          <a:solidFill>
            <a:srgbClr val="3D5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800600" y="1965960"/>
            <a:ext cx="1463040" cy="640080"/>
          </a:xfrm>
          <a:prstGeom prst="rect">
            <a:avLst/>
          </a:prstGeom>
          <a:noFill/>
        </p:spPr>
        <p:txBody>
          <a:bodyPr wrap="square" anchor="t" lIns="0" rIns="0" tIns="0" bIns="0">
            <a:spAutoFit/>
          </a:bodyPr>
          <a:lstStyle/>
          <a:p>
            <a:pPr algn="l">
              <a:spcAft>
                <a:spcPts val="400"/>
              </a:spcAft>
            </a:pPr>
            <a:r>
              <a:rPr sz="3200" b="0">
                <a:solidFill>
                  <a:srgbClr val="434343"/>
                </a:solidFill>
                <a:latin typeface="DM Sans ExtraBold"/>
              </a:rPr>
              <a:t>87</a:t>
            </a:r>
            <a:r>
              <a:rPr sz="1400" b="0">
                <a:solidFill>
                  <a:srgbClr val="6B6B80"/>
                </a:solidFill>
                <a:latin typeface="DM Sans"/>
              </a:rPr>
              <a:t> ms</a:t>
            </a:r>
          </a:p>
        </p:txBody>
      </p:sp>
      <p:sp>
        <p:nvSpPr>
          <p:cNvPr id="126" name="TextBox 125"/>
          <p:cNvSpPr txBox="1"/>
          <p:nvPr/>
        </p:nvSpPr>
        <p:spPr>
          <a:xfrm>
            <a:off x="4800600" y="2697480"/>
            <a:ext cx="1463040" cy="36576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DynamoDB</a:t>
            </a:r>
          </a:p>
        </p:txBody>
      </p:sp>
      <p:sp>
        <p:nvSpPr>
          <p:cNvPr id="127" name="Rounded Rectangle 126"/>
          <p:cNvSpPr/>
          <p:nvPr/>
        </p:nvSpPr>
        <p:spPr>
          <a:xfrm>
            <a:off x="6537960" y="1508760"/>
            <a:ext cx="1737360" cy="160020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6720840" y="1664208"/>
            <a:ext cx="201168" cy="201168"/>
          </a:xfrm>
          <a:prstGeom prst="ellipse">
            <a:avLst/>
          </a:prstGeom>
          <a:solidFill>
            <a:srgbClr val="E85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720840" y="1965960"/>
            <a:ext cx="1463040" cy="640080"/>
          </a:xfrm>
          <a:prstGeom prst="rect">
            <a:avLst/>
          </a:prstGeom>
          <a:noFill/>
        </p:spPr>
        <p:txBody>
          <a:bodyPr wrap="square" anchor="t" lIns="0" rIns="0" tIns="0" bIns="0">
            <a:spAutoFit/>
          </a:bodyPr>
          <a:lstStyle/>
          <a:p>
            <a:pPr algn="l">
              <a:spcAft>
                <a:spcPts val="400"/>
              </a:spcAft>
            </a:pPr>
            <a:r>
              <a:rPr sz="3200" b="0">
                <a:solidFill>
                  <a:srgbClr val="434343"/>
                </a:solidFill>
                <a:latin typeface="DM Sans ExtraBold"/>
              </a:rPr>
              <a:t>89</a:t>
            </a:r>
            <a:r>
              <a:rPr sz="1400" b="0">
                <a:solidFill>
                  <a:srgbClr val="6B6B80"/>
                </a:solidFill>
                <a:latin typeface="DM Sans"/>
              </a:rPr>
              <a:t> ms</a:t>
            </a:r>
          </a:p>
        </p:txBody>
      </p:sp>
      <p:sp>
        <p:nvSpPr>
          <p:cNvPr id="130" name="TextBox 129"/>
          <p:cNvSpPr txBox="1"/>
          <p:nvPr/>
        </p:nvSpPr>
        <p:spPr>
          <a:xfrm>
            <a:off x="6720840" y="2697480"/>
            <a:ext cx="1463040" cy="36576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S3 Vectors</a:t>
            </a:r>
          </a:p>
        </p:txBody>
      </p:sp>
      <p:sp>
        <p:nvSpPr>
          <p:cNvPr id="131" name="TextBox 130"/>
          <p:cNvSpPr txBox="1"/>
          <p:nvPr/>
        </p:nvSpPr>
        <p:spPr>
          <a:xfrm>
            <a:off x="777240" y="3200400"/>
            <a:ext cx="5486400" cy="548640"/>
          </a:xfrm>
          <a:prstGeom prst="rect">
            <a:avLst/>
          </a:prstGeom>
          <a:noFill/>
        </p:spPr>
        <p:txBody>
          <a:bodyPr wrap="square" anchor="t" lIns="0" rIns="0" tIns="0" bIns="0">
            <a:spAutoFit/>
          </a:bodyPr>
          <a:lstStyle/>
          <a:p>
            <a:pPr algn="l">
              <a:spcAft>
                <a:spcPts val="400"/>
              </a:spcAft>
            </a:pPr>
            <a:r>
              <a:rPr sz="1200" b="0">
                <a:solidFill>
                  <a:srgbClr val="434343"/>
                </a:solidFill>
                <a:latin typeface="DM Sans"/>
              </a:rPr>
              <a:t>Aurora y OpenSearch se apagan solas para no cobrar. DynamoDB y S3 Vectors no tienen nada que apagar.</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Recién encendida, todavía no está lista</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TextBox 113"/>
          <p:cNvSpPr txBox="1"/>
          <p:nvPr/>
        </p:nvSpPr>
        <p:spPr>
          <a:xfrm>
            <a:off x="777240" y="1143000"/>
            <a:ext cx="7589520" cy="274320"/>
          </a:xfrm>
          <a:prstGeom prst="rect">
            <a:avLst/>
          </a:prstGeom>
          <a:noFill/>
        </p:spPr>
        <p:txBody>
          <a:bodyPr wrap="square" anchor="t" lIns="0" rIns="0" tIns="0" bIns="0">
            <a:spAutoFit/>
          </a:bodyPr>
          <a:lstStyle/>
          <a:p>
            <a:pPr algn="l">
              <a:spcAft>
                <a:spcPts val="400"/>
              </a:spcAft>
            </a:pPr>
            <a:r>
              <a:rPr sz="1400" b="1">
                <a:solidFill>
                  <a:srgbClr val="A433F3"/>
                </a:solidFill>
                <a:latin typeface="DM Sans"/>
              </a:rPr>
              <a:t>Ya encendida, Aurora todavía necesita cargar el índice en memoria</a:t>
            </a:r>
          </a:p>
        </p:txBody>
      </p:sp>
      <p:sp>
        <p:nvSpPr>
          <p:cNvPr id="115" name="Rounded Rectangle 114"/>
          <p:cNvSpPr/>
          <p:nvPr/>
        </p:nvSpPr>
        <p:spPr>
          <a:xfrm>
            <a:off x="685800" y="1508760"/>
            <a:ext cx="1828800" cy="173736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50392" y="1645920"/>
            <a:ext cx="201168" cy="201168"/>
          </a:xfrm>
          <a:prstGeom prst="ellipse">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24712" y="1618488"/>
            <a:ext cx="1371600" cy="27432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Aurora</a:t>
            </a:r>
          </a:p>
        </p:txBody>
      </p:sp>
      <p:sp>
        <p:nvSpPr>
          <p:cNvPr id="118" name="TextBox 117"/>
          <p:cNvSpPr txBox="1"/>
          <p:nvPr/>
        </p:nvSpPr>
        <p:spPr>
          <a:xfrm>
            <a:off x="850392" y="1965960"/>
            <a:ext cx="155448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p95 al comenzar</a:t>
            </a:r>
          </a:p>
        </p:txBody>
      </p:sp>
      <p:sp>
        <p:nvSpPr>
          <p:cNvPr id="119" name="TextBox 118"/>
          <p:cNvSpPr txBox="1"/>
          <p:nvPr/>
        </p:nvSpPr>
        <p:spPr>
          <a:xfrm>
            <a:off x="850392" y="2148840"/>
            <a:ext cx="1554480" cy="411480"/>
          </a:xfrm>
          <a:prstGeom prst="rect">
            <a:avLst/>
          </a:prstGeom>
          <a:noFill/>
        </p:spPr>
        <p:txBody>
          <a:bodyPr wrap="square" anchor="t" lIns="0" rIns="0" tIns="0" bIns="0">
            <a:spAutoFit/>
          </a:bodyPr>
          <a:lstStyle/>
          <a:p>
            <a:pPr algn="l">
              <a:spcAft>
                <a:spcPts val="400"/>
              </a:spcAft>
            </a:pPr>
            <a:r>
              <a:rPr sz="2200" b="0">
                <a:solidFill>
                  <a:srgbClr val="D054FC"/>
                </a:solidFill>
                <a:latin typeface="DM Sans ExtraBold"/>
              </a:rPr>
              <a:t>545,6</a:t>
            </a:r>
            <a:r>
              <a:rPr sz="1100" b="0">
                <a:solidFill>
                  <a:srgbClr val="6B6B80"/>
                </a:solidFill>
                <a:latin typeface="DM Sans"/>
              </a:rPr>
              <a:t> ms</a:t>
            </a:r>
          </a:p>
        </p:txBody>
      </p:sp>
      <p:sp>
        <p:nvSpPr>
          <p:cNvPr id="120" name="TextBox 119"/>
          <p:cNvSpPr txBox="1"/>
          <p:nvPr/>
        </p:nvSpPr>
        <p:spPr>
          <a:xfrm>
            <a:off x="850392" y="2606040"/>
            <a:ext cx="155448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p95 después</a:t>
            </a:r>
          </a:p>
        </p:txBody>
      </p:sp>
      <p:sp>
        <p:nvSpPr>
          <p:cNvPr id="121" name="TextBox 120"/>
          <p:cNvSpPr txBox="1"/>
          <p:nvPr/>
        </p:nvSpPr>
        <p:spPr>
          <a:xfrm>
            <a:off x="850392" y="2788920"/>
            <a:ext cx="1554480" cy="411480"/>
          </a:xfrm>
          <a:prstGeom prst="rect">
            <a:avLst/>
          </a:prstGeom>
          <a:noFill/>
        </p:spPr>
        <p:txBody>
          <a:bodyPr wrap="square" anchor="t" lIns="0" rIns="0" tIns="0" bIns="0">
            <a:spAutoFit/>
          </a:bodyPr>
          <a:lstStyle/>
          <a:p>
            <a:pPr algn="l">
              <a:spcAft>
                <a:spcPts val="400"/>
              </a:spcAft>
            </a:pPr>
            <a:r>
              <a:rPr sz="2200" b="0">
                <a:solidFill>
                  <a:srgbClr val="A433F3"/>
                </a:solidFill>
                <a:latin typeface="DM Sans ExtraBold"/>
              </a:rPr>
              <a:t>1,6</a:t>
            </a:r>
            <a:r>
              <a:rPr sz="1100" b="0">
                <a:solidFill>
                  <a:srgbClr val="6B6B80"/>
                </a:solidFill>
                <a:latin typeface="DM Sans"/>
              </a:rPr>
              <a:t> ms</a:t>
            </a:r>
          </a:p>
        </p:txBody>
      </p:sp>
      <p:sp>
        <p:nvSpPr>
          <p:cNvPr id="122" name="Rounded Rectangle 121"/>
          <p:cNvSpPr/>
          <p:nvPr/>
        </p:nvSpPr>
        <p:spPr>
          <a:xfrm>
            <a:off x="2670048" y="1508760"/>
            <a:ext cx="1828800" cy="173736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2834640" y="1645920"/>
            <a:ext cx="201168" cy="201168"/>
          </a:xfrm>
          <a:prstGeom prst="ellipse">
            <a:avLst/>
          </a:prstGeom>
          <a:solidFill>
            <a:srgbClr val="3D5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108960" y="1618488"/>
            <a:ext cx="1371600" cy="27432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DynamoDB</a:t>
            </a:r>
          </a:p>
        </p:txBody>
      </p:sp>
      <p:sp>
        <p:nvSpPr>
          <p:cNvPr id="125" name="TextBox 124"/>
          <p:cNvSpPr txBox="1"/>
          <p:nvPr/>
        </p:nvSpPr>
        <p:spPr>
          <a:xfrm>
            <a:off x="2834640" y="1965960"/>
            <a:ext cx="155448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p95 al comenzar</a:t>
            </a:r>
          </a:p>
        </p:txBody>
      </p:sp>
      <p:sp>
        <p:nvSpPr>
          <p:cNvPr id="126" name="TextBox 125"/>
          <p:cNvSpPr txBox="1"/>
          <p:nvPr/>
        </p:nvSpPr>
        <p:spPr>
          <a:xfrm>
            <a:off x="2834640" y="2148840"/>
            <a:ext cx="1554480" cy="411480"/>
          </a:xfrm>
          <a:prstGeom prst="rect">
            <a:avLst/>
          </a:prstGeom>
          <a:noFill/>
        </p:spPr>
        <p:txBody>
          <a:bodyPr wrap="square" anchor="t" lIns="0" rIns="0" tIns="0" bIns="0">
            <a:spAutoFit/>
          </a:bodyPr>
          <a:lstStyle/>
          <a:p>
            <a:pPr algn="l">
              <a:spcAft>
                <a:spcPts val="400"/>
              </a:spcAft>
            </a:pPr>
            <a:r>
              <a:rPr sz="2200" b="0">
                <a:solidFill>
                  <a:srgbClr val="434343"/>
                </a:solidFill>
                <a:latin typeface="DM Sans ExtraBold"/>
              </a:rPr>
              <a:t>15,2</a:t>
            </a:r>
            <a:r>
              <a:rPr sz="1100" b="0">
                <a:solidFill>
                  <a:srgbClr val="6B6B80"/>
                </a:solidFill>
                <a:latin typeface="DM Sans"/>
              </a:rPr>
              <a:t> ms</a:t>
            </a:r>
          </a:p>
        </p:txBody>
      </p:sp>
      <p:sp>
        <p:nvSpPr>
          <p:cNvPr id="127" name="TextBox 126"/>
          <p:cNvSpPr txBox="1"/>
          <p:nvPr/>
        </p:nvSpPr>
        <p:spPr>
          <a:xfrm>
            <a:off x="2834640" y="2606040"/>
            <a:ext cx="155448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p95 después</a:t>
            </a:r>
          </a:p>
        </p:txBody>
      </p:sp>
      <p:sp>
        <p:nvSpPr>
          <p:cNvPr id="128" name="TextBox 127"/>
          <p:cNvSpPr txBox="1"/>
          <p:nvPr/>
        </p:nvSpPr>
        <p:spPr>
          <a:xfrm>
            <a:off x="2834640" y="2788920"/>
            <a:ext cx="1554480" cy="411480"/>
          </a:xfrm>
          <a:prstGeom prst="rect">
            <a:avLst/>
          </a:prstGeom>
          <a:noFill/>
        </p:spPr>
        <p:txBody>
          <a:bodyPr wrap="square" anchor="t" lIns="0" rIns="0" tIns="0" bIns="0">
            <a:spAutoFit/>
          </a:bodyPr>
          <a:lstStyle/>
          <a:p>
            <a:pPr algn="l">
              <a:spcAft>
                <a:spcPts val="400"/>
              </a:spcAft>
            </a:pPr>
            <a:r>
              <a:rPr sz="2200" b="0">
                <a:solidFill>
                  <a:srgbClr val="A433F3"/>
                </a:solidFill>
                <a:latin typeface="DM Sans ExtraBold"/>
              </a:rPr>
              <a:t>14,6</a:t>
            </a:r>
            <a:r>
              <a:rPr sz="1100" b="0">
                <a:solidFill>
                  <a:srgbClr val="6B6B80"/>
                </a:solidFill>
                <a:latin typeface="DM Sans"/>
              </a:rPr>
              <a:t> ms</a:t>
            </a:r>
          </a:p>
        </p:txBody>
      </p:sp>
      <p:sp>
        <p:nvSpPr>
          <p:cNvPr id="129" name="Rounded Rectangle 128"/>
          <p:cNvSpPr/>
          <p:nvPr/>
        </p:nvSpPr>
        <p:spPr>
          <a:xfrm>
            <a:off x="4654296" y="1508760"/>
            <a:ext cx="1828800" cy="173736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818888" y="1645920"/>
            <a:ext cx="201168" cy="201168"/>
          </a:xfrm>
          <a:prstGeom prst="ellipse">
            <a:avLst/>
          </a:prstGeom>
          <a:solidFill>
            <a:srgbClr val="0E9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093208" y="1618488"/>
            <a:ext cx="1371600" cy="27432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OpenSearch</a:t>
            </a:r>
          </a:p>
        </p:txBody>
      </p:sp>
      <p:sp>
        <p:nvSpPr>
          <p:cNvPr id="132" name="TextBox 131"/>
          <p:cNvSpPr txBox="1"/>
          <p:nvPr/>
        </p:nvSpPr>
        <p:spPr>
          <a:xfrm>
            <a:off x="4818888" y="1965960"/>
            <a:ext cx="155448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p95 al comenzar</a:t>
            </a:r>
          </a:p>
        </p:txBody>
      </p:sp>
      <p:sp>
        <p:nvSpPr>
          <p:cNvPr id="133" name="TextBox 132"/>
          <p:cNvSpPr txBox="1"/>
          <p:nvPr/>
        </p:nvSpPr>
        <p:spPr>
          <a:xfrm>
            <a:off x="4818888" y="2148840"/>
            <a:ext cx="1554480" cy="411480"/>
          </a:xfrm>
          <a:prstGeom prst="rect">
            <a:avLst/>
          </a:prstGeom>
          <a:noFill/>
        </p:spPr>
        <p:txBody>
          <a:bodyPr wrap="square" anchor="t" lIns="0" rIns="0" tIns="0" bIns="0">
            <a:spAutoFit/>
          </a:bodyPr>
          <a:lstStyle/>
          <a:p>
            <a:pPr algn="l">
              <a:spcAft>
                <a:spcPts val="400"/>
              </a:spcAft>
            </a:pPr>
            <a:r>
              <a:rPr sz="2200" b="0">
                <a:solidFill>
                  <a:srgbClr val="434343"/>
                </a:solidFill>
                <a:latin typeface="DM Sans ExtraBold"/>
              </a:rPr>
              <a:t>47,6</a:t>
            </a:r>
            <a:r>
              <a:rPr sz="1100" b="0">
                <a:solidFill>
                  <a:srgbClr val="6B6B80"/>
                </a:solidFill>
                <a:latin typeface="DM Sans"/>
              </a:rPr>
              <a:t> ms</a:t>
            </a:r>
          </a:p>
        </p:txBody>
      </p:sp>
      <p:sp>
        <p:nvSpPr>
          <p:cNvPr id="134" name="TextBox 133"/>
          <p:cNvSpPr txBox="1"/>
          <p:nvPr/>
        </p:nvSpPr>
        <p:spPr>
          <a:xfrm>
            <a:off x="4818888" y="2606040"/>
            <a:ext cx="155448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p95 después</a:t>
            </a:r>
          </a:p>
        </p:txBody>
      </p:sp>
      <p:sp>
        <p:nvSpPr>
          <p:cNvPr id="135" name="TextBox 134"/>
          <p:cNvSpPr txBox="1"/>
          <p:nvPr/>
        </p:nvSpPr>
        <p:spPr>
          <a:xfrm>
            <a:off x="4818888" y="2788920"/>
            <a:ext cx="1554480" cy="411480"/>
          </a:xfrm>
          <a:prstGeom prst="rect">
            <a:avLst/>
          </a:prstGeom>
          <a:noFill/>
        </p:spPr>
        <p:txBody>
          <a:bodyPr wrap="square" anchor="t" lIns="0" rIns="0" tIns="0" bIns="0">
            <a:spAutoFit/>
          </a:bodyPr>
          <a:lstStyle/>
          <a:p>
            <a:pPr algn="l">
              <a:spcAft>
                <a:spcPts val="400"/>
              </a:spcAft>
            </a:pPr>
            <a:r>
              <a:rPr sz="2200" b="0">
                <a:solidFill>
                  <a:srgbClr val="A433F3"/>
                </a:solidFill>
                <a:latin typeface="DM Sans ExtraBold"/>
              </a:rPr>
              <a:t>41,1</a:t>
            </a:r>
            <a:r>
              <a:rPr sz="1100" b="0">
                <a:solidFill>
                  <a:srgbClr val="6B6B80"/>
                </a:solidFill>
                <a:latin typeface="DM Sans"/>
              </a:rPr>
              <a:t> ms</a:t>
            </a:r>
          </a:p>
        </p:txBody>
      </p:sp>
      <p:sp>
        <p:nvSpPr>
          <p:cNvPr id="136" name="Rounded Rectangle 135"/>
          <p:cNvSpPr/>
          <p:nvPr/>
        </p:nvSpPr>
        <p:spPr>
          <a:xfrm>
            <a:off x="6638544" y="1508760"/>
            <a:ext cx="1828800" cy="173736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6803136" y="1645920"/>
            <a:ext cx="201168" cy="201168"/>
          </a:xfrm>
          <a:prstGeom prst="ellipse">
            <a:avLst/>
          </a:prstGeom>
          <a:solidFill>
            <a:srgbClr val="E85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077456" y="1618488"/>
            <a:ext cx="1371600" cy="27432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S3 Vectors</a:t>
            </a:r>
          </a:p>
        </p:txBody>
      </p:sp>
      <p:sp>
        <p:nvSpPr>
          <p:cNvPr id="139" name="TextBox 138"/>
          <p:cNvSpPr txBox="1"/>
          <p:nvPr/>
        </p:nvSpPr>
        <p:spPr>
          <a:xfrm>
            <a:off x="6803136" y="1965960"/>
            <a:ext cx="155448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p95 al comenzar</a:t>
            </a:r>
          </a:p>
        </p:txBody>
      </p:sp>
      <p:sp>
        <p:nvSpPr>
          <p:cNvPr id="140" name="TextBox 139"/>
          <p:cNvSpPr txBox="1"/>
          <p:nvPr/>
        </p:nvSpPr>
        <p:spPr>
          <a:xfrm>
            <a:off x="6803136" y="2148840"/>
            <a:ext cx="1554480" cy="411480"/>
          </a:xfrm>
          <a:prstGeom prst="rect">
            <a:avLst/>
          </a:prstGeom>
          <a:noFill/>
        </p:spPr>
        <p:txBody>
          <a:bodyPr wrap="square" anchor="t" lIns="0" rIns="0" tIns="0" bIns="0">
            <a:spAutoFit/>
          </a:bodyPr>
          <a:lstStyle/>
          <a:p>
            <a:pPr algn="l">
              <a:spcAft>
                <a:spcPts val="400"/>
              </a:spcAft>
            </a:pPr>
            <a:r>
              <a:rPr sz="2200" b="0">
                <a:solidFill>
                  <a:srgbClr val="434343"/>
                </a:solidFill>
                <a:latin typeface="DM Sans ExtraBold"/>
              </a:rPr>
              <a:t>70,9</a:t>
            </a:r>
            <a:r>
              <a:rPr sz="1100" b="0">
                <a:solidFill>
                  <a:srgbClr val="6B6B80"/>
                </a:solidFill>
                <a:latin typeface="DM Sans"/>
              </a:rPr>
              <a:t> ms</a:t>
            </a:r>
          </a:p>
        </p:txBody>
      </p:sp>
      <p:sp>
        <p:nvSpPr>
          <p:cNvPr id="141" name="TextBox 140"/>
          <p:cNvSpPr txBox="1"/>
          <p:nvPr/>
        </p:nvSpPr>
        <p:spPr>
          <a:xfrm>
            <a:off x="6803136" y="2606040"/>
            <a:ext cx="155448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p95 después</a:t>
            </a:r>
          </a:p>
        </p:txBody>
      </p:sp>
      <p:sp>
        <p:nvSpPr>
          <p:cNvPr id="142" name="TextBox 141"/>
          <p:cNvSpPr txBox="1"/>
          <p:nvPr/>
        </p:nvSpPr>
        <p:spPr>
          <a:xfrm>
            <a:off x="6803136" y="2788920"/>
            <a:ext cx="1554480" cy="411480"/>
          </a:xfrm>
          <a:prstGeom prst="rect">
            <a:avLst/>
          </a:prstGeom>
          <a:noFill/>
        </p:spPr>
        <p:txBody>
          <a:bodyPr wrap="square" anchor="t" lIns="0" rIns="0" tIns="0" bIns="0">
            <a:spAutoFit/>
          </a:bodyPr>
          <a:lstStyle/>
          <a:p>
            <a:pPr algn="l">
              <a:spcAft>
                <a:spcPts val="400"/>
              </a:spcAft>
            </a:pPr>
            <a:r>
              <a:rPr sz="2200" b="0">
                <a:solidFill>
                  <a:srgbClr val="A433F3"/>
                </a:solidFill>
                <a:latin typeface="DM Sans ExtraBold"/>
              </a:rPr>
              <a:t>67,3</a:t>
            </a:r>
            <a:r>
              <a:rPr sz="1100" b="0">
                <a:solidFill>
                  <a:srgbClr val="6B6B80"/>
                </a:solidFill>
                <a:latin typeface="DM Sans"/>
              </a:rPr>
              <a:t> ms</a:t>
            </a:r>
          </a:p>
        </p:txBody>
      </p:sp>
      <p:sp>
        <p:nvSpPr>
          <p:cNvPr id="143" name="TextBox 142"/>
          <p:cNvSpPr txBox="1"/>
          <p:nvPr/>
        </p:nvSpPr>
        <p:spPr>
          <a:xfrm>
            <a:off x="685800" y="3364992"/>
            <a:ext cx="3931920" cy="274320"/>
          </a:xfrm>
          <a:prstGeom prst="rect">
            <a:avLst/>
          </a:prstGeom>
          <a:noFill/>
        </p:spPr>
        <p:txBody>
          <a:bodyPr wrap="square" anchor="t" lIns="0" rIns="0" tIns="0" bIns="0">
            <a:spAutoFit/>
          </a:bodyPr>
          <a:lstStyle/>
          <a:p>
            <a:pPr algn="l">
              <a:spcAft>
                <a:spcPts val="400"/>
              </a:spcAft>
            </a:pPr>
            <a:r>
              <a:rPr sz="1200" b="1">
                <a:solidFill>
                  <a:srgbClr val="434343"/>
                </a:solidFill>
                <a:latin typeface="DM Sans"/>
              </a:rPr>
              <a:t>Las otras tres casi no notan la diferencia</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¿Cuánto cuesta cada búsqueda?</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188720"/>
            <a:ext cx="402336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2" name="Chart 131"/>
          <p:cNvGraphicFramePr>
            <a:graphicFrameLocks noGrp="1"/>
          </p:cNvGraphicFramePr>
          <p:nvPr/>
        </p:nvGraphicFramePr>
        <p:xfrm>
          <a:off x="731520" y="1234440"/>
          <a:ext cx="3840480" cy="2514600"/>
        </p:xfrm>
        <a:graphic>
          <a:graphicData uri="http://schemas.openxmlformats.org/drawingml/2006/chart">
            <c:chart r:id="rId2"/>
          </a:graphicData>
        </a:graphic>
      </p:graphicFrame>
      <p:sp>
        <p:nvSpPr>
          <p:cNvPr id="133" name="Rounded Rectangle 132"/>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983480" y="1298448"/>
            <a:ext cx="3291840" cy="2423160"/>
          </a:xfrm>
          <a:prstGeom prst="rect">
            <a:avLst/>
          </a:prstGeom>
          <a:noFill/>
        </p:spPr>
        <p:txBody>
          <a:bodyPr wrap="square" anchor="t" lIns="0" rIns="0" tIns="0" bIns="0">
            <a:spAutoFit/>
          </a:bodyPr>
          <a:lstStyle/>
          <a:p>
            <a:pPr algn="l">
              <a:spcAft>
                <a:spcPts val="600"/>
              </a:spcAft>
            </a:pPr>
            <a:r>
              <a:rPr sz="1700" b="1">
                <a:solidFill>
                  <a:srgbClr val="A433F3"/>
                </a:solidFill>
                <a:latin typeface="DM Sans"/>
              </a:rPr>
              <a:t>DynamoDB cobra 20 a 30 veces menos</a:t>
            </a:r>
          </a:p>
          <a:p>
            <a:pPr algn="l">
              <a:spcAft>
                <a:spcPts val="600"/>
              </a:spcAft>
            </a:pPr>
            <a:r>
              <a:rPr sz="1300" b="1">
                <a:solidFill>
                  <a:srgbClr val="434343"/>
                </a:solidFill>
                <a:latin typeface="DM Sans"/>
              </a:rPr>
              <a:t>DynamoDB</a:t>
            </a:r>
            <a:r>
              <a:rPr sz="1300" b="0">
                <a:solidFill>
                  <a:srgbClr val="434343"/>
                </a:solidFill>
                <a:latin typeface="DM Sans"/>
              </a:rPr>
              <a:t>: USD 0,13 por millón de búsquedas</a:t>
            </a:r>
          </a:p>
          <a:p>
            <a:pPr algn="l">
              <a:spcAft>
                <a:spcPts val="600"/>
              </a:spcAft>
            </a:pPr>
            <a:r>
              <a:rPr sz="1300" b="1">
                <a:solidFill>
                  <a:srgbClr val="434343"/>
                </a:solidFill>
                <a:latin typeface="DM Sans"/>
              </a:rPr>
              <a:t>Las otras</a:t>
            </a:r>
            <a:r>
              <a:rPr sz="1300" b="0">
                <a:solidFill>
                  <a:srgbClr val="434343"/>
                </a:solidFill>
                <a:latin typeface="DM Sans"/>
              </a:rPr>
              <a:t>: entre USD 2,6 y 4,0 por millón</a:t>
            </a:r>
          </a:p>
          <a:p>
            <a:pPr algn="l">
              <a:spcAft>
                <a:spcPts val="600"/>
              </a:spcAft>
            </a:pPr>
            <a:r>
              <a:rPr sz="1300" b="0">
                <a:solidFill>
                  <a:srgbClr val="434343"/>
                </a:solidFill>
                <a:latin typeface="DM Sans"/>
              </a:rPr>
              <a:t>Guardar los 100.000 vectores: entre 2 y 13 centavos de dólar al mes</a:t>
            </a:r>
          </a:p>
          <a:p>
            <a:pPr algn="l">
              <a:spcAft>
                <a:spcPts val="600"/>
              </a:spcAft>
            </a:pPr>
            <a:r>
              <a:rPr sz="1000" b="0">
                <a:solidFill>
                  <a:srgbClr val="6B6B80"/>
                </a:solidFill>
                <a:latin typeface="DM Sans"/>
              </a:rPr>
              <a:t>Aurora y OpenSearch: capacidad medida dividida por consultas, con un solo usuario. No es precio de lista.</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20"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30" name="Google Shape;130;p20"/>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¿Cuánto cuesta tenerla lista?</a:t>
            </a:r>
            <a:endParaRPr b="1" i="0" sz="2900" u="none" cap="none" strike="noStrike">
              <a:solidFill>
                <a:srgbClr val="434343"/>
              </a:solidFill>
              <a:latin typeface="DM Sans ExtraBold"/>
              <a:ea typeface="DM Sans ExtraBold"/>
              <a:cs typeface="DM Sans ExtraBold"/>
              <a:sym typeface="DM Sans ExtraBold"/>
            </a:endParaRPr>
          </a:p>
        </p:txBody>
      </p:sp>
      <p:sp>
        <p:nvSpPr>
          <p:cNvPr id="131" name="Rounded Rectangle 130"/>
          <p:cNvSpPr/>
          <p:nvPr/>
        </p:nvSpPr>
        <p:spPr>
          <a:xfrm>
            <a:off x="640080" y="1188720"/>
            <a:ext cx="4023360" cy="260604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2" name="Chart 131"/>
          <p:cNvGraphicFramePr>
            <a:graphicFrameLocks noGrp="1"/>
          </p:cNvGraphicFramePr>
          <p:nvPr/>
        </p:nvGraphicFramePr>
        <p:xfrm>
          <a:off x="731520" y="1234440"/>
          <a:ext cx="3840480" cy="2514600"/>
        </p:xfrm>
        <a:graphic>
          <a:graphicData uri="http://schemas.openxmlformats.org/drawingml/2006/chart">
            <c:chart r:id="rId2"/>
          </a:graphicData>
        </a:graphic>
      </p:graphicFrame>
      <p:sp>
        <p:nvSpPr>
          <p:cNvPr id="133" name="Rounded Rectangle 132"/>
          <p:cNvSpPr/>
          <p:nvPr/>
        </p:nvSpPr>
        <p:spPr>
          <a:xfrm>
            <a:off x="4800600" y="1188720"/>
            <a:ext cx="3611880" cy="26060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983480" y="1298448"/>
            <a:ext cx="3291840" cy="2423160"/>
          </a:xfrm>
          <a:prstGeom prst="rect">
            <a:avLst/>
          </a:prstGeom>
          <a:noFill/>
        </p:spPr>
        <p:txBody>
          <a:bodyPr wrap="square" anchor="t" lIns="0" rIns="0" tIns="0" bIns="0">
            <a:spAutoFit/>
          </a:bodyPr>
          <a:lstStyle/>
          <a:p>
            <a:pPr algn="l">
              <a:spcAft>
                <a:spcPts val="600"/>
              </a:spcAft>
            </a:pPr>
            <a:r>
              <a:rPr sz="1700" b="1">
                <a:solidFill>
                  <a:srgbClr val="A433F3"/>
                </a:solidFill>
                <a:latin typeface="DM Sans"/>
              </a:rPr>
              <a:t>Lo caro no es buscar: es estar encendida</a:t>
            </a:r>
          </a:p>
          <a:p>
            <a:pPr algn="l">
              <a:spcAft>
                <a:spcPts val="600"/>
              </a:spcAft>
            </a:pPr>
            <a:r>
              <a:rPr sz="1300" b="0">
                <a:solidFill>
                  <a:srgbClr val="434343"/>
                </a:solidFill>
                <a:latin typeface="DM Sans"/>
              </a:rPr>
              <a:t>Aurora y OpenSearch se apagan tras ~10 minutos sin uso. Con una consulta cada pocos minutos, no se apagan nunca</a:t>
            </a:r>
          </a:p>
          <a:p>
            <a:pPr algn="l">
              <a:spcAft>
                <a:spcPts val="600"/>
              </a:spcAft>
            </a:pPr>
            <a:r>
              <a:rPr sz="1300" b="1">
                <a:solidFill>
                  <a:srgbClr val="434343"/>
                </a:solidFill>
                <a:latin typeface="DM Sans"/>
              </a:rPr>
              <a:t>Aurora: ~USD 59 a 249 al mes · OpenSearch: ~USD 175</a:t>
            </a:r>
          </a:p>
          <a:p>
            <a:pPr algn="l">
              <a:spcAft>
                <a:spcPts val="600"/>
              </a:spcAft>
            </a:pPr>
            <a:r>
              <a:rPr sz="1300" b="1">
                <a:solidFill>
                  <a:srgbClr val="A433F3"/>
                </a:solidFill>
                <a:latin typeface="DM Sans"/>
              </a:rPr>
              <a:t>DynamoDB y S3 Vectors: sin mínimo mensual</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¿Y si crece a 1 o 100 millones?</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TextBox 113"/>
          <p:cNvSpPr txBox="1"/>
          <p:nvPr/>
        </p:nvSpPr>
        <p:spPr>
          <a:xfrm>
            <a:off x="640080" y="987552"/>
            <a:ext cx="7863840" cy="228600"/>
          </a:xfrm>
          <a:prstGeom prst="rect">
            <a:avLst/>
          </a:prstGeom>
          <a:noFill/>
        </p:spPr>
        <p:txBody>
          <a:bodyPr wrap="square" anchor="t" lIns="0" rIns="0" tIns="0" bIns="0">
            <a:spAutoFit/>
          </a:bodyPr>
          <a:lstStyle/>
          <a:p>
            <a:pPr algn="ctr">
              <a:spcAft>
                <a:spcPts val="400"/>
              </a:spcAft>
            </a:pPr>
            <a:r>
              <a:rPr sz="1200" b="0">
                <a:solidFill>
                  <a:srgbClr val="6B6B80"/>
                </a:solidFill>
                <a:latin typeface="DM Sans"/>
              </a:rPr>
              <a:t>USD al mes con 1 millón de búsquedas. Medí 100.000; lo demás es estimado.</a:t>
            </a:r>
          </a:p>
        </p:txBody>
      </p:sp>
      <p:graphicFrame>
        <p:nvGraphicFramePr>
          <p:cNvPr id="115" name="Table 114"/>
          <p:cNvGraphicFramePr>
            <a:graphicFrameLocks noGrp="1"/>
          </p:cNvGraphicFramePr>
          <p:nvPr/>
        </p:nvGraphicFramePr>
        <p:xfrm>
          <a:off x="640080" y="1280160"/>
          <a:ext cx="7863840" cy="2011680"/>
        </p:xfrm>
        <a:graphic>
          <a:graphicData uri="http://schemas.openxmlformats.org/drawingml/2006/table">
            <a:tbl>
              <a:tblPr firstRow="1" bandRow="1">
                <a:tableStyleId>{5C22544A-7EE6-4342-B048-85BDC9FD1C3A}</a:tableStyleId>
              </a:tblPr>
              <a:tblGrid>
                <a:gridCol w="1188720"/>
                <a:gridCol w="960120"/>
                <a:gridCol w="1051560"/>
                <a:gridCol w="1371600"/>
                <a:gridCol w="3291840"/>
              </a:tblGrid>
              <a:tr h="402336">
                <a:tc>
                  <a:txBody>
                    <a:bodyPr wrap="square"/>
                    <a:lstStyle/>
                    <a:p>
                      <a:pPr algn="l"/>
                      <a:r>
                        <a:rPr sz="1200" b="1">
                          <a:solidFill>
                            <a:srgbClr val="FFFFFF"/>
                          </a:solidFill>
                          <a:latin typeface="DM Sans"/>
                        </a:rPr>
                        <a:t/>
                      </a:r>
                    </a:p>
                  </a:txBody>
                  <a:tcPr marL="73152" marR="73152" marT="27432" marB="27432" anchor="ctr">
                    <a:solidFill>
                      <a:srgbClr val="A433F3"/>
                    </a:solidFill>
                  </a:tcPr>
                </a:tc>
                <a:tc>
                  <a:txBody>
                    <a:bodyPr wrap="square"/>
                    <a:lstStyle/>
                    <a:p>
                      <a:pPr algn="ctr"/>
                      <a:r>
                        <a:rPr sz="1200" b="1">
                          <a:solidFill>
                            <a:srgbClr val="FFFFFF"/>
                          </a:solidFill>
                          <a:latin typeface="DM Sans"/>
                        </a:rPr>
                        <a:t>100.000</a:t>
                      </a:r>
                    </a:p>
                  </a:txBody>
                  <a:tcPr marL="73152" marR="73152" marT="27432" marB="27432" anchor="ctr">
                    <a:solidFill>
                      <a:srgbClr val="A433F3"/>
                    </a:solidFill>
                  </a:tcPr>
                </a:tc>
                <a:tc>
                  <a:txBody>
                    <a:bodyPr wrap="square"/>
                    <a:lstStyle/>
                    <a:p>
                      <a:pPr algn="ctr"/>
                      <a:r>
                        <a:rPr sz="1200" b="1">
                          <a:solidFill>
                            <a:srgbClr val="FFFFFF"/>
                          </a:solidFill>
                          <a:latin typeface="DM Sans"/>
                        </a:rPr>
                        <a:t>1 millón</a:t>
                      </a:r>
                    </a:p>
                  </a:txBody>
                  <a:tcPr marL="73152" marR="73152" marT="27432" marB="27432" anchor="ctr">
                    <a:solidFill>
                      <a:srgbClr val="A433F3"/>
                    </a:solidFill>
                  </a:tcPr>
                </a:tc>
                <a:tc>
                  <a:txBody>
                    <a:bodyPr wrap="square"/>
                    <a:lstStyle/>
                    <a:p>
                      <a:pPr algn="ctr"/>
                      <a:r>
                        <a:rPr sz="1200" b="1">
                          <a:solidFill>
                            <a:srgbClr val="FFFFFF"/>
                          </a:solidFill>
                          <a:latin typeface="DM Sans"/>
                        </a:rPr>
                        <a:t>100 millones</a:t>
                      </a:r>
                    </a:p>
                  </a:txBody>
                  <a:tcPr marL="73152" marR="73152" marT="27432" marB="27432" anchor="ctr">
                    <a:solidFill>
                      <a:srgbClr val="A433F3"/>
                    </a:solidFill>
                  </a:tcPr>
                </a:tc>
                <a:tc>
                  <a:txBody>
                    <a:bodyPr wrap="square"/>
                    <a:lstStyle/>
                    <a:p>
                      <a:pPr algn="ctr"/>
                      <a:r>
                        <a:rPr sz="1200" b="1">
                          <a:solidFill>
                            <a:srgbClr val="FFFFFF"/>
                          </a:solidFill>
                          <a:latin typeface="DM Sans"/>
                        </a:rPr>
                        <a:t>Por qué sube</a:t>
                      </a:r>
                    </a:p>
                  </a:txBody>
                  <a:tcPr marL="73152" marR="73152" marT="27432" marB="27432" anchor="ctr">
                    <a:solidFill>
                      <a:srgbClr val="A433F3"/>
                    </a:solidFill>
                  </a:tcPr>
                </a:tc>
              </a:tr>
              <a:tr h="402336">
                <a:tc>
                  <a:txBody>
                    <a:bodyPr wrap="square"/>
                    <a:lstStyle/>
                    <a:p>
                      <a:pPr algn="l"/>
                      <a:r>
                        <a:rPr sz="1200" b="1">
                          <a:solidFill>
                            <a:srgbClr val="434343"/>
                          </a:solidFill>
                          <a:latin typeface="DM Sans"/>
                        </a:rPr>
                        <a:t>DynamoDB</a:t>
                      </a:r>
                    </a:p>
                  </a:txBody>
                  <a:tcPr marL="73152" marR="73152" marT="27432" marB="27432" anchor="ctr">
                    <a:solidFill>
                      <a:srgbClr val="FFFFFF"/>
                    </a:solidFill>
                  </a:tcPr>
                </a:tc>
                <a:tc>
                  <a:txBody>
                    <a:bodyPr wrap="square"/>
                    <a:lstStyle/>
                    <a:p>
                      <a:pPr algn="ctr"/>
                      <a:r>
                        <a:rPr sz="1200" b="1">
                          <a:solidFill>
                            <a:srgbClr val="A433F3"/>
                          </a:solidFill>
                          <a:latin typeface="DM Sans"/>
                        </a:rPr>
                        <a:t>0,2</a:t>
                      </a:r>
                    </a:p>
                  </a:txBody>
                  <a:tcPr marL="73152" marR="73152" marT="27432" marB="27432" anchor="ctr">
                    <a:solidFill>
                      <a:srgbClr val="FFFFFF"/>
                    </a:solidFill>
                  </a:tcPr>
                </a:tc>
                <a:tc>
                  <a:txBody>
                    <a:bodyPr wrap="square"/>
                    <a:lstStyle/>
                    <a:p>
                      <a:pPr algn="ctr"/>
                      <a:r>
                        <a:rPr sz="1200" b="1">
                          <a:solidFill>
                            <a:srgbClr val="A433F3"/>
                          </a:solidFill>
                          <a:latin typeface="DM Sans"/>
                        </a:rPr>
                        <a:t>1,1</a:t>
                      </a:r>
                    </a:p>
                  </a:txBody>
                  <a:tcPr marL="73152" marR="73152" marT="27432" marB="27432" anchor="ctr">
                    <a:solidFill>
                      <a:srgbClr val="FFFFFF"/>
                    </a:solidFill>
                  </a:tcPr>
                </a:tc>
                <a:tc>
                  <a:txBody>
                    <a:bodyPr wrap="square"/>
                    <a:lstStyle/>
                    <a:p>
                      <a:pPr algn="ctr"/>
                      <a:r>
                        <a:rPr sz="1200" b="1">
                          <a:solidFill>
                            <a:srgbClr val="A433F3"/>
                          </a:solidFill>
                          <a:latin typeface="DM Sans"/>
                        </a:rPr>
                        <a:t>96,5</a:t>
                      </a:r>
                    </a:p>
                  </a:txBody>
                  <a:tcPr marL="73152" marR="73152" marT="27432" marB="27432" anchor="ctr">
                    <a:solidFill>
                      <a:srgbClr val="FFFFFF"/>
                    </a:solidFill>
                  </a:tcPr>
                </a:tc>
                <a:tc>
                  <a:txBody>
                    <a:bodyPr wrap="square"/>
                    <a:lstStyle/>
                    <a:p>
                      <a:pPr algn="ctr"/>
                      <a:r>
                        <a:rPr sz="1200" b="0">
                          <a:solidFill>
                            <a:srgbClr val="434343"/>
                          </a:solidFill>
                          <a:latin typeface="DM Sans"/>
                        </a:rPr>
                        <a:t>Crece lo guardado; buscar cuesta casi igual</a:t>
                      </a:r>
                    </a:p>
                  </a:txBody>
                  <a:tcPr marL="73152" marR="73152" marT="27432" marB="27432" anchor="ctr">
                    <a:solidFill>
                      <a:srgbClr val="FFFFFF"/>
                    </a:solidFill>
                  </a:tcPr>
                </a:tc>
              </a:tr>
              <a:tr h="402336">
                <a:tc>
                  <a:txBody>
                    <a:bodyPr wrap="square"/>
                    <a:lstStyle/>
                    <a:p>
                      <a:pPr algn="l"/>
                      <a:r>
                        <a:rPr sz="1200" b="1">
                          <a:solidFill>
                            <a:srgbClr val="434343"/>
                          </a:solidFill>
                          <a:latin typeface="DM Sans"/>
                        </a:rPr>
                        <a:t>S3 Vectors</a:t>
                      </a:r>
                    </a:p>
                  </a:txBody>
                  <a:tcPr marL="73152" marR="73152" marT="27432" marB="27432" anchor="ctr">
                    <a:solidFill>
                      <a:srgbClr val="F4F0FC"/>
                    </a:solidFill>
                  </a:tcPr>
                </a:tc>
                <a:tc>
                  <a:txBody>
                    <a:bodyPr wrap="square"/>
                    <a:lstStyle/>
                    <a:p>
                      <a:pPr algn="ctr"/>
                      <a:r>
                        <a:rPr sz="1200" b="0">
                          <a:solidFill>
                            <a:srgbClr val="434343"/>
                          </a:solidFill>
                          <a:latin typeface="DM Sans"/>
                        </a:rPr>
                        <a:t>4,1</a:t>
                      </a:r>
                    </a:p>
                  </a:txBody>
                  <a:tcPr marL="73152" marR="73152" marT="27432" marB="27432" anchor="ctr">
                    <a:solidFill>
                      <a:srgbClr val="F4F0FC"/>
                    </a:solidFill>
                  </a:tcPr>
                </a:tc>
                <a:tc>
                  <a:txBody>
                    <a:bodyPr wrap="square"/>
                    <a:lstStyle/>
                    <a:p>
                      <a:pPr algn="ctr"/>
                      <a:r>
                        <a:rPr sz="1200" b="0">
                          <a:solidFill>
                            <a:srgbClr val="434343"/>
                          </a:solidFill>
                          <a:latin typeface="DM Sans"/>
                        </a:rPr>
                        <a:t>11,1</a:t>
                      </a:r>
                    </a:p>
                  </a:txBody>
                  <a:tcPr marL="73152" marR="73152" marT="27432" marB="27432" anchor="ctr">
                    <a:solidFill>
                      <a:srgbClr val="F4F0FC"/>
                    </a:solidFill>
                  </a:tcPr>
                </a:tc>
                <a:tc>
                  <a:txBody>
                    <a:bodyPr wrap="square"/>
                    <a:lstStyle/>
                    <a:p>
                      <a:pPr algn="ctr"/>
                      <a:r>
                        <a:rPr sz="1200" b="0">
                          <a:solidFill>
                            <a:srgbClr val="434343"/>
                          </a:solidFill>
                          <a:latin typeface="DM Sans"/>
                        </a:rPr>
                        <a:t>238</a:t>
                      </a:r>
                    </a:p>
                  </a:txBody>
                  <a:tcPr marL="73152" marR="73152" marT="27432" marB="27432" anchor="ctr">
                    <a:solidFill>
                      <a:srgbClr val="F4F0FC"/>
                    </a:solidFill>
                  </a:tcPr>
                </a:tc>
                <a:tc>
                  <a:txBody>
                    <a:bodyPr wrap="square"/>
                    <a:lstStyle/>
                    <a:p>
                      <a:pPr algn="ctr"/>
                      <a:r>
                        <a:rPr sz="1200" b="0">
                          <a:solidFill>
                            <a:srgbClr val="434343"/>
                          </a:solidFill>
                          <a:latin typeface="DM Sans"/>
                        </a:rPr>
                        <a:t>Cada búsqueda paga el índice completo</a:t>
                      </a:r>
                    </a:p>
                  </a:txBody>
                  <a:tcPr marL="73152" marR="73152" marT="27432" marB="27432" anchor="ctr">
                    <a:solidFill>
                      <a:srgbClr val="F4F0FC"/>
                    </a:solidFill>
                  </a:tcPr>
                </a:tc>
              </a:tr>
              <a:tr h="402336">
                <a:tc>
                  <a:txBody>
                    <a:bodyPr wrap="square"/>
                    <a:lstStyle/>
                    <a:p>
                      <a:pPr algn="l"/>
                      <a:r>
                        <a:rPr sz="1200" b="1">
                          <a:solidFill>
                            <a:srgbClr val="434343"/>
                          </a:solidFill>
                          <a:latin typeface="DM Sans"/>
                        </a:rPr>
                        <a:t>OpenSearch</a:t>
                      </a:r>
                    </a:p>
                  </a:txBody>
                  <a:tcPr marL="73152" marR="73152" marT="27432" marB="27432" anchor="ctr">
                    <a:solidFill>
                      <a:srgbClr val="FFFFFF"/>
                    </a:solidFill>
                  </a:tcPr>
                </a:tc>
                <a:tc>
                  <a:txBody>
                    <a:bodyPr wrap="square"/>
                    <a:lstStyle/>
                    <a:p>
                      <a:pPr algn="ctr"/>
                      <a:r>
                        <a:rPr sz="1200" b="0">
                          <a:solidFill>
                            <a:srgbClr val="434343"/>
                          </a:solidFill>
                          <a:latin typeface="DM Sans"/>
                        </a:rPr>
                        <a:t>175</a:t>
                      </a:r>
                    </a:p>
                  </a:txBody>
                  <a:tcPr marL="73152" marR="73152" marT="27432" marB="27432" anchor="ctr">
                    <a:solidFill>
                      <a:srgbClr val="FFFFFF"/>
                    </a:solidFill>
                  </a:tcPr>
                </a:tc>
                <a:tc>
                  <a:txBody>
                    <a:bodyPr wrap="square"/>
                    <a:lstStyle/>
                    <a:p>
                      <a:pPr algn="ctr"/>
                      <a:r>
                        <a:rPr sz="1200" b="0">
                          <a:solidFill>
                            <a:srgbClr val="434343"/>
                          </a:solidFill>
                          <a:latin typeface="DM Sans"/>
                        </a:rPr>
                        <a:t>175</a:t>
                      </a:r>
                    </a:p>
                  </a:txBody>
                  <a:tcPr marL="73152" marR="73152" marT="27432" marB="27432" anchor="ctr">
                    <a:solidFill>
                      <a:srgbClr val="FFFFFF"/>
                    </a:solidFill>
                  </a:tcPr>
                </a:tc>
                <a:tc>
                  <a:txBody>
                    <a:bodyPr wrap="square"/>
                    <a:lstStyle/>
                    <a:p>
                      <a:pPr algn="ctr"/>
                      <a:r>
                        <a:rPr sz="1200" b="0">
                          <a:solidFill>
                            <a:srgbClr val="434343"/>
                          </a:solidFill>
                          <a:latin typeface="DM Sans"/>
                        </a:rPr>
                        <a:t>895</a:t>
                      </a:r>
                    </a:p>
                  </a:txBody>
                  <a:tcPr marL="73152" marR="73152" marT="27432" marB="27432" anchor="ctr">
                    <a:solidFill>
                      <a:srgbClr val="FFFFFF"/>
                    </a:solidFill>
                  </a:tcPr>
                </a:tc>
                <a:tc>
                  <a:txBody>
                    <a:bodyPr wrap="square"/>
                    <a:lstStyle/>
                    <a:p>
                      <a:pPr algn="ctr"/>
                      <a:r>
                        <a:rPr sz="1200" b="0">
                          <a:solidFill>
                            <a:srgbClr val="434343"/>
                          </a:solidFill>
                          <a:latin typeface="DM Sans"/>
                        </a:rPr>
                        <a:t>Más memoria para el índice</a:t>
                      </a:r>
                    </a:p>
                  </a:txBody>
                  <a:tcPr marL="73152" marR="73152" marT="27432" marB="27432" anchor="ctr">
                    <a:solidFill>
                      <a:srgbClr val="FFFFFF"/>
                    </a:solidFill>
                  </a:tcPr>
                </a:tc>
              </a:tr>
              <a:tr h="402336">
                <a:tc>
                  <a:txBody>
                    <a:bodyPr wrap="square"/>
                    <a:lstStyle/>
                    <a:p>
                      <a:pPr algn="l"/>
                      <a:r>
                        <a:rPr sz="1200" b="1">
                          <a:solidFill>
                            <a:srgbClr val="434343"/>
                          </a:solidFill>
                          <a:latin typeface="DM Sans"/>
                        </a:rPr>
                        <a:t>Aurora</a:t>
                      </a:r>
                    </a:p>
                  </a:txBody>
                  <a:tcPr marL="73152" marR="73152" marT="27432" marB="27432" anchor="ctr">
                    <a:solidFill>
                      <a:srgbClr val="F4F0FC"/>
                    </a:solidFill>
                  </a:tcPr>
                </a:tc>
                <a:tc>
                  <a:txBody>
                    <a:bodyPr wrap="square"/>
                    <a:lstStyle/>
                    <a:p>
                      <a:pPr algn="ctr"/>
                      <a:r>
                        <a:rPr sz="1200" b="0">
                          <a:solidFill>
                            <a:srgbClr val="434343"/>
                          </a:solidFill>
                          <a:latin typeface="DM Sans"/>
                        </a:rPr>
                        <a:t>59 a 249</a:t>
                      </a:r>
                    </a:p>
                  </a:txBody>
                  <a:tcPr marL="73152" marR="73152" marT="27432" marB="27432" anchor="ctr">
                    <a:solidFill>
                      <a:srgbClr val="F4F0FC"/>
                    </a:solidFill>
                  </a:tcPr>
                </a:tc>
                <a:tc>
                  <a:txBody>
                    <a:bodyPr wrap="square"/>
                    <a:lstStyle/>
                    <a:p>
                      <a:pPr algn="ctr"/>
                      <a:r>
                        <a:rPr sz="1200" b="0">
                          <a:solidFill>
                            <a:srgbClr val="434343"/>
                          </a:solidFill>
                          <a:latin typeface="DM Sans"/>
                        </a:rPr>
                        <a:t>desde 614</a:t>
                      </a:r>
                    </a:p>
                  </a:txBody>
                  <a:tcPr marL="73152" marR="73152" marT="27432" marB="27432" anchor="ctr">
                    <a:solidFill>
                      <a:srgbClr val="F4F0FC"/>
                    </a:solidFill>
                  </a:tcPr>
                </a:tc>
                <a:tc>
                  <a:txBody>
                    <a:bodyPr wrap="square"/>
                    <a:lstStyle/>
                    <a:p>
                      <a:pPr algn="ctr"/>
                      <a:r>
                        <a:rPr sz="1200" b="0">
                          <a:solidFill>
                            <a:srgbClr val="434343"/>
                          </a:solidFill>
                          <a:latin typeface="DM Sans"/>
                        </a:rPr>
                        <a:t>más de 22.555*</a:t>
                      </a:r>
                    </a:p>
                  </a:txBody>
                  <a:tcPr marL="73152" marR="73152" marT="27432" marB="27432" anchor="ctr">
                    <a:solidFill>
                      <a:srgbClr val="F4F0FC"/>
                    </a:solidFill>
                  </a:tcPr>
                </a:tc>
                <a:tc>
                  <a:txBody>
                    <a:bodyPr wrap="square"/>
                    <a:lstStyle/>
                    <a:p>
                      <a:pPr algn="ctr"/>
                      <a:r>
                        <a:rPr sz="1200" b="0">
                          <a:solidFill>
                            <a:srgbClr val="434343"/>
                          </a:solidFill>
                          <a:latin typeface="DM Sans"/>
                        </a:rPr>
                        <a:t>Más memoria; con 100 millones no cabe*</a:t>
                      </a:r>
                    </a:p>
                  </a:txBody>
                  <a:tcPr marL="73152" marR="73152" marT="27432" marB="27432" anchor="ctr">
                    <a:solidFill>
                      <a:srgbClr val="F4F0FC"/>
                    </a:solidFill>
                  </a:tcPr>
                </a:tc>
              </a:tr>
            </a:tbl>
          </a:graphicData>
        </a:graphic>
      </p:graphicFrame>
      <p:sp>
        <p:nvSpPr>
          <p:cNvPr id="116" name="TextBox 115"/>
          <p:cNvSpPr txBox="1"/>
          <p:nvPr/>
        </p:nvSpPr>
        <p:spPr>
          <a:xfrm>
            <a:off x="640080" y="3401568"/>
            <a:ext cx="5486400" cy="2286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 No cabe en memoria ni con el máximo de Aurora (256 ACU)</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¿Se repite con las leyes chilenas?</a:t>
            </a:r>
            <a:endParaRPr b="1" i="0" sz="2900" u="none" cap="none" strike="noStrike">
              <a:solidFill>
                <a:srgbClr val="434343"/>
              </a:solidFill>
              <a:latin typeface="DM Sans ExtraBold"/>
              <a:ea typeface="DM Sans ExtraBold"/>
              <a:cs typeface="DM Sans ExtraBold"/>
              <a:sym typeface="DM Sans ExtraBold"/>
            </a:endParaRPr>
          </a:p>
        </p:txBody>
      </p:sp>
      <p:graphicFrame>
        <p:nvGraphicFramePr>
          <p:cNvPr id="114" name="Table 113"/>
          <p:cNvGraphicFramePr>
            <a:graphicFrameLocks noGrp="1"/>
          </p:cNvGraphicFramePr>
          <p:nvPr/>
        </p:nvGraphicFramePr>
        <p:xfrm>
          <a:off x="640080" y="1188720"/>
          <a:ext cx="7863840" cy="1920240"/>
        </p:xfrm>
        <a:graphic>
          <a:graphicData uri="http://schemas.openxmlformats.org/drawingml/2006/table">
            <a:tbl>
              <a:tblPr firstRow="1" bandRow="1">
                <a:tableStyleId>{5C22544A-7EE6-4342-B048-85BDC9FD1C3A}</a:tableStyleId>
              </a:tblPr>
              <a:tblGrid>
                <a:gridCol w="1463040"/>
                <a:gridCol w="1463040"/>
                <a:gridCol w="1463040"/>
                <a:gridCol w="1737360"/>
                <a:gridCol w="1737360"/>
              </a:tblGrid>
              <a:tr h="384048">
                <a:tc>
                  <a:txBody>
                    <a:bodyPr wrap="square"/>
                    <a:lstStyle/>
                    <a:p>
                      <a:pPr algn="l"/>
                      <a:r>
                        <a:rPr sz="1300" b="1">
                          <a:solidFill>
                            <a:srgbClr val="FFFFFF"/>
                          </a:solidFill>
                          <a:latin typeface="DM Sans"/>
                        </a:rPr>
                        <a:t/>
                      </a:r>
                    </a:p>
                  </a:txBody>
                  <a:tcPr marL="73152" marR="73152" marT="27432" marB="27432" anchor="ctr">
                    <a:solidFill>
                      <a:srgbClr val="A433F3"/>
                    </a:solidFill>
                  </a:tcPr>
                </a:tc>
                <a:tc>
                  <a:txBody>
                    <a:bodyPr wrap="square"/>
                    <a:lstStyle/>
                    <a:p>
                      <a:pPr algn="ctr"/>
                      <a:r>
                        <a:rPr sz="1300" b="1">
                          <a:solidFill>
                            <a:srgbClr val="FFFFFF"/>
                          </a:solidFill>
                          <a:latin typeface="DM Sans"/>
                        </a:rPr>
                        <a:t>Sin filtro</a:t>
                      </a:r>
                    </a:p>
                  </a:txBody>
                  <a:tcPr marL="73152" marR="73152" marT="27432" marB="27432" anchor="ctr">
                    <a:solidFill>
                      <a:srgbClr val="A433F3"/>
                    </a:solidFill>
                  </a:tcPr>
                </a:tc>
                <a:tc>
                  <a:txBody>
                    <a:bodyPr wrap="square"/>
                    <a:lstStyle/>
                    <a:p>
                      <a:pPr algn="ctr"/>
                      <a:r>
                        <a:rPr sz="1300" b="1">
                          <a:solidFill>
                            <a:srgbClr val="FFFFFF"/>
                          </a:solidFill>
                          <a:latin typeface="DM Sans"/>
                        </a:rPr>
                        <a:t>Con filtro</a:t>
                      </a:r>
                    </a:p>
                  </a:txBody>
                  <a:tcPr marL="73152" marR="73152" marT="27432" marB="27432" anchor="ctr">
                    <a:solidFill>
                      <a:srgbClr val="A433F3"/>
                    </a:solidFill>
                  </a:tcPr>
                </a:tc>
                <a:tc>
                  <a:txBody>
                    <a:bodyPr wrap="square"/>
                    <a:lstStyle/>
                    <a:p>
                      <a:pPr algn="ctr"/>
                      <a:r>
                        <a:rPr sz="1300" b="1">
                          <a:solidFill>
                            <a:srgbClr val="FFFFFF"/>
                          </a:solidFill>
                          <a:latin typeface="DM Sans"/>
                        </a:rPr>
                        <a:t>Acierto con filtro</a:t>
                      </a:r>
                    </a:p>
                  </a:txBody>
                  <a:tcPr marL="73152" marR="73152" marT="27432" marB="27432" anchor="ctr">
                    <a:solidFill>
                      <a:srgbClr val="A433F3"/>
                    </a:solidFill>
                  </a:tcPr>
                </a:tc>
                <a:tc>
                  <a:txBody>
                    <a:bodyPr wrap="square"/>
                    <a:lstStyle/>
                    <a:p>
                      <a:pPr algn="ctr"/>
                      <a:r>
                        <a:rPr sz="1300" b="1">
                          <a:solidFill>
                            <a:srgbClr val="FFFFFF"/>
                          </a:solidFill>
                          <a:latin typeface="DM Sans"/>
                        </a:rPr>
                        <a:t>Datos relacionados</a:t>
                      </a:r>
                    </a:p>
                  </a:txBody>
                  <a:tcPr marL="73152" marR="73152" marT="27432" marB="27432" anchor="ctr">
                    <a:solidFill>
                      <a:srgbClr val="A433F3"/>
                    </a:solidFill>
                  </a:tcPr>
                </a:tc>
              </a:tr>
              <a:tr h="384048">
                <a:tc>
                  <a:txBody>
                    <a:bodyPr wrap="square"/>
                    <a:lstStyle/>
                    <a:p>
                      <a:pPr algn="l"/>
                      <a:r>
                        <a:rPr sz="1300" b="1">
                          <a:solidFill>
                            <a:srgbClr val="434343"/>
                          </a:solidFill>
                          <a:latin typeface="DM Sans"/>
                        </a:rPr>
                        <a:t>Aurora</a:t>
                      </a:r>
                    </a:p>
                  </a:txBody>
                  <a:tcPr marL="73152" marR="73152" marT="27432" marB="27432" anchor="ctr">
                    <a:solidFill>
                      <a:srgbClr val="FFFFFF"/>
                    </a:solidFill>
                  </a:tcPr>
                </a:tc>
                <a:tc>
                  <a:txBody>
                    <a:bodyPr wrap="square"/>
                    <a:lstStyle/>
                    <a:p>
                      <a:pPr algn="ctr"/>
                      <a:r>
                        <a:rPr sz="1300" b="1">
                          <a:solidFill>
                            <a:srgbClr val="A433F3"/>
                          </a:solidFill>
                          <a:latin typeface="DM Sans"/>
                        </a:rPr>
                        <a:t>1,0 ms</a:t>
                      </a:r>
                    </a:p>
                  </a:txBody>
                  <a:tcPr marL="73152" marR="73152" marT="27432" marB="27432" anchor="ctr">
                    <a:solidFill>
                      <a:srgbClr val="FFFFFF"/>
                    </a:solidFill>
                  </a:tcPr>
                </a:tc>
                <a:tc>
                  <a:txBody>
                    <a:bodyPr wrap="square"/>
                    <a:lstStyle/>
                    <a:p>
                      <a:pPr algn="ctr"/>
                      <a:r>
                        <a:rPr sz="1300" b="1">
                          <a:solidFill>
                            <a:srgbClr val="A433F3"/>
                          </a:solidFill>
                          <a:latin typeface="DM Sans"/>
                        </a:rPr>
                        <a:t>4,6 ms</a:t>
                      </a:r>
                    </a:p>
                  </a:txBody>
                  <a:tcPr marL="73152" marR="73152" marT="27432" marB="27432" anchor="ctr">
                    <a:solidFill>
                      <a:srgbClr val="FFFFFF"/>
                    </a:solidFill>
                  </a:tcPr>
                </a:tc>
                <a:tc>
                  <a:txBody>
                    <a:bodyPr wrap="square"/>
                    <a:lstStyle/>
                    <a:p>
                      <a:pPr algn="ctr"/>
                      <a:r>
                        <a:rPr sz="1300" b="0">
                          <a:solidFill>
                            <a:srgbClr val="434343"/>
                          </a:solidFill>
                          <a:latin typeface="DM Sans"/>
                        </a:rPr>
                        <a:t>100,0%</a:t>
                      </a:r>
                    </a:p>
                  </a:txBody>
                  <a:tcPr marL="73152" marR="73152" marT="27432" marB="27432" anchor="ctr">
                    <a:solidFill>
                      <a:srgbClr val="FFFFFF"/>
                    </a:solidFill>
                  </a:tcPr>
                </a:tc>
                <a:tc>
                  <a:txBody>
                    <a:bodyPr wrap="square"/>
                    <a:lstStyle/>
                    <a:p>
                      <a:pPr algn="ctr"/>
                      <a:r>
                        <a:rPr sz="1300" b="1">
                          <a:solidFill>
                            <a:srgbClr val="A433F3"/>
                          </a:solidFill>
                          <a:latin typeface="DM Sans"/>
                        </a:rPr>
                        <a:t>1,0 ms</a:t>
                      </a:r>
                    </a:p>
                  </a:txBody>
                  <a:tcPr marL="73152" marR="73152" marT="27432" marB="27432" anchor="ctr">
                    <a:solidFill>
                      <a:srgbClr val="FFFFFF"/>
                    </a:solidFill>
                  </a:tcPr>
                </a:tc>
              </a:tr>
              <a:tr h="384048">
                <a:tc>
                  <a:txBody>
                    <a:bodyPr wrap="square"/>
                    <a:lstStyle/>
                    <a:p>
                      <a:pPr algn="l"/>
                      <a:r>
                        <a:rPr sz="1300" b="1">
                          <a:solidFill>
                            <a:srgbClr val="434343"/>
                          </a:solidFill>
                          <a:latin typeface="DM Sans"/>
                        </a:rPr>
                        <a:t>DynamoDB</a:t>
                      </a:r>
                    </a:p>
                  </a:txBody>
                  <a:tcPr marL="73152" marR="73152" marT="27432" marB="27432" anchor="ctr">
                    <a:solidFill>
                      <a:srgbClr val="F4F0FC"/>
                    </a:solidFill>
                  </a:tcPr>
                </a:tc>
                <a:tc>
                  <a:txBody>
                    <a:bodyPr wrap="square"/>
                    <a:lstStyle/>
                    <a:p>
                      <a:pPr algn="ctr"/>
                      <a:r>
                        <a:rPr sz="1300" b="0">
                          <a:solidFill>
                            <a:srgbClr val="434343"/>
                          </a:solidFill>
                          <a:latin typeface="DM Sans"/>
                        </a:rPr>
                        <a:t>9,8 ms</a:t>
                      </a:r>
                    </a:p>
                  </a:txBody>
                  <a:tcPr marL="73152" marR="73152" marT="27432" marB="27432" anchor="ctr">
                    <a:solidFill>
                      <a:srgbClr val="F4F0FC"/>
                    </a:solidFill>
                  </a:tcPr>
                </a:tc>
                <a:tc>
                  <a:txBody>
                    <a:bodyPr wrap="square"/>
                    <a:lstStyle/>
                    <a:p>
                      <a:pPr algn="ctr"/>
                      <a:r>
                        <a:rPr sz="1300" b="0">
                          <a:solidFill>
                            <a:srgbClr val="434343"/>
                          </a:solidFill>
                          <a:latin typeface="DM Sans"/>
                        </a:rPr>
                        <a:t>12,1 ms</a:t>
                      </a:r>
                    </a:p>
                  </a:txBody>
                  <a:tcPr marL="73152" marR="73152" marT="27432" marB="27432" anchor="ctr">
                    <a:solidFill>
                      <a:srgbClr val="F4F0FC"/>
                    </a:solidFill>
                  </a:tcPr>
                </a:tc>
                <a:tc>
                  <a:txBody>
                    <a:bodyPr wrap="square"/>
                    <a:lstStyle/>
                    <a:p>
                      <a:pPr algn="ctr"/>
                      <a:r>
                        <a:rPr sz="1300" b="1">
                          <a:solidFill>
                            <a:srgbClr val="A433F3"/>
                          </a:solidFill>
                          <a:latin typeface="DM Sans"/>
                        </a:rPr>
                        <a:t>100,0%</a:t>
                      </a:r>
                    </a:p>
                  </a:txBody>
                  <a:tcPr marL="73152" marR="73152" marT="27432" marB="27432" anchor="ctr">
                    <a:solidFill>
                      <a:srgbClr val="F4F0FC"/>
                    </a:solidFill>
                  </a:tcPr>
                </a:tc>
                <a:tc>
                  <a:txBody>
                    <a:bodyPr wrap="square"/>
                    <a:lstStyle/>
                    <a:p>
                      <a:pPr algn="ctr"/>
                      <a:r>
                        <a:rPr sz="1300" b="0">
                          <a:solidFill>
                            <a:srgbClr val="434343"/>
                          </a:solidFill>
                          <a:latin typeface="DM Sans"/>
                        </a:rPr>
                        <a:t>13,1 ms</a:t>
                      </a:r>
                    </a:p>
                  </a:txBody>
                  <a:tcPr marL="73152" marR="73152" marT="27432" marB="27432" anchor="ctr">
                    <a:solidFill>
                      <a:srgbClr val="F4F0FC"/>
                    </a:solidFill>
                  </a:tcPr>
                </a:tc>
              </a:tr>
              <a:tr h="384048">
                <a:tc>
                  <a:txBody>
                    <a:bodyPr wrap="square"/>
                    <a:lstStyle/>
                    <a:p>
                      <a:pPr algn="l"/>
                      <a:r>
                        <a:rPr sz="1300" b="1">
                          <a:solidFill>
                            <a:srgbClr val="434343"/>
                          </a:solidFill>
                          <a:latin typeface="DM Sans"/>
                        </a:rPr>
                        <a:t>OpenSearch</a:t>
                      </a:r>
                    </a:p>
                  </a:txBody>
                  <a:tcPr marL="73152" marR="73152" marT="27432" marB="27432" anchor="ctr">
                    <a:solidFill>
                      <a:srgbClr val="FFFFFF"/>
                    </a:solidFill>
                  </a:tcPr>
                </a:tc>
                <a:tc>
                  <a:txBody>
                    <a:bodyPr wrap="square"/>
                    <a:lstStyle/>
                    <a:p>
                      <a:pPr algn="ctr"/>
                      <a:r>
                        <a:rPr sz="1300" b="0">
                          <a:solidFill>
                            <a:srgbClr val="434343"/>
                          </a:solidFill>
                          <a:latin typeface="DM Sans"/>
                        </a:rPr>
                        <a:t>26,5 ms</a:t>
                      </a:r>
                    </a:p>
                  </a:txBody>
                  <a:tcPr marL="73152" marR="73152" marT="27432" marB="27432" anchor="ctr">
                    <a:solidFill>
                      <a:srgbClr val="FFFFFF"/>
                    </a:solidFill>
                  </a:tcPr>
                </a:tc>
                <a:tc>
                  <a:txBody>
                    <a:bodyPr wrap="square"/>
                    <a:lstStyle/>
                    <a:p>
                      <a:pPr algn="ctr"/>
                      <a:r>
                        <a:rPr sz="1300" b="0">
                          <a:solidFill>
                            <a:srgbClr val="434343"/>
                          </a:solidFill>
                          <a:latin typeface="DM Sans"/>
                        </a:rPr>
                        <a:t>23,9 ms</a:t>
                      </a:r>
                    </a:p>
                  </a:txBody>
                  <a:tcPr marL="73152" marR="73152" marT="27432" marB="27432" anchor="ctr">
                    <a:solidFill>
                      <a:srgbClr val="FFFFFF"/>
                    </a:solidFill>
                  </a:tcPr>
                </a:tc>
                <a:tc>
                  <a:txBody>
                    <a:bodyPr wrap="square"/>
                    <a:lstStyle/>
                    <a:p>
                      <a:pPr algn="ctr"/>
                      <a:r>
                        <a:rPr sz="1300" b="0">
                          <a:solidFill>
                            <a:srgbClr val="434343"/>
                          </a:solidFill>
                          <a:latin typeface="DM Sans"/>
                        </a:rPr>
                        <a:t>100,0%</a:t>
                      </a:r>
                    </a:p>
                  </a:txBody>
                  <a:tcPr marL="73152" marR="73152" marT="27432" marB="27432" anchor="ctr">
                    <a:solidFill>
                      <a:srgbClr val="FFFFFF"/>
                    </a:solidFill>
                  </a:tcPr>
                </a:tc>
                <a:tc>
                  <a:txBody>
                    <a:bodyPr wrap="square"/>
                    <a:lstStyle/>
                    <a:p>
                      <a:pPr algn="ctr"/>
                      <a:r>
                        <a:rPr sz="1300" b="0">
                          <a:solidFill>
                            <a:srgbClr val="434343"/>
                          </a:solidFill>
                          <a:latin typeface="DM Sans"/>
                        </a:rPr>
                        <a:t>34,0 ms</a:t>
                      </a:r>
                    </a:p>
                  </a:txBody>
                  <a:tcPr marL="73152" marR="73152" marT="27432" marB="27432" anchor="ctr">
                    <a:solidFill>
                      <a:srgbClr val="FFFFFF"/>
                    </a:solidFill>
                  </a:tcPr>
                </a:tc>
              </a:tr>
              <a:tr h="384048">
                <a:tc>
                  <a:txBody>
                    <a:bodyPr wrap="square"/>
                    <a:lstStyle/>
                    <a:p>
                      <a:pPr algn="l"/>
                      <a:r>
                        <a:rPr sz="1300" b="1">
                          <a:solidFill>
                            <a:srgbClr val="434343"/>
                          </a:solidFill>
                          <a:latin typeface="DM Sans"/>
                        </a:rPr>
                        <a:t>S3 Vectors</a:t>
                      </a:r>
                    </a:p>
                  </a:txBody>
                  <a:tcPr marL="73152" marR="73152" marT="27432" marB="27432" anchor="ctr">
                    <a:solidFill>
                      <a:srgbClr val="F4F0FC"/>
                    </a:solidFill>
                  </a:tcPr>
                </a:tc>
                <a:tc>
                  <a:txBody>
                    <a:bodyPr wrap="square"/>
                    <a:lstStyle/>
                    <a:p>
                      <a:pPr algn="ctr"/>
                      <a:r>
                        <a:rPr sz="1300" b="0">
                          <a:solidFill>
                            <a:srgbClr val="434343"/>
                          </a:solidFill>
                          <a:latin typeface="DM Sans"/>
                        </a:rPr>
                        <a:t>62,6 ms</a:t>
                      </a:r>
                    </a:p>
                  </a:txBody>
                  <a:tcPr marL="73152" marR="73152" marT="27432" marB="27432" anchor="ctr">
                    <a:solidFill>
                      <a:srgbClr val="F4F0FC"/>
                    </a:solidFill>
                  </a:tcPr>
                </a:tc>
                <a:tc>
                  <a:txBody>
                    <a:bodyPr wrap="square"/>
                    <a:lstStyle/>
                    <a:p>
                      <a:pPr algn="ctr"/>
                      <a:r>
                        <a:rPr sz="1300" b="0">
                          <a:solidFill>
                            <a:srgbClr val="434343"/>
                          </a:solidFill>
                          <a:latin typeface="DM Sans"/>
                        </a:rPr>
                        <a:t>62,5 ms</a:t>
                      </a:r>
                    </a:p>
                  </a:txBody>
                  <a:tcPr marL="73152" marR="73152" marT="27432" marB="27432" anchor="ctr">
                    <a:solidFill>
                      <a:srgbClr val="F4F0FC"/>
                    </a:solidFill>
                  </a:tcPr>
                </a:tc>
                <a:tc>
                  <a:txBody>
                    <a:bodyPr wrap="square"/>
                    <a:lstStyle/>
                    <a:p>
                      <a:pPr algn="ctr"/>
                      <a:r>
                        <a:rPr sz="1300" b="0">
                          <a:solidFill>
                            <a:srgbClr val="434343"/>
                          </a:solidFill>
                          <a:latin typeface="DM Sans"/>
                        </a:rPr>
                        <a:t>95,9%</a:t>
                      </a:r>
                    </a:p>
                  </a:txBody>
                  <a:tcPr marL="73152" marR="73152" marT="27432" marB="27432" anchor="ctr">
                    <a:solidFill>
                      <a:srgbClr val="F4F0FC"/>
                    </a:solidFill>
                  </a:tcPr>
                </a:tc>
                <a:tc>
                  <a:txBody>
                    <a:bodyPr wrap="square"/>
                    <a:lstStyle/>
                    <a:p>
                      <a:pPr algn="ctr"/>
                      <a:r>
                        <a:rPr sz="1300" b="0">
                          <a:solidFill>
                            <a:srgbClr val="434343"/>
                          </a:solidFill>
                          <a:latin typeface="DM Sans"/>
                        </a:rPr>
                        <a:t>66,2 ms</a:t>
                      </a:r>
                    </a:p>
                  </a:txBody>
                  <a:tcPr marL="73152" marR="73152" marT="27432" marB="27432" anchor="ctr">
                    <a:solidFill>
                      <a:srgbClr val="F4F0FC"/>
                    </a:solidFill>
                  </a:tcPr>
                </a:tc>
              </a:tr>
            </a:tbl>
          </a:graphicData>
        </a:graphic>
      </p:graphicFrame>
      <p:sp>
        <p:nvSpPr>
          <p:cNvPr id="115" name="TextBox 114"/>
          <p:cNvSpPr txBox="1"/>
          <p:nvPr/>
        </p:nvSpPr>
        <p:spPr>
          <a:xfrm>
            <a:off x="640080" y="3200400"/>
            <a:ext cx="4023360" cy="548640"/>
          </a:xfrm>
          <a:prstGeom prst="rect">
            <a:avLst/>
          </a:prstGeom>
          <a:noFill/>
        </p:spPr>
        <p:txBody>
          <a:bodyPr wrap="square" anchor="t" lIns="0" rIns="0" tIns="0" bIns="0">
            <a:spAutoFit/>
          </a:bodyPr>
          <a:lstStyle/>
          <a:p>
            <a:pPr algn="l">
              <a:spcAft>
                <a:spcPts val="400"/>
              </a:spcAft>
            </a:pPr>
            <a:r>
              <a:rPr sz="1200" b="1">
                <a:solidFill>
                  <a:srgbClr val="434343"/>
                </a:solidFill>
                <a:latin typeface="DM Sans"/>
              </a:rPr>
              <a:t>El orden se repite. </a:t>
            </a:r>
            <a:r>
              <a:rPr sz="1200" b="0">
                <a:solidFill>
                  <a:srgbClr val="434343"/>
                </a:solidFill>
                <a:latin typeface="DM Sans"/>
              </a:rPr>
              <a:t>Pero aquí DynamoDB filtra con 100,0% de acierto, frente a 89,9% en Stack Overflow.</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2" name="Google Shape;102;p17"/>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Las cinco respuestas</a:t>
            </a:r>
            <a:endParaRPr b="1" i="0" sz="2900" u="none" cap="none" strike="noStrike">
              <a:solidFill>
                <a:srgbClr val="FFFFFF"/>
              </a:solidFill>
              <a:latin typeface="DM Sans ExtraBold"/>
              <a:ea typeface="DM Sans ExtraBold"/>
              <a:cs typeface="DM Sans ExtraBold"/>
              <a:sym typeface="DM Sans ExtraBold"/>
            </a:endParaRPr>
          </a:p>
        </p:txBody>
      </p:sp>
      <p:pic>
        <p:nvPicPr>
          <p:cNvPr id="103" name="Google Shape;103;p17"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05" name="Google Shape;105;p17"/>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06" name="Table 105"/>
          <p:cNvGraphicFramePr>
            <a:graphicFrameLocks noGrp="1"/>
          </p:cNvGraphicFramePr>
          <p:nvPr/>
        </p:nvGraphicFramePr>
        <p:xfrm>
          <a:off x="640080" y="1325880"/>
          <a:ext cx="7863840" cy="2304288"/>
        </p:xfrm>
        <a:graphic>
          <a:graphicData uri="http://schemas.openxmlformats.org/drawingml/2006/table">
            <a:tbl>
              <a:tblPr firstRow="1" bandRow="1">
                <a:tableStyleId>{5C22544A-7EE6-4342-B048-85BDC9FD1C3A}</a:tableStyleId>
              </a:tblPr>
              <a:tblGrid>
                <a:gridCol w="2103120"/>
                <a:gridCol w="2103120"/>
                <a:gridCol w="3657600"/>
              </a:tblGrid>
              <a:tr h="384048">
                <a:tc>
                  <a:txBody>
                    <a:bodyPr wrap="square"/>
                    <a:lstStyle/>
                    <a:p>
                      <a:pPr algn="l"/>
                      <a:r>
                        <a:rPr sz="1300" b="1">
                          <a:solidFill>
                            <a:srgbClr val="FFFFFF"/>
                          </a:solidFill>
                          <a:latin typeface="DM Sans"/>
                        </a:rPr>
                        <a:t>Si necesitas…</a:t>
                      </a:r>
                    </a:p>
                  </a:txBody>
                  <a:tcPr marL="73152" marR="73152" marT="27432" marB="27432" anchor="ctr">
                    <a:solidFill>
                      <a:srgbClr val="D054FC"/>
                    </a:solidFill>
                  </a:tcPr>
                </a:tc>
                <a:tc>
                  <a:txBody>
                    <a:bodyPr wrap="square"/>
                    <a:lstStyle/>
                    <a:p>
                      <a:pPr algn="ctr"/>
                      <a:r>
                        <a:rPr sz="1300" b="1">
                          <a:solidFill>
                            <a:srgbClr val="FFFFFF"/>
                          </a:solidFill>
                          <a:latin typeface="DM Sans"/>
                        </a:rPr>
                        <a:t>Usa</a:t>
                      </a:r>
                    </a:p>
                  </a:txBody>
                  <a:tcPr marL="73152" marR="73152" marT="27432" marB="27432" anchor="ctr">
                    <a:solidFill>
                      <a:srgbClr val="D054FC"/>
                    </a:solidFill>
                  </a:tcPr>
                </a:tc>
                <a:tc>
                  <a:txBody>
                    <a:bodyPr wrap="square"/>
                    <a:lstStyle/>
                    <a:p>
                      <a:pPr algn="ctr"/>
                      <a:r>
                        <a:rPr sz="1300" b="1">
                          <a:solidFill>
                            <a:srgbClr val="FFFFFF"/>
                          </a:solidFill>
                          <a:latin typeface="DM Sans"/>
                        </a:rPr>
                        <a:t>Por qué</a:t>
                      </a:r>
                    </a:p>
                  </a:txBody>
                  <a:tcPr marL="73152" marR="73152" marT="27432" marB="27432" anchor="ctr">
                    <a:solidFill>
                      <a:srgbClr val="D054FC"/>
                    </a:solidFill>
                  </a:tcPr>
                </a:tc>
              </a:tr>
              <a:tr h="384048">
                <a:tc>
                  <a:txBody>
                    <a:bodyPr wrap="square"/>
                    <a:lstStyle/>
                    <a:p>
                      <a:pPr algn="l"/>
                      <a:r>
                        <a:rPr sz="1300" b="1">
                          <a:solidFill>
                            <a:srgbClr val="FFFFFF"/>
                          </a:solidFill>
                          <a:latin typeface="DM Sans"/>
                        </a:rPr>
                        <a:t>Velocidad</a:t>
                      </a:r>
                    </a:p>
                  </a:txBody>
                  <a:tcPr marL="73152" marR="73152" marT="27432" marB="27432" anchor="ctr">
                    <a:solidFill>
                      <a:srgbClr val="2A2160"/>
                    </a:solidFill>
                  </a:tcPr>
                </a:tc>
                <a:tc>
                  <a:txBody>
                    <a:bodyPr wrap="square"/>
                    <a:lstStyle/>
                    <a:p>
                      <a:pPr algn="ctr"/>
                      <a:r>
                        <a:rPr sz="1300" b="0">
                          <a:solidFill>
                            <a:srgbClr val="FFFFFF"/>
                          </a:solidFill>
                          <a:latin typeface="DM Sans"/>
                        </a:rPr>
                        <a:t>Aurora</a:t>
                      </a:r>
                    </a:p>
                  </a:txBody>
                  <a:tcPr marL="73152" marR="73152" marT="27432" marB="27432" anchor="ctr">
                    <a:solidFill>
                      <a:srgbClr val="2A2160"/>
                    </a:solidFill>
                  </a:tcPr>
                </a:tc>
                <a:tc>
                  <a:txBody>
                    <a:bodyPr wrap="square"/>
                    <a:lstStyle/>
                    <a:p>
                      <a:pPr algn="ctr"/>
                      <a:r>
                        <a:rPr sz="1300" b="0">
                          <a:solidFill>
                            <a:srgbClr val="FFFFFF"/>
                          </a:solidFill>
                          <a:latin typeface="DM Sans"/>
                        </a:rPr>
                        <a:t>1,3 ms, encendida</a:t>
                      </a:r>
                    </a:p>
                  </a:txBody>
                  <a:tcPr marL="73152" marR="73152" marT="27432" marB="27432" anchor="ctr">
                    <a:solidFill>
                      <a:srgbClr val="2A2160"/>
                    </a:solidFill>
                  </a:tcPr>
                </a:tc>
              </a:tr>
              <a:tr h="384048">
                <a:tc>
                  <a:txBody>
                    <a:bodyPr wrap="square"/>
                    <a:lstStyle/>
                    <a:p>
                      <a:pPr algn="l"/>
                      <a:r>
                        <a:rPr sz="1300" b="1">
                          <a:solidFill>
                            <a:srgbClr val="FFFFFF"/>
                          </a:solidFill>
                          <a:latin typeface="DM Sans"/>
                        </a:rPr>
                        <a:t>Filtrar</a:t>
                      </a:r>
                    </a:p>
                  </a:txBody>
                  <a:tcPr marL="73152" marR="73152" marT="27432" marB="27432" anchor="ctr">
                    <a:solidFill>
                      <a:srgbClr val="352A75"/>
                    </a:solidFill>
                  </a:tcPr>
                </a:tc>
                <a:tc>
                  <a:txBody>
                    <a:bodyPr wrap="square"/>
                    <a:lstStyle/>
                    <a:p>
                      <a:pPr algn="ctr"/>
                      <a:r>
                        <a:rPr sz="1300" b="0">
                          <a:solidFill>
                            <a:srgbClr val="FFFFFF"/>
                          </a:solidFill>
                          <a:latin typeface="DM Sans"/>
                        </a:rPr>
                        <a:t>OpenSearch</a:t>
                      </a:r>
                    </a:p>
                  </a:txBody>
                  <a:tcPr marL="73152" marR="73152" marT="27432" marB="27432" anchor="ctr">
                    <a:solidFill>
                      <a:srgbClr val="352A75"/>
                    </a:solidFill>
                  </a:tcPr>
                </a:tc>
                <a:tc>
                  <a:txBody>
                    <a:bodyPr wrap="square"/>
                    <a:lstStyle/>
                    <a:p>
                      <a:pPr algn="ctr"/>
                      <a:r>
                        <a:rPr sz="1300" b="0">
                          <a:solidFill>
                            <a:srgbClr val="FFFFFF"/>
                          </a:solidFill>
                          <a:latin typeface="DM Sans"/>
                        </a:rPr>
                        <a:t>99,96% de acierto en 30,9 ms</a:t>
                      </a:r>
                    </a:p>
                  </a:txBody>
                  <a:tcPr marL="73152" marR="73152" marT="27432" marB="27432" anchor="ctr">
                    <a:solidFill>
                      <a:srgbClr val="352A75"/>
                    </a:solidFill>
                  </a:tcPr>
                </a:tc>
              </a:tr>
              <a:tr h="384048">
                <a:tc>
                  <a:txBody>
                    <a:bodyPr wrap="square"/>
                    <a:lstStyle/>
                    <a:p>
                      <a:pPr algn="l"/>
                      <a:r>
                        <a:rPr sz="1300" b="1">
                          <a:solidFill>
                            <a:srgbClr val="FFFFFF"/>
                          </a:solidFill>
                          <a:latin typeface="DM Sans"/>
                        </a:rPr>
                        <a:t>Datos de otra tabla</a:t>
                      </a:r>
                    </a:p>
                  </a:txBody>
                  <a:tcPr marL="73152" marR="73152" marT="27432" marB="27432" anchor="ctr">
                    <a:solidFill>
                      <a:srgbClr val="2A2160"/>
                    </a:solidFill>
                  </a:tcPr>
                </a:tc>
                <a:tc>
                  <a:txBody>
                    <a:bodyPr wrap="square"/>
                    <a:lstStyle/>
                    <a:p>
                      <a:pPr algn="ctr"/>
                      <a:r>
                        <a:rPr sz="1300" b="0">
                          <a:solidFill>
                            <a:srgbClr val="FFFFFF"/>
                          </a:solidFill>
                          <a:latin typeface="DM Sans"/>
                        </a:rPr>
                        <a:t>Aurora</a:t>
                      </a:r>
                    </a:p>
                  </a:txBody>
                  <a:tcPr marL="73152" marR="73152" marT="27432" marB="27432" anchor="ctr">
                    <a:solidFill>
                      <a:srgbClr val="2A2160"/>
                    </a:solidFill>
                  </a:tcPr>
                </a:tc>
                <a:tc>
                  <a:txBody>
                    <a:bodyPr wrap="square"/>
                    <a:lstStyle/>
                    <a:p>
                      <a:pPr algn="ctr"/>
                      <a:r>
                        <a:rPr sz="1300" b="0">
                          <a:solidFill>
                            <a:srgbClr val="FFFFFF"/>
                          </a:solidFill>
                          <a:latin typeface="DM Sans"/>
                        </a:rPr>
                        <a:t>Un JOIN suma 0,2 ms</a:t>
                      </a:r>
                    </a:p>
                  </a:txBody>
                  <a:tcPr marL="73152" marR="73152" marT="27432" marB="27432" anchor="ctr">
                    <a:solidFill>
                      <a:srgbClr val="2A2160"/>
                    </a:solidFill>
                  </a:tcPr>
                </a:tc>
              </a:tr>
              <a:tr h="384048">
                <a:tc>
                  <a:txBody>
                    <a:bodyPr wrap="square"/>
                    <a:lstStyle/>
                    <a:p>
                      <a:pPr algn="l"/>
                      <a:r>
                        <a:rPr sz="1300" b="1">
                          <a:solidFill>
                            <a:srgbClr val="FFFFFF"/>
                          </a:solidFill>
                          <a:latin typeface="DM Sans"/>
                        </a:rPr>
                        <a:t>Arrancar sin espera</a:t>
                      </a:r>
                    </a:p>
                  </a:txBody>
                  <a:tcPr marL="73152" marR="73152" marT="27432" marB="27432" anchor="ctr">
                    <a:solidFill>
                      <a:srgbClr val="352A75"/>
                    </a:solidFill>
                  </a:tcPr>
                </a:tc>
                <a:tc>
                  <a:txBody>
                    <a:bodyPr wrap="square"/>
                    <a:lstStyle/>
                    <a:p>
                      <a:pPr algn="ctr"/>
                      <a:r>
                        <a:rPr sz="1300" b="0">
                          <a:solidFill>
                            <a:srgbClr val="FFFFFF"/>
                          </a:solidFill>
                          <a:latin typeface="DM Sans"/>
                        </a:rPr>
                        <a:t>DynamoDB y S3 Vectors</a:t>
                      </a:r>
                    </a:p>
                  </a:txBody>
                  <a:tcPr marL="73152" marR="73152" marT="27432" marB="27432" anchor="ctr">
                    <a:solidFill>
                      <a:srgbClr val="352A75"/>
                    </a:solidFill>
                  </a:tcPr>
                </a:tc>
                <a:tc>
                  <a:txBody>
                    <a:bodyPr wrap="square"/>
                    <a:lstStyle/>
                    <a:p>
                      <a:pPr algn="ctr"/>
                      <a:r>
                        <a:rPr sz="1300" b="0">
                          <a:solidFill>
                            <a:srgbClr val="FFFFFF"/>
                          </a:solidFill>
                          <a:latin typeface="DM Sans"/>
                        </a:rPr>
                        <a:t>87 y 89 ms tras la pausa</a:t>
                      </a:r>
                    </a:p>
                  </a:txBody>
                  <a:tcPr marL="73152" marR="73152" marT="27432" marB="27432" anchor="ctr">
                    <a:solidFill>
                      <a:srgbClr val="352A75"/>
                    </a:solidFill>
                  </a:tcPr>
                </a:tc>
              </a:tr>
              <a:tr h="384048">
                <a:tc>
                  <a:txBody>
                    <a:bodyPr wrap="square"/>
                    <a:lstStyle/>
                    <a:p>
                      <a:pPr algn="l"/>
                      <a:r>
                        <a:rPr sz="1300" b="1">
                          <a:solidFill>
                            <a:srgbClr val="FFFFFF"/>
                          </a:solidFill>
                          <a:latin typeface="DM Sans"/>
                        </a:rPr>
                        <a:t>Gastar poco</a:t>
                      </a:r>
                    </a:p>
                  </a:txBody>
                  <a:tcPr marL="73152" marR="73152" marT="27432" marB="27432" anchor="ctr">
                    <a:solidFill>
                      <a:srgbClr val="2A2160"/>
                    </a:solidFill>
                  </a:tcPr>
                </a:tc>
                <a:tc>
                  <a:txBody>
                    <a:bodyPr wrap="square"/>
                    <a:lstStyle/>
                    <a:p>
                      <a:pPr algn="ctr"/>
                      <a:r>
                        <a:rPr sz="1300" b="0">
                          <a:solidFill>
                            <a:srgbClr val="FFFFFF"/>
                          </a:solidFill>
                          <a:latin typeface="DM Sans"/>
                        </a:rPr>
                        <a:t>DynamoDB y S3 Vectors</a:t>
                      </a:r>
                    </a:p>
                  </a:txBody>
                  <a:tcPr marL="73152" marR="73152" marT="27432" marB="27432" anchor="ctr">
                    <a:solidFill>
                      <a:srgbClr val="2A2160"/>
                    </a:solidFill>
                  </a:tcPr>
                </a:tc>
                <a:tc>
                  <a:txBody>
                    <a:bodyPr wrap="square"/>
                    <a:lstStyle/>
                    <a:p>
                      <a:pPr algn="ctr"/>
                      <a:r>
                        <a:rPr sz="1300" b="0">
                          <a:solidFill>
                            <a:srgbClr val="FFFFFF"/>
                          </a:solidFill>
                          <a:latin typeface="DM Sans"/>
                        </a:rPr>
                        <a:t>Sin mínimo mensual</a:t>
                      </a:r>
                    </a:p>
                  </a:txBody>
                  <a:tcPr marL="73152" marR="73152" marT="27432" marB="27432" anchor="ctr">
                    <a:solidFill>
                      <a:srgbClr val="2A2160"/>
                    </a:solidFill>
                  </a:tcPr>
                </a:tc>
              </a:tr>
            </a:tbl>
          </a:graphicData>
        </a:graphic>
      </p:graphicFrame>
      <p:sp>
        <p:nvSpPr>
          <p:cNvPr id="107" name="TextBox 106"/>
          <p:cNvSpPr txBox="1"/>
          <p:nvPr/>
        </p:nvSpPr>
        <p:spPr>
          <a:xfrm>
            <a:off x="685800" y="1024128"/>
            <a:ext cx="7772400" cy="228600"/>
          </a:xfrm>
          <a:prstGeom prst="rect">
            <a:avLst/>
          </a:prstGeom>
          <a:noFill/>
        </p:spPr>
        <p:txBody>
          <a:bodyPr wrap="square" anchor="t" lIns="0" rIns="0" tIns="0" bIns="0">
            <a:spAutoFit/>
          </a:bodyPr>
          <a:lstStyle/>
          <a:p>
            <a:pPr algn="ctr">
              <a:spcAft>
                <a:spcPts val="400"/>
              </a:spcAft>
            </a:pPr>
            <a:r>
              <a:rPr sz="1400" b="1">
                <a:solidFill>
                  <a:srgbClr val="E6DFFF"/>
                </a:solidFill>
                <a:latin typeface="DM Sans"/>
              </a:rPr>
              <a:t>Ninguna gana todo</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2" name="Google Shape;102;p17"/>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Las promesas, revisadas</a:t>
            </a:r>
            <a:endParaRPr b="1" i="0" sz="2900" u="none" cap="none" strike="noStrike">
              <a:solidFill>
                <a:srgbClr val="FFFFFF"/>
              </a:solidFill>
              <a:latin typeface="DM Sans ExtraBold"/>
              <a:ea typeface="DM Sans ExtraBold"/>
              <a:cs typeface="DM Sans ExtraBold"/>
              <a:sym typeface="DM Sans ExtraBold"/>
            </a:endParaRPr>
          </a:p>
        </p:txBody>
      </p:sp>
      <p:pic>
        <p:nvPicPr>
          <p:cNvPr id="103" name="Google Shape;103;p17"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05" name="Google Shape;105;p17"/>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06" name="Table 105"/>
          <p:cNvGraphicFramePr>
            <a:graphicFrameLocks noGrp="1"/>
          </p:cNvGraphicFramePr>
          <p:nvPr/>
        </p:nvGraphicFramePr>
        <p:xfrm>
          <a:off x="640080" y="1325880"/>
          <a:ext cx="7863840" cy="2194560"/>
        </p:xfrm>
        <a:graphic>
          <a:graphicData uri="http://schemas.openxmlformats.org/drawingml/2006/table">
            <a:tbl>
              <a:tblPr firstRow="1" bandRow="1">
                <a:tableStyleId>{5C22544A-7EE6-4342-B048-85BDC9FD1C3A}</a:tableStyleId>
              </a:tblPr>
              <a:tblGrid>
                <a:gridCol w="1280160"/>
                <a:gridCol w="2286000"/>
                <a:gridCol w="4297680"/>
              </a:tblGrid>
              <a:tr h="438912">
                <a:tc>
                  <a:txBody>
                    <a:bodyPr wrap="square"/>
                    <a:lstStyle/>
                    <a:p>
                      <a:pPr algn="l"/>
                      <a:r>
                        <a:rPr sz="1200" b="1">
                          <a:solidFill>
                            <a:srgbClr val="FFFFFF"/>
                          </a:solidFill>
                          <a:latin typeface="DM Sans"/>
                        </a:rPr>
                        <a:t/>
                      </a:r>
                    </a:p>
                  </a:txBody>
                  <a:tcPr marL="73152" marR="73152" marT="27432" marB="27432" anchor="ctr">
                    <a:solidFill>
                      <a:srgbClr val="D054FC"/>
                    </a:solidFill>
                  </a:tcPr>
                </a:tc>
                <a:tc>
                  <a:txBody>
                    <a:bodyPr wrap="square"/>
                    <a:lstStyle/>
                    <a:p>
                      <a:pPr algn="ctr"/>
                      <a:r>
                        <a:rPr sz="1200" b="1">
                          <a:solidFill>
                            <a:srgbClr val="FFFFFF"/>
                          </a:solidFill>
                          <a:latin typeface="DM Sans"/>
                        </a:rPr>
                        <a:t>Promesa</a:t>
                      </a:r>
                    </a:p>
                  </a:txBody>
                  <a:tcPr marL="73152" marR="73152" marT="27432" marB="27432" anchor="ctr">
                    <a:solidFill>
                      <a:srgbClr val="D054FC"/>
                    </a:solidFill>
                  </a:tcPr>
                </a:tc>
                <a:tc>
                  <a:txBody>
                    <a:bodyPr wrap="square"/>
                    <a:lstStyle/>
                    <a:p>
                      <a:pPr algn="ctr"/>
                      <a:r>
                        <a:rPr sz="1200" b="1">
                          <a:solidFill>
                            <a:srgbClr val="FFFFFF"/>
                          </a:solidFill>
                          <a:latin typeface="DM Sans"/>
                        </a:rPr>
                        <a:t>Lo que medí</a:t>
                      </a:r>
                    </a:p>
                  </a:txBody>
                  <a:tcPr marL="73152" marR="73152" marT="27432" marB="27432" anchor="ctr">
                    <a:solidFill>
                      <a:srgbClr val="D054FC"/>
                    </a:solidFill>
                  </a:tcPr>
                </a:tc>
              </a:tr>
              <a:tr h="438912">
                <a:tc>
                  <a:txBody>
                    <a:bodyPr wrap="square"/>
                    <a:lstStyle/>
                    <a:p>
                      <a:pPr algn="l"/>
                      <a:r>
                        <a:rPr sz="1200" b="1">
                          <a:solidFill>
                            <a:srgbClr val="FFFFFF"/>
                          </a:solidFill>
                          <a:latin typeface="DM Sans"/>
                        </a:rPr>
                        <a:t>DynamoDB</a:t>
                      </a:r>
                    </a:p>
                  </a:txBody>
                  <a:tcPr marL="73152" marR="73152" marT="27432" marB="27432" anchor="ctr">
                    <a:solidFill>
                      <a:srgbClr val="2A2160"/>
                    </a:solidFill>
                  </a:tcPr>
                </a:tc>
                <a:tc>
                  <a:txBody>
                    <a:bodyPr wrap="square"/>
                    <a:lstStyle/>
                    <a:p>
                      <a:pPr algn="ctr"/>
                      <a:r>
                        <a:rPr sz="1200" b="0">
                          <a:solidFill>
                            <a:srgbClr val="FFFFFF"/>
                          </a:solidFill>
                          <a:latin typeface="DM Sans"/>
                        </a:rPr>
                        <a:t>&gt;99% de recall, ms de un dígito</a:t>
                      </a:r>
                    </a:p>
                  </a:txBody>
                  <a:tcPr marL="73152" marR="73152" marT="27432" marB="27432" anchor="ctr">
                    <a:solidFill>
                      <a:srgbClr val="2A2160"/>
                    </a:solidFill>
                  </a:tcPr>
                </a:tc>
                <a:tc>
                  <a:txBody>
                    <a:bodyPr wrap="square"/>
                    <a:lstStyle/>
                    <a:p>
                      <a:pPr algn="ctr"/>
                      <a:r>
                        <a:rPr sz="1200" b="0">
                          <a:solidFill>
                            <a:srgbClr val="FFFFFF"/>
                          </a:solidFill>
                          <a:latin typeface="DM Sans"/>
                        </a:rPr>
                        <a:t>Recall: cumple (99,6%). Tiempo: 9,8 a 12,7 ms desde mi máquina, con la red</a:t>
                      </a:r>
                    </a:p>
                  </a:txBody>
                  <a:tcPr marL="73152" marR="73152" marT="27432" marB="27432" anchor="ctr">
                    <a:solidFill>
                      <a:srgbClr val="2A2160"/>
                    </a:solidFill>
                  </a:tcPr>
                </a:tc>
              </a:tr>
              <a:tr h="438912">
                <a:tc>
                  <a:txBody>
                    <a:bodyPr wrap="square"/>
                    <a:lstStyle/>
                    <a:p>
                      <a:pPr algn="l"/>
                      <a:r>
                        <a:rPr sz="1200" b="1">
                          <a:solidFill>
                            <a:srgbClr val="FFFFFF"/>
                          </a:solidFill>
                          <a:latin typeface="DM Sans"/>
                        </a:rPr>
                        <a:t>S3 Vectors</a:t>
                      </a:r>
                    </a:p>
                  </a:txBody>
                  <a:tcPr marL="73152" marR="73152" marT="27432" marB="27432" anchor="ctr">
                    <a:solidFill>
                      <a:srgbClr val="352A75"/>
                    </a:solidFill>
                  </a:tcPr>
                </a:tc>
                <a:tc>
                  <a:txBody>
                    <a:bodyPr wrap="square"/>
                    <a:lstStyle/>
                    <a:p>
                      <a:pPr algn="ctr"/>
                      <a:r>
                        <a:rPr sz="1200" b="0">
                          <a:solidFill>
                            <a:srgbClr val="FFFFFF"/>
                          </a:solidFill>
                          <a:latin typeface="DM Sans"/>
                        </a:rPr>
                        <a:t>~100 ms o menos</a:t>
                      </a:r>
                    </a:p>
                  </a:txBody>
                  <a:tcPr marL="73152" marR="73152" marT="27432" marB="27432" anchor="ctr">
                    <a:solidFill>
                      <a:srgbClr val="352A75"/>
                    </a:solidFill>
                  </a:tcPr>
                </a:tc>
                <a:tc>
                  <a:txBody>
                    <a:bodyPr wrap="square"/>
                    <a:lstStyle/>
                    <a:p>
                      <a:pPr algn="ctr"/>
                      <a:r>
                        <a:rPr sz="1200" b="0">
                          <a:solidFill>
                            <a:srgbClr val="FFFFFF"/>
                          </a:solidFill>
                          <a:latin typeface="DM Sans"/>
                        </a:rPr>
                        <a:t>Cumple: 62,3 ms (p50) y 67,3 ms (p95)</a:t>
                      </a:r>
                    </a:p>
                  </a:txBody>
                  <a:tcPr marL="73152" marR="73152" marT="27432" marB="27432" anchor="ctr">
                    <a:solidFill>
                      <a:srgbClr val="352A75"/>
                    </a:solidFill>
                  </a:tcPr>
                </a:tc>
              </a:tr>
              <a:tr h="438912">
                <a:tc>
                  <a:txBody>
                    <a:bodyPr wrap="square"/>
                    <a:lstStyle/>
                    <a:p>
                      <a:pPr algn="l"/>
                      <a:r>
                        <a:rPr sz="1200" b="1">
                          <a:solidFill>
                            <a:srgbClr val="FFFFFF"/>
                          </a:solidFill>
                          <a:latin typeface="DM Sans"/>
                        </a:rPr>
                        <a:t>OpenSearch</a:t>
                      </a:r>
                    </a:p>
                  </a:txBody>
                  <a:tcPr marL="73152" marR="73152" marT="27432" marB="27432" anchor="ctr">
                    <a:solidFill>
                      <a:srgbClr val="2A2160"/>
                    </a:solidFill>
                  </a:tcPr>
                </a:tc>
                <a:tc>
                  <a:txBody>
                    <a:bodyPr wrap="square"/>
                    <a:lstStyle/>
                    <a:p>
                      <a:pPr algn="ctr"/>
                      <a:r>
                        <a:rPr sz="1200" b="0">
                          <a:solidFill>
                            <a:srgbClr val="FFFFFF"/>
                          </a:solidFill>
                          <a:latin typeface="DM Sans"/>
                        </a:rPr>
                        <a:t>Escala a cero</a:t>
                      </a:r>
                    </a:p>
                  </a:txBody>
                  <a:tcPr marL="73152" marR="73152" marT="27432" marB="27432" anchor="ctr">
                    <a:solidFill>
                      <a:srgbClr val="2A2160"/>
                    </a:solidFill>
                  </a:tcPr>
                </a:tc>
                <a:tc>
                  <a:txBody>
                    <a:bodyPr wrap="square"/>
                    <a:lstStyle/>
                    <a:p>
                      <a:pPr algn="ctr"/>
                      <a:r>
                        <a:rPr sz="1200" b="0">
                          <a:solidFill>
                            <a:srgbClr val="FFFFFF"/>
                          </a:solidFill>
                          <a:latin typeface="DM Sans"/>
                        </a:rPr>
                        <a:t>Cumple. Volver a encenderse tomó 23,2 s</a:t>
                      </a:r>
                    </a:p>
                  </a:txBody>
                  <a:tcPr marL="73152" marR="73152" marT="27432" marB="27432" anchor="ctr">
                    <a:solidFill>
                      <a:srgbClr val="2A2160"/>
                    </a:solidFill>
                  </a:tcPr>
                </a:tc>
              </a:tr>
              <a:tr h="438912">
                <a:tc>
                  <a:txBody>
                    <a:bodyPr wrap="square"/>
                    <a:lstStyle/>
                    <a:p>
                      <a:pPr algn="l"/>
                      <a:r>
                        <a:rPr sz="1200" b="1">
                          <a:solidFill>
                            <a:srgbClr val="FFFFFF"/>
                          </a:solidFill>
                          <a:latin typeface="DM Sans"/>
                        </a:rPr>
                        <a:t>Aurora</a:t>
                      </a:r>
                    </a:p>
                  </a:txBody>
                  <a:tcPr marL="73152" marR="73152" marT="27432" marB="27432" anchor="ctr">
                    <a:solidFill>
                      <a:srgbClr val="352A75"/>
                    </a:solidFill>
                  </a:tcPr>
                </a:tc>
                <a:tc>
                  <a:txBody>
                    <a:bodyPr wrap="square"/>
                    <a:lstStyle/>
                    <a:p>
                      <a:pPr algn="ctr"/>
                      <a:r>
                        <a:rPr sz="1200" b="0">
                          <a:solidFill>
                            <a:srgbClr val="FFFFFF"/>
                          </a:solidFill>
                          <a:latin typeface="DM Sans"/>
                        </a:rPr>
                        <a:t>Filtra con WHERE, une con JOIN</a:t>
                      </a:r>
                    </a:p>
                  </a:txBody>
                  <a:tcPr marL="73152" marR="73152" marT="27432" marB="27432" anchor="ctr">
                    <a:solidFill>
                      <a:srgbClr val="352A75"/>
                    </a:solidFill>
                  </a:tcPr>
                </a:tc>
                <a:tc>
                  <a:txBody>
                    <a:bodyPr wrap="square"/>
                    <a:lstStyle/>
                    <a:p>
                      <a:pPr algn="ctr"/>
                      <a:r>
                        <a:rPr sz="1200" b="0">
                          <a:solidFill>
                            <a:srgbClr val="FFFFFF"/>
                          </a:solidFill>
                          <a:latin typeface="DM Sans"/>
                        </a:rPr>
                        <a:t>Cumple y acierta 100%. Con mi índice de etiquetas no usó el vectorial (46,1 ms)</a:t>
                      </a:r>
                    </a:p>
                  </a:txBody>
                  <a:tcPr marL="73152" marR="73152" marT="27432" marB="27432" anchor="ctr">
                    <a:solidFill>
                      <a:srgbClr val="352A75"/>
                    </a:solidFill>
                  </a:tcPr>
                </a:tc>
              </a:tr>
            </a:tbl>
          </a:graphicData>
        </a:graphic>
      </p:graphicFrame>
      <p:sp>
        <p:nvSpPr>
          <p:cNvPr id="107" name="TextBox 106"/>
          <p:cNvSpPr txBox="1"/>
          <p:nvPr/>
        </p:nvSpPr>
        <p:spPr>
          <a:xfrm>
            <a:off x="685800" y="1024128"/>
            <a:ext cx="7772400" cy="228600"/>
          </a:xfrm>
          <a:prstGeom prst="rect">
            <a:avLst/>
          </a:prstGeom>
          <a:noFill/>
        </p:spPr>
        <p:txBody>
          <a:bodyPr wrap="square" anchor="t" lIns="0" rIns="0" tIns="0" bIns="0">
            <a:spAutoFit/>
          </a:bodyPr>
          <a:lstStyle/>
          <a:p>
            <a:pPr algn="ctr">
              <a:spcAft>
                <a:spcPts val="400"/>
              </a:spcAft>
            </a:pPr>
            <a:r>
              <a:rPr sz="1400" b="1">
                <a:solidFill>
                  <a:srgbClr val="E6DFFF"/>
                </a:solidFill>
                <a:latin typeface="DM Sans"/>
              </a:rPr>
              <a:t>Todas cumplen. La letra chica son las condiciones.</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2" name="Google Shape;102;p17"/>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¿Cuál elijo?</a:t>
            </a:r>
            <a:endParaRPr b="1" i="0" sz="2900" u="none" cap="none" strike="noStrike">
              <a:solidFill>
                <a:srgbClr val="FFFFFF"/>
              </a:solidFill>
              <a:latin typeface="DM Sans ExtraBold"/>
              <a:ea typeface="DM Sans ExtraBold"/>
              <a:cs typeface="DM Sans ExtraBold"/>
              <a:sym typeface="DM Sans ExtraBold"/>
            </a:endParaRPr>
          </a:p>
        </p:txBody>
      </p:sp>
      <p:pic>
        <p:nvPicPr>
          <p:cNvPr id="103" name="Google Shape;103;p17"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05" name="Google Shape;105;p17"/>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Rounded Rectangle 105"/>
          <p:cNvSpPr/>
          <p:nvPr/>
        </p:nvSpPr>
        <p:spPr>
          <a:xfrm>
            <a:off x="685800" y="1188720"/>
            <a:ext cx="3749039" cy="118872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868680" y="1371600"/>
            <a:ext cx="237744" cy="237744"/>
          </a:xfrm>
          <a:prstGeom prst="ellipse">
            <a:avLst/>
          </a:prstGeom>
          <a:solidFill>
            <a:srgbClr val="A43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234440" y="1280160"/>
            <a:ext cx="3063240" cy="274320"/>
          </a:xfrm>
          <a:prstGeom prst="rect">
            <a:avLst/>
          </a:prstGeom>
          <a:noFill/>
        </p:spPr>
        <p:txBody>
          <a:bodyPr wrap="square" anchor="t" lIns="0" rIns="0" tIns="0" bIns="0">
            <a:spAutoFit/>
          </a:bodyPr>
          <a:lstStyle/>
          <a:p>
            <a:pPr algn="l">
              <a:spcAft>
                <a:spcPts val="400"/>
              </a:spcAft>
            </a:pPr>
            <a:r>
              <a:rPr sz="1200" b="0">
                <a:solidFill>
                  <a:srgbClr val="FFFFFF"/>
                </a:solidFill>
                <a:latin typeface="DM Sans"/>
              </a:rPr>
              <a:t>Si necesitas </a:t>
            </a:r>
            <a:r>
              <a:rPr sz="1200" b="1">
                <a:solidFill>
                  <a:srgbClr val="FFFFFF"/>
                </a:solidFill>
                <a:latin typeface="DM Sans"/>
              </a:rPr>
              <a:t>rapidez y SQL</a:t>
            </a:r>
          </a:p>
        </p:txBody>
      </p:sp>
      <p:sp>
        <p:nvSpPr>
          <p:cNvPr id="109" name="TextBox 108"/>
          <p:cNvSpPr txBox="1"/>
          <p:nvPr/>
        </p:nvSpPr>
        <p:spPr>
          <a:xfrm>
            <a:off x="1234440" y="1536192"/>
            <a:ext cx="3063240" cy="274320"/>
          </a:xfrm>
          <a:prstGeom prst="rect">
            <a:avLst/>
          </a:prstGeom>
          <a:noFill/>
        </p:spPr>
        <p:txBody>
          <a:bodyPr wrap="square" anchor="t" lIns="0" rIns="0" tIns="0" bIns="0">
            <a:spAutoFit/>
          </a:bodyPr>
          <a:lstStyle/>
          <a:p>
            <a:pPr algn="l">
              <a:spcAft>
                <a:spcPts val="400"/>
              </a:spcAft>
            </a:pPr>
            <a:r>
              <a:rPr sz="1500" b="0">
                <a:solidFill>
                  <a:srgbClr val="D054FC"/>
                </a:solidFill>
                <a:latin typeface="DM Sans"/>
              </a:rPr>
              <a:t>→ </a:t>
            </a:r>
            <a:r>
              <a:rPr sz="1500" b="1">
                <a:solidFill>
                  <a:srgbClr val="E6DFFF"/>
                </a:solidFill>
                <a:latin typeface="DM Sans"/>
              </a:rPr>
              <a:t>Aurora</a:t>
            </a:r>
          </a:p>
        </p:txBody>
      </p:sp>
      <p:sp>
        <p:nvSpPr>
          <p:cNvPr id="110" name="TextBox 109"/>
          <p:cNvSpPr txBox="1"/>
          <p:nvPr/>
        </p:nvSpPr>
        <p:spPr>
          <a:xfrm>
            <a:off x="1234440" y="1865376"/>
            <a:ext cx="3063240" cy="457200"/>
          </a:xfrm>
          <a:prstGeom prst="rect">
            <a:avLst/>
          </a:prstGeom>
          <a:noFill/>
        </p:spPr>
        <p:txBody>
          <a:bodyPr wrap="square" anchor="t" lIns="0" rIns="0" tIns="0" bIns="0">
            <a:spAutoFit/>
          </a:bodyPr>
          <a:lstStyle/>
          <a:p>
            <a:pPr algn="l">
              <a:spcAft>
                <a:spcPts val="400"/>
              </a:spcAft>
            </a:pPr>
            <a:r>
              <a:rPr sz="1100" b="0">
                <a:solidFill>
                  <a:srgbClr val="DCD3FA"/>
                </a:solidFill>
                <a:latin typeface="DM Sans"/>
              </a:rPr>
              <a:t>Si el uso la mantiene encendida (~USD 59 a 249 al mes) y subes ef_search</a:t>
            </a:r>
          </a:p>
        </p:txBody>
      </p:sp>
      <p:sp>
        <p:nvSpPr>
          <p:cNvPr id="111" name="Rounded Rectangle 110"/>
          <p:cNvSpPr/>
          <p:nvPr/>
        </p:nvSpPr>
        <p:spPr>
          <a:xfrm>
            <a:off x="4617720" y="1188720"/>
            <a:ext cx="3749039" cy="118872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800600" y="1371600"/>
            <a:ext cx="237744" cy="237744"/>
          </a:xfrm>
          <a:prstGeom prst="ellipse">
            <a:avLst/>
          </a:prstGeom>
          <a:solidFill>
            <a:srgbClr val="3D5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166359" y="1280160"/>
            <a:ext cx="3063240" cy="274320"/>
          </a:xfrm>
          <a:prstGeom prst="rect">
            <a:avLst/>
          </a:prstGeom>
          <a:noFill/>
        </p:spPr>
        <p:txBody>
          <a:bodyPr wrap="square" anchor="t" lIns="0" rIns="0" tIns="0" bIns="0">
            <a:spAutoFit/>
          </a:bodyPr>
          <a:lstStyle/>
          <a:p>
            <a:pPr algn="l">
              <a:spcAft>
                <a:spcPts val="400"/>
              </a:spcAft>
            </a:pPr>
            <a:r>
              <a:rPr sz="1200" b="0">
                <a:solidFill>
                  <a:srgbClr val="FFFFFF"/>
                </a:solidFill>
                <a:latin typeface="DM Sans"/>
              </a:rPr>
              <a:t>Si necesitas </a:t>
            </a:r>
            <a:r>
              <a:rPr sz="1200" b="1">
                <a:solidFill>
                  <a:srgbClr val="FFFFFF"/>
                </a:solidFill>
                <a:latin typeface="DM Sans"/>
              </a:rPr>
              <a:t>bajo costo y sin espera</a:t>
            </a:r>
          </a:p>
        </p:txBody>
      </p:sp>
      <p:sp>
        <p:nvSpPr>
          <p:cNvPr id="114" name="TextBox 113"/>
          <p:cNvSpPr txBox="1"/>
          <p:nvPr/>
        </p:nvSpPr>
        <p:spPr>
          <a:xfrm>
            <a:off x="5166359" y="1536192"/>
            <a:ext cx="3063240" cy="274320"/>
          </a:xfrm>
          <a:prstGeom prst="rect">
            <a:avLst/>
          </a:prstGeom>
          <a:noFill/>
        </p:spPr>
        <p:txBody>
          <a:bodyPr wrap="square" anchor="t" lIns="0" rIns="0" tIns="0" bIns="0">
            <a:spAutoFit/>
          </a:bodyPr>
          <a:lstStyle/>
          <a:p>
            <a:pPr algn="l">
              <a:spcAft>
                <a:spcPts val="400"/>
              </a:spcAft>
            </a:pPr>
            <a:r>
              <a:rPr sz="1500" b="0">
                <a:solidFill>
                  <a:srgbClr val="D054FC"/>
                </a:solidFill>
                <a:latin typeface="DM Sans"/>
              </a:rPr>
              <a:t>→ </a:t>
            </a:r>
            <a:r>
              <a:rPr sz="1500" b="1">
                <a:solidFill>
                  <a:srgbClr val="E6DFFF"/>
                </a:solidFill>
                <a:latin typeface="DM Sans"/>
              </a:rPr>
              <a:t>DynamoDB</a:t>
            </a:r>
          </a:p>
        </p:txBody>
      </p:sp>
      <p:sp>
        <p:nvSpPr>
          <p:cNvPr id="115" name="TextBox 114"/>
          <p:cNvSpPr txBox="1"/>
          <p:nvPr/>
        </p:nvSpPr>
        <p:spPr>
          <a:xfrm>
            <a:off x="5166359" y="1865376"/>
            <a:ext cx="3063240" cy="457200"/>
          </a:xfrm>
          <a:prstGeom prst="rect">
            <a:avLst/>
          </a:prstGeom>
          <a:noFill/>
        </p:spPr>
        <p:txBody>
          <a:bodyPr wrap="square" anchor="t" lIns="0" rIns="0" tIns="0" bIns="0">
            <a:spAutoFit/>
          </a:bodyPr>
          <a:lstStyle/>
          <a:p>
            <a:pPr algn="l">
              <a:spcAft>
                <a:spcPts val="400"/>
              </a:spcAft>
            </a:pPr>
            <a:r>
              <a:rPr sz="1100" b="0">
                <a:solidFill>
                  <a:srgbClr val="DCD3FA"/>
                </a:solidFill>
                <a:latin typeface="DM Sans"/>
              </a:rPr>
              <a:t>Sin mínimo mensual y 87 ms después de una pausa. Revisa el acierto si filtras</a:t>
            </a:r>
          </a:p>
        </p:txBody>
      </p:sp>
      <p:sp>
        <p:nvSpPr>
          <p:cNvPr id="116" name="Rounded Rectangle 115"/>
          <p:cNvSpPr/>
          <p:nvPr/>
        </p:nvSpPr>
        <p:spPr>
          <a:xfrm>
            <a:off x="685800" y="2468880"/>
            <a:ext cx="3749039" cy="118872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868680" y="2651760"/>
            <a:ext cx="237744" cy="237744"/>
          </a:xfrm>
          <a:prstGeom prst="ellipse">
            <a:avLst/>
          </a:prstGeom>
          <a:solidFill>
            <a:srgbClr val="0E9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234440" y="2560320"/>
            <a:ext cx="3063240" cy="274320"/>
          </a:xfrm>
          <a:prstGeom prst="rect">
            <a:avLst/>
          </a:prstGeom>
          <a:noFill/>
        </p:spPr>
        <p:txBody>
          <a:bodyPr wrap="square" anchor="t" lIns="0" rIns="0" tIns="0" bIns="0">
            <a:spAutoFit/>
          </a:bodyPr>
          <a:lstStyle/>
          <a:p>
            <a:pPr algn="l">
              <a:spcAft>
                <a:spcPts val="400"/>
              </a:spcAft>
            </a:pPr>
            <a:r>
              <a:rPr sz="1200" b="0">
                <a:solidFill>
                  <a:srgbClr val="FFFFFF"/>
                </a:solidFill>
                <a:latin typeface="DM Sans"/>
              </a:rPr>
              <a:t>Si necesitas </a:t>
            </a:r>
            <a:r>
              <a:rPr sz="1200" b="1">
                <a:solidFill>
                  <a:srgbClr val="FFFFFF"/>
                </a:solidFill>
                <a:latin typeface="DM Sans"/>
              </a:rPr>
              <a:t>filtrar sin perder acierto</a:t>
            </a:r>
          </a:p>
        </p:txBody>
      </p:sp>
      <p:sp>
        <p:nvSpPr>
          <p:cNvPr id="119" name="TextBox 118"/>
          <p:cNvSpPr txBox="1"/>
          <p:nvPr/>
        </p:nvSpPr>
        <p:spPr>
          <a:xfrm>
            <a:off x="1234440" y="2816352"/>
            <a:ext cx="3063240" cy="274320"/>
          </a:xfrm>
          <a:prstGeom prst="rect">
            <a:avLst/>
          </a:prstGeom>
          <a:noFill/>
        </p:spPr>
        <p:txBody>
          <a:bodyPr wrap="square" anchor="t" lIns="0" rIns="0" tIns="0" bIns="0">
            <a:spAutoFit/>
          </a:bodyPr>
          <a:lstStyle/>
          <a:p>
            <a:pPr algn="l">
              <a:spcAft>
                <a:spcPts val="400"/>
              </a:spcAft>
            </a:pPr>
            <a:r>
              <a:rPr sz="1500" b="0">
                <a:solidFill>
                  <a:srgbClr val="D054FC"/>
                </a:solidFill>
                <a:latin typeface="DM Sans"/>
              </a:rPr>
              <a:t>→ </a:t>
            </a:r>
            <a:r>
              <a:rPr sz="1500" b="1">
                <a:solidFill>
                  <a:srgbClr val="E6DFFF"/>
                </a:solidFill>
                <a:latin typeface="DM Sans"/>
              </a:rPr>
              <a:t>OpenSearch</a:t>
            </a:r>
          </a:p>
        </p:txBody>
      </p:sp>
      <p:sp>
        <p:nvSpPr>
          <p:cNvPr id="120" name="TextBox 119"/>
          <p:cNvSpPr txBox="1"/>
          <p:nvPr/>
        </p:nvSpPr>
        <p:spPr>
          <a:xfrm>
            <a:off x="1234440" y="3145536"/>
            <a:ext cx="3063240" cy="457200"/>
          </a:xfrm>
          <a:prstGeom prst="rect">
            <a:avLst/>
          </a:prstGeom>
          <a:noFill/>
        </p:spPr>
        <p:txBody>
          <a:bodyPr wrap="square" anchor="t" lIns="0" rIns="0" tIns="0" bIns="0">
            <a:spAutoFit/>
          </a:bodyPr>
          <a:lstStyle/>
          <a:p>
            <a:pPr algn="l">
              <a:spcAft>
                <a:spcPts val="400"/>
              </a:spcAft>
            </a:pPr>
            <a:r>
              <a:rPr sz="1100" b="0">
                <a:solidFill>
                  <a:srgbClr val="DCD3FA"/>
                </a:solidFill>
                <a:latin typeface="DM Sans"/>
              </a:rPr>
              <a:t>99,96% de acierto con filtro, si pagas por tenerla encendida (~USD 175 al mes)</a:t>
            </a:r>
          </a:p>
        </p:txBody>
      </p:sp>
      <p:sp>
        <p:nvSpPr>
          <p:cNvPr id="121" name="Rounded Rectangle 120"/>
          <p:cNvSpPr/>
          <p:nvPr/>
        </p:nvSpPr>
        <p:spPr>
          <a:xfrm>
            <a:off x="4617720" y="2468880"/>
            <a:ext cx="3749039" cy="118872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4800600" y="2651760"/>
            <a:ext cx="237744" cy="237744"/>
          </a:xfrm>
          <a:prstGeom prst="ellipse">
            <a:avLst/>
          </a:prstGeom>
          <a:solidFill>
            <a:srgbClr val="E85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166359" y="2560320"/>
            <a:ext cx="3063240" cy="274320"/>
          </a:xfrm>
          <a:prstGeom prst="rect">
            <a:avLst/>
          </a:prstGeom>
          <a:noFill/>
        </p:spPr>
        <p:txBody>
          <a:bodyPr wrap="square" anchor="t" lIns="0" rIns="0" tIns="0" bIns="0">
            <a:spAutoFit/>
          </a:bodyPr>
          <a:lstStyle/>
          <a:p>
            <a:pPr algn="l">
              <a:spcAft>
                <a:spcPts val="400"/>
              </a:spcAft>
            </a:pPr>
            <a:r>
              <a:rPr sz="1200" b="0">
                <a:solidFill>
                  <a:srgbClr val="FFFFFF"/>
                </a:solidFill>
                <a:latin typeface="DM Sans"/>
              </a:rPr>
              <a:t>Si necesitas </a:t>
            </a:r>
            <a:r>
              <a:rPr sz="1200" b="1">
                <a:solidFill>
                  <a:srgbClr val="FFFFFF"/>
                </a:solidFill>
                <a:latin typeface="DM Sans"/>
              </a:rPr>
              <a:t>bajo costo y mucho volumen</a:t>
            </a:r>
          </a:p>
        </p:txBody>
      </p:sp>
      <p:sp>
        <p:nvSpPr>
          <p:cNvPr id="124" name="TextBox 123"/>
          <p:cNvSpPr txBox="1"/>
          <p:nvPr/>
        </p:nvSpPr>
        <p:spPr>
          <a:xfrm>
            <a:off x="5166359" y="2816352"/>
            <a:ext cx="3063240" cy="274320"/>
          </a:xfrm>
          <a:prstGeom prst="rect">
            <a:avLst/>
          </a:prstGeom>
          <a:noFill/>
        </p:spPr>
        <p:txBody>
          <a:bodyPr wrap="square" anchor="t" lIns="0" rIns="0" tIns="0" bIns="0">
            <a:spAutoFit/>
          </a:bodyPr>
          <a:lstStyle/>
          <a:p>
            <a:pPr algn="l">
              <a:spcAft>
                <a:spcPts val="400"/>
              </a:spcAft>
            </a:pPr>
            <a:r>
              <a:rPr sz="1500" b="0">
                <a:solidFill>
                  <a:srgbClr val="D054FC"/>
                </a:solidFill>
                <a:latin typeface="DM Sans"/>
              </a:rPr>
              <a:t>→ </a:t>
            </a:r>
            <a:r>
              <a:rPr sz="1500" b="1">
                <a:solidFill>
                  <a:srgbClr val="E6DFFF"/>
                </a:solidFill>
                <a:latin typeface="DM Sans"/>
              </a:rPr>
              <a:t>S3 Vectors</a:t>
            </a:r>
          </a:p>
        </p:txBody>
      </p:sp>
      <p:sp>
        <p:nvSpPr>
          <p:cNvPr id="125" name="TextBox 124"/>
          <p:cNvSpPr txBox="1"/>
          <p:nvPr/>
        </p:nvSpPr>
        <p:spPr>
          <a:xfrm>
            <a:off x="5166359" y="3145536"/>
            <a:ext cx="3063240" cy="457200"/>
          </a:xfrm>
          <a:prstGeom prst="rect">
            <a:avLst/>
          </a:prstGeom>
          <a:noFill/>
        </p:spPr>
        <p:txBody>
          <a:bodyPr wrap="square" anchor="t" lIns="0" rIns="0" tIns="0" bIns="0">
            <a:spAutoFit/>
          </a:bodyPr>
          <a:lstStyle/>
          <a:p>
            <a:pPr algn="l">
              <a:spcAft>
                <a:spcPts val="400"/>
              </a:spcAft>
            </a:pPr>
            <a:r>
              <a:rPr sz="1100" b="0">
                <a:solidFill>
                  <a:srgbClr val="DCD3FA"/>
                </a:solidFill>
                <a:latin typeface="DM Sans"/>
              </a:rPr>
              <a:t>Sin mínimo mensual y ~60 ms siempre. A gran escala no lo medí</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Tu proyecto de clase, en números</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234440"/>
            <a:ext cx="2286000" cy="210312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60120" y="1325880"/>
            <a:ext cx="2011680" cy="274320"/>
          </a:xfrm>
          <a:prstGeom prst="rect">
            <a:avLst/>
          </a:prstGeom>
          <a:noFill/>
        </p:spPr>
        <p:txBody>
          <a:bodyPr wrap="square" anchor="t" lIns="0" rIns="0" tIns="0" bIns="0">
            <a:spAutoFit/>
          </a:bodyPr>
          <a:lstStyle/>
          <a:p>
            <a:pPr algn="l">
              <a:spcAft>
                <a:spcPts val="400"/>
              </a:spcAft>
            </a:pPr>
            <a:r>
              <a:rPr sz="1300" b="1">
                <a:solidFill>
                  <a:srgbClr val="A433F3"/>
                </a:solidFill>
                <a:latin typeface="DM Sans"/>
              </a:rPr>
              <a:t>Supuesto</a:t>
            </a:r>
          </a:p>
        </p:txBody>
      </p:sp>
      <p:sp>
        <p:nvSpPr>
          <p:cNvPr id="116" name="TextBox 115"/>
          <p:cNvSpPr txBox="1"/>
          <p:nvPr/>
        </p:nvSpPr>
        <p:spPr>
          <a:xfrm>
            <a:off x="960120" y="1664208"/>
            <a:ext cx="2011680" cy="1645920"/>
          </a:xfrm>
          <a:prstGeom prst="rect">
            <a:avLst/>
          </a:prstGeom>
          <a:noFill/>
        </p:spPr>
        <p:txBody>
          <a:bodyPr wrap="square" anchor="t" lIns="0" rIns="0" tIns="0" bIns="0">
            <a:spAutoFit/>
          </a:bodyPr>
          <a:lstStyle/>
          <a:p>
            <a:pPr algn="l">
              <a:spcAft>
                <a:spcPts val="700"/>
              </a:spcAft>
            </a:pPr>
            <a:r>
              <a:rPr sz="1200" b="0">
                <a:solidFill>
                  <a:srgbClr val="434343"/>
                </a:solidFill>
                <a:latin typeface="DM Sans"/>
              </a:rPr>
              <a:t>8.851 fragmentos de leyes</a:t>
            </a:r>
          </a:p>
          <a:p>
            <a:pPr algn="l">
              <a:spcAft>
                <a:spcPts val="700"/>
              </a:spcAft>
            </a:pPr>
            <a:r>
              <a:rPr sz="1200" b="0">
                <a:solidFill>
                  <a:srgbClr val="434343"/>
                </a:solidFill>
                <a:latin typeface="DM Sans"/>
              </a:rPr>
              <a:t>1.000 búsquedas al mes</a:t>
            </a:r>
          </a:p>
          <a:p>
            <a:pPr algn="l">
              <a:spcAft>
                <a:spcPts val="700"/>
              </a:spcAft>
            </a:pPr>
            <a:r>
              <a:rPr sz="1200" b="0">
                <a:solidFill>
                  <a:srgbClr val="434343"/>
                </a:solidFill>
                <a:latin typeface="DM Sans"/>
              </a:rPr>
              <a:t>20 sesiones de uso al mes</a:t>
            </a:r>
          </a:p>
        </p:txBody>
      </p:sp>
      <p:sp>
        <p:nvSpPr>
          <p:cNvPr id="117" name="Rounded Rectangle 116"/>
          <p:cNvSpPr/>
          <p:nvPr/>
        </p:nvSpPr>
        <p:spPr>
          <a:xfrm>
            <a:off x="3246120" y="1234440"/>
            <a:ext cx="1645920" cy="210312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383279" y="1371600"/>
            <a:ext cx="1463040" cy="731520"/>
          </a:xfrm>
          <a:prstGeom prst="rect">
            <a:avLst/>
          </a:prstGeom>
          <a:noFill/>
        </p:spPr>
        <p:txBody>
          <a:bodyPr wrap="square" anchor="t" lIns="0" rIns="0" tIns="0" bIns="0">
            <a:spAutoFit/>
          </a:bodyPr>
          <a:lstStyle/>
          <a:p>
            <a:pPr algn="l">
              <a:spcAft>
                <a:spcPts val="400"/>
              </a:spcAft>
            </a:pPr>
            <a:r>
              <a:rPr sz="3000" b="0">
                <a:solidFill>
                  <a:srgbClr val="3D5AFE"/>
                </a:solidFill>
                <a:latin typeface="DM Sans ExtraBold"/>
              </a:rPr>
              <a:t>&lt;1</a:t>
            </a:r>
            <a:r>
              <a:rPr sz="1600" b="0">
                <a:solidFill>
                  <a:srgbClr val="6B6B80"/>
                </a:solidFill>
                <a:latin typeface="DM Sans"/>
              </a:rPr>
              <a:t> ¢</a:t>
            </a:r>
          </a:p>
        </p:txBody>
      </p:sp>
      <p:sp>
        <p:nvSpPr>
          <p:cNvPr id="119" name="TextBox 118"/>
          <p:cNvSpPr txBox="1"/>
          <p:nvPr/>
        </p:nvSpPr>
        <p:spPr>
          <a:xfrm>
            <a:off x="3383279" y="2148840"/>
            <a:ext cx="1463040" cy="32004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DynamoDB</a:t>
            </a:r>
          </a:p>
        </p:txBody>
      </p:sp>
      <p:sp>
        <p:nvSpPr>
          <p:cNvPr id="120" name="TextBox 119"/>
          <p:cNvSpPr txBox="1"/>
          <p:nvPr/>
        </p:nvSpPr>
        <p:spPr>
          <a:xfrm>
            <a:off x="3383279" y="2468880"/>
            <a:ext cx="1463040" cy="4572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sin espera</a:t>
            </a:r>
          </a:p>
        </p:txBody>
      </p:sp>
      <p:sp>
        <p:nvSpPr>
          <p:cNvPr id="121" name="Rounded Rectangle 120"/>
          <p:cNvSpPr/>
          <p:nvPr/>
        </p:nvSpPr>
        <p:spPr>
          <a:xfrm>
            <a:off x="4983480" y="1234440"/>
            <a:ext cx="1645920" cy="210312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120640" y="1371600"/>
            <a:ext cx="1463040" cy="731520"/>
          </a:xfrm>
          <a:prstGeom prst="rect">
            <a:avLst/>
          </a:prstGeom>
          <a:noFill/>
        </p:spPr>
        <p:txBody>
          <a:bodyPr wrap="square" anchor="t" lIns="0" rIns="0" tIns="0" bIns="0">
            <a:spAutoFit/>
          </a:bodyPr>
          <a:lstStyle/>
          <a:p>
            <a:pPr algn="l">
              <a:spcAft>
                <a:spcPts val="400"/>
              </a:spcAft>
            </a:pPr>
            <a:r>
              <a:rPr sz="3000" b="0">
                <a:solidFill>
                  <a:srgbClr val="A433F3"/>
                </a:solidFill>
                <a:latin typeface="DM Sans ExtraBold"/>
              </a:rPr>
              <a:t>~0,3</a:t>
            </a:r>
            <a:r>
              <a:rPr sz="1600" b="0">
                <a:solidFill>
                  <a:srgbClr val="6B6B80"/>
                </a:solidFill>
                <a:latin typeface="DM Sans"/>
              </a:rPr>
              <a:t> USD</a:t>
            </a:r>
          </a:p>
        </p:txBody>
      </p:sp>
      <p:sp>
        <p:nvSpPr>
          <p:cNvPr id="123" name="TextBox 122"/>
          <p:cNvSpPr txBox="1"/>
          <p:nvPr/>
        </p:nvSpPr>
        <p:spPr>
          <a:xfrm>
            <a:off x="5120640" y="2148840"/>
            <a:ext cx="1463040" cy="32004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Aurora</a:t>
            </a:r>
          </a:p>
        </p:txBody>
      </p:sp>
      <p:sp>
        <p:nvSpPr>
          <p:cNvPr id="124" name="TextBox 123"/>
          <p:cNvSpPr txBox="1"/>
          <p:nvPr/>
        </p:nvSpPr>
        <p:spPr>
          <a:xfrm>
            <a:off x="5120640" y="2468880"/>
            <a:ext cx="1463040" cy="4572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se apaga sola: ~14 s de espera cada vez</a:t>
            </a:r>
          </a:p>
        </p:txBody>
      </p:sp>
      <p:sp>
        <p:nvSpPr>
          <p:cNvPr id="125" name="Rounded Rectangle 124"/>
          <p:cNvSpPr/>
          <p:nvPr/>
        </p:nvSpPr>
        <p:spPr>
          <a:xfrm>
            <a:off x="6720840" y="1234440"/>
            <a:ext cx="1645920" cy="210312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858000" y="1371600"/>
            <a:ext cx="1463040" cy="731520"/>
          </a:xfrm>
          <a:prstGeom prst="rect">
            <a:avLst/>
          </a:prstGeom>
          <a:noFill/>
        </p:spPr>
        <p:txBody>
          <a:bodyPr wrap="square" anchor="t" lIns="0" rIns="0" tIns="0" bIns="0">
            <a:spAutoFit/>
          </a:bodyPr>
          <a:lstStyle/>
          <a:p>
            <a:pPr algn="l">
              <a:spcAft>
                <a:spcPts val="400"/>
              </a:spcAft>
            </a:pPr>
            <a:r>
              <a:rPr sz="3000" b="0">
                <a:solidFill>
                  <a:srgbClr val="A433F3"/>
                </a:solidFill>
                <a:latin typeface="DM Sans ExtraBold"/>
              </a:rPr>
              <a:t>~59</a:t>
            </a:r>
            <a:r>
              <a:rPr sz="1600" b="0">
                <a:solidFill>
                  <a:srgbClr val="6B6B80"/>
                </a:solidFill>
                <a:latin typeface="DM Sans"/>
              </a:rPr>
              <a:t> USD</a:t>
            </a:r>
          </a:p>
        </p:txBody>
      </p:sp>
      <p:sp>
        <p:nvSpPr>
          <p:cNvPr id="127" name="TextBox 126"/>
          <p:cNvSpPr txBox="1"/>
          <p:nvPr/>
        </p:nvSpPr>
        <p:spPr>
          <a:xfrm>
            <a:off x="6858000" y="2148840"/>
            <a:ext cx="1463040" cy="320040"/>
          </a:xfrm>
          <a:prstGeom prst="rect">
            <a:avLst/>
          </a:prstGeom>
          <a:noFill/>
        </p:spPr>
        <p:txBody>
          <a:bodyPr wrap="square" anchor="t" lIns="0" rIns="0" tIns="0" bIns="0">
            <a:spAutoFit/>
          </a:bodyPr>
          <a:lstStyle/>
          <a:p>
            <a:pPr algn="l">
              <a:spcAft>
                <a:spcPts val="400"/>
              </a:spcAft>
            </a:pPr>
            <a:r>
              <a:rPr sz="1300" b="1">
                <a:solidFill>
                  <a:srgbClr val="434343"/>
                </a:solidFill>
                <a:latin typeface="DM Sans"/>
              </a:rPr>
              <a:t>Aurora</a:t>
            </a:r>
          </a:p>
        </p:txBody>
      </p:sp>
      <p:sp>
        <p:nvSpPr>
          <p:cNvPr id="128" name="TextBox 127"/>
          <p:cNvSpPr txBox="1"/>
          <p:nvPr/>
        </p:nvSpPr>
        <p:spPr>
          <a:xfrm>
            <a:off x="6858000" y="2468880"/>
            <a:ext cx="1463040" cy="457200"/>
          </a:xfrm>
          <a:prstGeom prst="rect">
            <a:avLst/>
          </a:prstGeom>
          <a:noFill/>
        </p:spPr>
        <p:txBody>
          <a:bodyPr wrap="square" anchor="t" lIns="0" rIns="0" tIns="0" bIns="0">
            <a:spAutoFit/>
          </a:bodyPr>
          <a:lstStyle/>
          <a:p>
            <a:pPr algn="l">
              <a:spcAft>
                <a:spcPts val="400"/>
              </a:spcAft>
            </a:pPr>
            <a:r>
              <a:rPr sz="1000" b="0">
                <a:solidFill>
                  <a:srgbClr val="6B6B80"/>
                </a:solidFill>
                <a:latin typeface="DM Sans"/>
              </a:rPr>
              <a:t>siempre encendida: sin espera</a:t>
            </a:r>
          </a:p>
        </p:txBody>
      </p:sp>
      <p:sp>
        <p:nvSpPr>
          <p:cNvPr id="129" name="TextBox 128"/>
          <p:cNvSpPr txBox="1"/>
          <p:nvPr/>
        </p:nvSpPr>
        <p:spPr>
          <a:xfrm>
            <a:off x="777240" y="3429000"/>
            <a:ext cx="5669280" cy="274320"/>
          </a:xfrm>
          <a:prstGeom prst="rect">
            <a:avLst/>
          </a:prstGeom>
          <a:noFill/>
        </p:spPr>
        <p:txBody>
          <a:bodyPr wrap="square" anchor="t" lIns="0" rIns="0" tIns="0" bIns="0">
            <a:spAutoFit/>
          </a:bodyPr>
          <a:lstStyle/>
          <a:p>
            <a:pPr algn="l">
              <a:spcAft>
                <a:spcPts val="400"/>
              </a:spcAft>
            </a:pPr>
            <a:r>
              <a:rPr sz="1300" b="1">
                <a:solidFill>
                  <a:srgbClr val="A433F3"/>
                </a:solidFill>
                <a:latin typeface="DM Sans"/>
              </a:rPr>
              <a:t>Si el uso es esporádico, lo que pagas es no esperar</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Lo que salió mal (y cómo lo resolví)</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188720"/>
            <a:ext cx="3611880" cy="11430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5840" y="1298448"/>
            <a:ext cx="3200400" cy="274320"/>
          </a:xfrm>
          <a:prstGeom prst="rect">
            <a:avLst/>
          </a:prstGeom>
          <a:noFill/>
        </p:spPr>
        <p:txBody>
          <a:bodyPr wrap="square" anchor="t" lIns="0" rIns="0" tIns="0" bIns="0">
            <a:spAutoFit/>
          </a:bodyPr>
          <a:lstStyle/>
          <a:p>
            <a:pPr algn="l">
              <a:spcAft>
                <a:spcPts val="400"/>
              </a:spcAft>
            </a:pPr>
            <a:r>
              <a:rPr sz="1500" b="1">
                <a:solidFill>
                  <a:srgbClr val="D054FC"/>
                </a:solidFill>
                <a:latin typeface="DM Sans"/>
              </a:rPr>
              <a:t>Crear el índice pidió 4 GB</a:t>
            </a:r>
          </a:p>
        </p:txBody>
      </p:sp>
      <p:sp>
        <p:nvSpPr>
          <p:cNvPr id="116" name="TextBox 115"/>
          <p:cNvSpPr txBox="1"/>
          <p:nvPr/>
        </p:nvSpPr>
        <p:spPr>
          <a:xfrm>
            <a:off x="1005840" y="1645920"/>
            <a:ext cx="3200400" cy="640080"/>
          </a:xfrm>
          <a:prstGeom prst="rect">
            <a:avLst/>
          </a:prstGeom>
          <a:noFill/>
        </p:spPr>
        <p:txBody>
          <a:bodyPr wrap="square" anchor="t" lIns="0" rIns="0" tIns="0" bIns="0">
            <a:spAutoFit/>
          </a:bodyPr>
          <a:lstStyle/>
          <a:p>
            <a:pPr algn="l">
              <a:spcAft>
                <a:spcPts val="400"/>
              </a:spcAft>
            </a:pPr>
            <a:r>
              <a:rPr sz="1200" b="0">
                <a:solidFill>
                  <a:srgbClr val="434343"/>
                </a:solidFill>
                <a:latin typeface="DM Sans"/>
              </a:rPr>
              <a:t>Aurora se quedó sin memoria al construir el índice HNSW. Lo resolví bajando maintenance_work_mem a 1 GB.</a:t>
            </a:r>
          </a:p>
        </p:txBody>
      </p:sp>
      <p:sp>
        <p:nvSpPr>
          <p:cNvPr id="117" name="Rounded Rectangle 116"/>
          <p:cNvSpPr/>
          <p:nvPr/>
        </p:nvSpPr>
        <p:spPr>
          <a:xfrm>
            <a:off x="4663440" y="1188720"/>
            <a:ext cx="3611880" cy="11430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892040" y="1298448"/>
            <a:ext cx="3200400" cy="274320"/>
          </a:xfrm>
          <a:prstGeom prst="rect">
            <a:avLst/>
          </a:prstGeom>
          <a:noFill/>
        </p:spPr>
        <p:txBody>
          <a:bodyPr wrap="square" anchor="t" lIns="0" rIns="0" tIns="0" bIns="0">
            <a:spAutoFit/>
          </a:bodyPr>
          <a:lstStyle/>
          <a:p>
            <a:pPr algn="l">
              <a:spcAft>
                <a:spcPts val="400"/>
              </a:spcAft>
            </a:pPr>
            <a:r>
              <a:rPr sz="1500" b="1">
                <a:solidFill>
                  <a:srgbClr val="D054FC"/>
                </a:solidFill>
                <a:latin typeface="DM Sans"/>
              </a:rPr>
              <a:t>«Listo» no significa listo</a:t>
            </a:r>
          </a:p>
        </p:txBody>
      </p:sp>
      <p:sp>
        <p:nvSpPr>
          <p:cNvPr id="119" name="TextBox 118"/>
          <p:cNvSpPr txBox="1"/>
          <p:nvPr/>
        </p:nvSpPr>
        <p:spPr>
          <a:xfrm>
            <a:off x="4892040" y="1645920"/>
            <a:ext cx="3200400" cy="640080"/>
          </a:xfrm>
          <a:prstGeom prst="rect">
            <a:avLst/>
          </a:prstGeom>
          <a:noFill/>
        </p:spPr>
        <p:txBody>
          <a:bodyPr wrap="square" anchor="t" lIns="0" rIns="0" tIns="0" bIns="0">
            <a:spAutoFit/>
          </a:bodyPr>
          <a:lstStyle/>
          <a:p>
            <a:pPr algn="l">
              <a:spcAft>
                <a:spcPts val="400"/>
              </a:spcAft>
            </a:pPr>
            <a:r>
              <a:rPr sz="1200" b="0">
                <a:solidFill>
                  <a:srgbClr val="434343"/>
                </a:solidFill>
                <a:latin typeface="DM Sans"/>
              </a:rPr>
              <a:t>DynamoDB marca el índice como ACTIVE, pero las primeras búsquedas fallan un rato. Reintenta.</a:t>
            </a:r>
          </a:p>
        </p:txBody>
      </p:sp>
      <p:sp>
        <p:nvSpPr>
          <p:cNvPr id="120" name="Rounded Rectangle 119"/>
          <p:cNvSpPr/>
          <p:nvPr/>
        </p:nvSpPr>
        <p:spPr>
          <a:xfrm>
            <a:off x="777240" y="2468880"/>
            <a:ext cx="3611880" cy="11430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005840" y="2578608"/>
            <a:ext cx="3200400" cy="274320"/>
          </a:xfrm>
          <a:prstGeom prst="rect">
            <a:avLst/>
          </a:prstGeom>
          <a:noFill/>
        </p:spPr>
        <p:txBody>
          <a:bodyPr wrap="square" anchor="t" lIns="0" rIns="0" tIns="0" bIns="0">
            <a:spAutoFit/>
          </a:bodyPr>
          <a:lstStyle/>
          <a:p>
            <a:pPr algn="l">
              <a:spcAft>
                <a:spcPts val="400"/>
              </a:spcAft>
            </a:pPr>
            <a:r>
              <a:rPr sz="1500" b="1">
                <a:solidFill>
                  <a:srgbClr val="D054FC"/>
                </a:solidFill>
                <a:latin typeface="DM Sans"/>
              </a:rPr>
              <a:t>Cuenta nueva, cuota en cero</a:t>
            </a:r>
          </a:p>
        </p:txBody>
      </p:sp>
      <p:sp>
        <p:nvSpPr>
          <p:cNvPr id="122" name="TextBox 121"/>
          <p:cNvSpPr txBox="1"/>
          <p:nvPr/>
        </p:nvSpPr>
        <p:spPr>
          <a:xfrm>
            <a:off x="1005840" y="2926080"/>
            <a:ext cx="3200400" cy="640080"/>
          </a:xfrm>
          <a:prstGeom prst="rect">
            <a:avLst/>
          </a:prstGeom>
          <a:noFill/>
        </p:spPr>
        <p:txBody>
          <a:bodyPr wrap="square" anchor="t" lIns="0" rIns="0" tIns="0" bIns="0">
            <a:spAutoFit/>
          </a:bodyPr>
          <a:lstStyle/>
          <a:p>
            <a:pPr algn="l">
              <a:spcAft>
                <a:spcPts val="400"/>
              </a:spcAft>
            </a:pPr>
            <a:r>
              <a:rPr sz="1200" b="0">
                <a:solidFill>
                  <a:srgbClr val="434343"/>
                </a:solidFill>
                <a:latin typeface="DM Sans"/>
              </a:rPr>
              <a:t>En una cuenta recién creada, la cuota de Bedrock para embeddings estaba en 0. Revísala antes del día de la demo.</a:t>
            </a:r>
          </a:p>
        </p:txBody>
      </p:sp>
      <p:sp>
        <p:nvSpPr>
          <p:cNvPr id="123" name="Rounded Rectangle 122"/>
          <p:cNvSpPr/>
          <p:nvPr/>
        </p:nvSpPr>
        <p:spPr>
          <a:xfrm>
            <a:off x="4663440" y="2468880"/>
            <a:ext cx="3611880" cy="11430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92040" y="2578608"/>
            <a:ext cx="3200400" cy="274320"/>
          </a:xfrm>
          <a:prstGeom prst="rect">
            <a:avLst/>
          </a:prstGeom>
          <a:noFill/>
        </p:spPr>
        <p:txBody>
          <a:bodyPr wrap="square" anchor="t" lIns="0" rIns="0" tIns="0" bIns="0">
            <a:spAutoFit/>
          </a:bodyPr>
          <a:lstStyle/>
          <a:p>
            <a:pPr algn="l">
              <a:spcAft>
                <a:spcPts val="400"/>
              </a:spcAft>
            </a:pPr>
            <a:r>
              <a:rPr sz="1500" b="1">
                <a:solidFill>
                  <a:srgbClr val="D054FC"/>
                </a:solidFill>
                <a:latin typeface="DM Sans"/>
              </a:rPr>
              <a:t>No había GPU</a:t>
            </a:r>
          </a:p>
        </p:txBody>
      </p:sp>
      <p:sp>
        <p:nvSpPr>
          <p:cNvPr id="125" name="TextBox 124"/>
          <p:cNvSpPr txBox="1"/>
          <p:nvPr/>
        </p:nvSpPr>
        <p:spPr>
          <a:xfrm>
            <a:off x="4892040" y="2926080"/>
            <a:ext cx="3200400" cy="640080"/>
          </a:xfrm>
          <a:prstGeom prst="rect">
            <a:avLst/>
          </a:prstGeom>
          <a:noFill/>
        </p:spPr>
        <p:txBody>
          <a:bodyPr wrap="square" anchor="t" lIns="0" rIns="0" tIns="0" bIns="0">
            <a:spAutoFit/>
          </a:bodyPr>
          <a:lstStyle/>
          <a:p>
            <a:pPr algn="l">
              <a:spcAft>
                <a:spcPts val="400"/>
              </a:spcAft>
            </a:pPr>
            <a:r>
              <a:rPr sz="1200" b="0">
                <a:solidFill>
                  <a:srgbClr val="434343"/>
                </a:solidFill>
                <a:latin typeface="DM Sans"/>
              </a:rPr>
              <a:t>No había GPU disponible para Qwen en Virginia ni en Oregón. Al final lo desplegué en Ohio.</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19"/>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9"/>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Pruébalo en tu celular</a:t>
            </a:r>
            <a:endParaRPr b="1" i="0" sz="2900" u="none" cap="none" strike="noStrike">
              <a:solidFill>
                <a:srgbClr val="FFFFFF"/>
              </a:solidFill>
              <a:latin typeface="DM Sans ExtraBold"/>
              <a:ea typeface="DM Sans ExtraBold"/>
              <a:cs typeface="DM Sans ExtraBold"/>
              <a:sym typeface="DM Sans ExtraBold"/>
            </a:endParaRPr>
          </a:p>
        </p:txBody>
      </p:sp>
      <p:pic>
        <p:nvPicPr>
          <p:cNvPr id="121" name="Google Shape;121;p19"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22" name="Rounded Rectangle 121"/>
          <p:cNvSpPr/>
          <p:nvPr/>
        </p:nvSpPr>
        <p:spPr>
          <a:xfrm>
            <a:off x="640080" y="1188720"/>
            <a:ext cx="4023360" cy="2377440"/>
          </a:xfrm>
          <a:prstGeom prst="roundRect">
            <a:avLst>
              <a:gd name="adj" fmla="val 8000"/>
            </a:avLst>
          </a:prstGeom>
          <a:solidFill>
            <a:srgbClr val="FFFFFF"/>
          </a:solidFill>
          <a:ln w="12700">
            <a:solidFill>
              <a:srgbClr val="4A3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3" name="Picture 122" descr="qr-event.png"/>
          <p:cNvPicPr>
            <a:picLocks noChangeAspect="1"/>
          </p:cNvPicPr>
          <p:nvPr/>
        </p:nvPicPr>
        <p:blipFill>
          <a:blip r:embed="rId6"/>
          <a:stretch>
            <a:fillRect/>
          </a:stretch>
        </p:blipFill>
        <p:spPr>
          <a:xfrm>
            <a:off x="822960" y="1325880"/>
            <a:ext cx="1920240" cy="1920240"/>
          </a:xfrm>
          <a:prstGeom prst="rect">
            <a:avLst/>
          </a:prstGeom>
        </p:spPr>
      </p:pic>
      <p:sp>
        <p:nvSpPr>
          <p:cNvPr id="124" name="TextBox 123"/>
          <p:cNvSpPr txBox="1"/>
          <p:nvPr/>
        </p:nvSpPr>
        <p:spPr>
          <a:xfrm>
            <a:off x="2880360" y="1417320"/>
            <a:ext cx="1691640" cy="2011680"/>
          </a:xfrm>
          <a:prstGeom prst="rect">
            <a:avLst/>
          </a:prstGeom>
          <a:noFill/>
        </p:spPr>
        <p:txBody>
          <a:bodyPr wrap="square" anchor="t" lIns="0" rIns="0" tIns="0" bIns="0">
            <a:spAutoFit/>
          </a:bodyPr>
          <a:lstStyle/>
          <a:p>
            <a:pPr algn="l">
              <a:spcAft>
                <a:spcPts val="600"/>
              </a:spcAft>
            </a:pPr>
            <a:r>
              <a:rPr sz="1500" b="1">
                <a:solidFill>
                  <a:srgbClr val="A433F3"/>
                </a:solidFill>
                <a:latin typeface="DM Sans"/>
              </a:rPr>
              <a:t>Pruébalo tú</a:t>
            </a:r>
          </a:p>
          <a:p>
            <a:pPr algn="l">
              <a:spcAft>
                <a:spcPts val="600"/>
              </a:spcAft>
            </a:pPr>
            <a:r>
              <a:rPr sz="1100" b="0">
                <a:solidFill>
                  <a:srgbClr val="434343"/>
                </a:solidFill>
                <a:latin typeface="DM Sans"/>
              </a:rPr>
              <a:t>Escanea y entra</a:t>
            </a:r>
          </a:p>
          <a:p>
            <a:pPr algn="l">
              <a:spcAft>
                <a:spcPts val="600"/>
              </a:spcAft>
            </a:pPr>
            <a:r>
              <a:rPr sz="900" b="1">
                <a:solidFill>
                  <a:srgbClr val="434343"/>
                </a:solidFill>
                <a:latin typeface="DM Sans"/>
              </a:rPr>
              <a:t>scd2026.builtbyandres.com</a:t>
            </a:r>
          </a:p>
          <a:p>
            <a:pPr algn="l">
              <a:spcAft>
                <a:spcPts val="600"/>
              </a:spcAft>
            </a:pPr>
            <a:r>
              <a:rPr sz="1000" b="0">
                <a:solidFill>
                  <a:srgbClr val="6B6B80"/>
                </a:solidFill>
                <a:latin typeface="DM Sans"/>
              </a:rPr>
              <a:t>código: </a:t>
            </a:r>
            <a:r>
              <a:rPr sz="1200" b="1">
                <a:solidFill>
                  <a:srgbClr val="A433F3"/>
                </a:solidFill>
                <a:latin typeface="Courier New"/>
              </a:rPr>
              <a:t>a4n9ck</a:t>
            </a:r>
          </a:p>
        </p:txBody>
      </p:sp>
      <p:sp>
        <p:nvSpPr>
          <p:cNvPr id="125" name="TextBox 124"/>
          <p:cNvSpPr txBox="1"/>
          <p:nvPr/>
        </p:nvSpPr>
        <p:spPr>
          <a:xfrm>
            <a:off x="4846320" y="1234440"/>
            <a:ext cx="3429000" cy="2377440"/>
          </a:xfrm>
          <a:prstGeom prst="rect">
            <a:avLst/>
          </a:prstGeom>
          <a:noFill/>
        </p:spPr>
        <p:txBody>
          <a:bodyPr wrap="square" anchor="t" lIns="0" rIns="0" tIns="0" bIns="0">
            <a:spAutoFit/>
          </a:bodyPr>
          <a:lstStyle/>
          <a:p>
            <a:pPr algn="l">
              <a:spcAft>
                <a:spcPts val="700"/>
              </a:spcAft>
            </a:pPr>
            <a:r>
              <a:rPr sz="1800" b="1">
                <a:solidFill>
                  <a:srgbClr val="E6DFFF"/>
                </a:solidFill>
                <a:latin typeface="DM Sans"/>
              </a:rPr>
              <a:t>Gana créditos de AWS</a:t>
            </a:r>
          </a:p>
          <a:p>
            <a:pPr algn="l">
              <a:spcAft>
                <a:spcPts val="700"/>
              </a:spcAft>
            </a:pPr>
            <a:r>
              <a:rPr sz="1500" b="0">
                <a:solidFill>
                  <a:srgbClr val="FFFFFF"/>
                </a:solidFill>
                <a:latin typeface="DM Sans"/>
              </a:rPr>
              <a:t>1. Elige la base que crees que gana</a:t>
            </a:r>
          </a:p>
          <a:p>
            <a:pPr algn="l">
              <a:spcAft>
                <a:spcPts val="700"/>
              </a:spcAft>
            </a:pPr>
            <a:r>
              <a:rPr sz="1500" b="0">
                <a:solidFill>
                  <a:srgbClr val="FFFFFF"/>
                </a:solidFill>
                <a:latin typeface="DM Sans"/>
              </a:rPr>
              <a:t>2. Mira la carrera</a:t>
            </a:r>
          </a:p>
          <a:p>
            <a:pPr algn="l">
              <a:spcAft>
                <a:spcPts val="700"/>
              </a:spcAft>
            </a:pPr>
            <a:r>
              <a:rPr sz="1500" b="0">
                <a:solidFill>
                  <a:srgbClr val="FFFFFF"/>
                </a:solidFill>
                <a:latin typeface="DM Sans"/>
              </a:rPr>
              <a:t>3. Si acertaste, entras al sorteo</a:t>
            </a:r>
          </a:p>
          <a:p>
            <a:pPr algn="l">
              <a:spcAft>
                <a:spcPts val="700"/>
              </a:spcAft>
            </a:pPr>
            <a:r>
              <a:rPr sz="1500" b="0">
                <a:solidFill>
                  <a:srgbClr val="FFFFFF"/>
                </a:solidFill>
                <a:latin typeface="DM Sans"/>
              </a:rPr>
              <a:t>Un código por ronda, hasta repartir los 5</a:t>
            </a:r>
          </a:p>
          <a:p>
            <a:pPr algn="l">
              <a:spcAft>
                <a:spcPts val="700"/>
              </a:spcAft>
            </a:pPr>
            <a:r>
              <a:rPr sz="1200" b="0">
                <a:solidFill>
                  <a:srgbClr val="C9C2E8"/>
                </a:solidFill>
                <a:latin typeface="DM Sans"/>
              </a:rPr>
              <a:t>Rondas de 4 preguntas · 5 códigos</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400">
                <a:solidFill>
                  <a:srgbClr val="434343"/>
                </a:solidFill>
                <a:latin typeface="DM Sans ExtraBold"/>
                <a:ea typeface="DM Sans ExtraBold"/>
                <a:cs typeface="DM Sans ExtraBold"/>
                <a:sym typeface="DM Sans ExtraBold"/>
              </a:rPr>
              <a:t>Qué muestra la demo (y qué no)</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234440"/>
            <a:ext cx="3611880" cy="23774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5840" y="1371600"/>
            <a:ext cx="3200400" cy="320040"/>
          </a:xfrm>
          <a:prstGeom prst="rect">
            <a:avLst/>
          </a:prstGeom>
          <a:noFill/>
        </p:spPr>
        <p:txBody>
          <a:bodyPr wrap="square" anchor="t" lIns="0" rIns="0" tIns="0" bIns="0">
            <a:spAutoFit/>
          </a:bodyPr>
          <a:lstStyle/>
          <a:p>
            <a:pPr algn="l">
              <a:spcAft>
                <a:spcPts val="400"/>
              </a:spcAft>
            </a:pPr>
            <a:r>
              <a:rPr sz="1500" b="1">
                <a:solidFill>
                  <a:srgbClr val="A433F3"/>
                </a:solidFill>
                <a:latin typeface="DM Sans"/>
              </a:rPr>
              <a:t>Lo que sí muestra</a:t>
            </a:r>
          </a:p>
        </p:txBody>
      </p:sp>
      <p:sp>
        <p:nvSpPr>
          <p:cNvPr id="116" name="TextBox 115"/>
          <p:cNvSpPr txBox="1"/>
          <p:nvPr/>
        </p:nvSpPr>
        <p:spPr>
          <a:xfrm>
            <a:off x="1005840" y="1828800"/>
            <a:ext cx="3200400" cy="1737360"/>
          </a:xfrm>
          <a:prstGeom prst="rect">
            <a:avLst/>
          </a:prstGeom>
          <a:noFill/>
        </p:spPr>
        <p:txBody>
          <a:bodyPr wrap="square" anchor="t" lIns="0" rIns="0" tIns="0" bIns="0">
            <a:spAutoFit/>
          </a:bodyPr>
          <a:lstStyle/>
          <a:p>
            <a:pPr algn="l">
              <a:spcAft>
                <a:spcPts val="900"/>
              </a:spcAft>
            </a:pPr>
            <a:r>
              <a:rPr sz="1300" b="0">
                <a:solidFill>
                  <a:srgbClr val="434343"/>
                </a:solidFill>
                <a:latin typeface="DM Sans"/>
              </a:rPr>
              <a:t>• Las 4 bases respondiendo tu pregunta al mismo tiempo</a:t>
            </a:r>
          </a:p>
          <a:p>
            <a:pPr algn="l">
              <a:spcAft>
                <a:spcPts val="900"/>
              </a:spcAft>
            </a:pPr>
            <a:r>
              <a:rPr sz="1300" b="0">
                <a:solidFill>
                  <a:srgbClr val="434343"/>
                </a:solidFill>
                <a:latin typeface="DM Sans"/>
              </a:rPr>
              <a:t>• El arranque en frío en vivo, si alguna estaba apagada</a:t>
            </a:r>
          </a:p>
          <a:p>
            <a:pPr algn="l">
              <a:spcAft>
                <a:spcPts val="900"/>
              </a:spcAft>
            </a:pPr>
            <a:r>
              <a:rPr sz="1300" b="0">
                <a:solidFill>
                  <a:srgbClr val="434343"/>
                </a:solidFill>
                <a:latin typeface="DM Sans"/>
              </a:rPr>
              <a:t>• Que casi siempre devuelven los mismos resultados</a:t>
            </a:r>
          </a:p>
        </p:txBody>
      </p:sp>
      <p:sp>
        <p:nvSpPr>
          <p:cNvPr id="117" name="Rounded Rectangle 116"/>
          <p:cNvSpPr/>
          <p:nvPr/>
        </p:nvSpPr>
        <p:spPr>
          <a:xfrm>
            <a:off x="4663440" y="1234440"/>
            <a:ext cx="3611880" cy="237744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892040" y="1371600"/>
            <a:ext cx="3200400" cy="320040"/>
          </a:xfrm>
          <a:prstGeom prst="rect">
            <a:avLst/>
          </a:prstGeom>
          <a:noFill/>
        </p:spPr>
        <p:txBody>
          <a:bodyPr wrap="square" anchor="t" lIns="0" rIns="0" tIns="0" bIns="0">
            <a:spAutoFit/>
          </a:bodyPr>
          <a:lstStyle/>
          <a:p>
            <a:pPr algn="l">
              <a:spcAft>
                <a:spcPts val="400"/>
              </a:spcAft>
            </a:pPr>
            <a:r>
              <a:rPr sz="1500" b="1">
                <a:solidFill>
                  <a:srgbClr val="D054FC"/>
                </a:solidFill>
                <a:latin typeface="DM Sans"/>
              </a:rPr>
              <a:t>Lo que no muestra</a:t>
            </a:r>
          </a:p>
        </p:txBody>
      </p:sp>
      <p:sp>
        <p:nvSpPr>
          <p:cNvPr id="119" name="TextBox 118"/>
          <p:cNvSpPr txBox="1"/>
          <p:nvPr/>
        </p:nvSpPr>
        <p:spPr>
          <a:xfrm>
            <a:off x="4892040" y="1828800"/>
            <a:ext cx="3200400" cy="1737360"/>
          </a:xfrm>
          <a:prstGeom prst="rect">
            <a:avLst/>
          </a:prstGeom>
          <a:noFill/>
        </p:spPr>
        <p:txBody>
          <a:bodyPr wrap="square" anchor="t" lIns="0" rIns="0" tIns="0" bIns="0">
            <a:spAutoFit/>
          </a:bodyPr>
          <a:lstStyle/>
          <a:p>
            <a:pPr algn="l">
              <a:spcAft>
                <a:spcPts val="900"/>
              </a:spcAft>
            </a:pPr>
            <a:r>
              <a:rPr sz="1300" b="0">
                <a:solidFill>
                  <a:srgbClr val="434343"/>
                </a:solidFill>
                <a:latin typeface="DM Sans"/>
              </a:rPr>
              <a:t>• El tiempo incluye la red desde Lambda</a:t>
            </a:r>
          </a:p>
          <a:p>
            <a:pPr algn="l">
              <a:spcAft>
                <a:spcPts val="900"/>
              </a:spcAft>
            </a:pPr>
            <a:r>
              <a:rPr sz="1300" b="0">
                <a:solidFill>
                  <a:srgbClr val="434343"/>
                </a:solidFill>
                <a:latin typeface="DM Sans"/>
              </a:rPr>
              <a:t>• Aurora responde por la Data API (HTTP): no esperes 1,3 ms</a:t>
            </a:r>
          </a:p>
          <a:p>
            <a:pPr algn="l">
              <a:spcAft>
                <a:spcPts val="900"/>
              </a:spcAft>
            </a:pPr>
            <a:r>
              <a:rPr sz="1300" b="0">
                <a:solidFill>
                  <a:srgbClr val="434343"/>
                </a:solidFill>
                <a:latin typeface="DM Sans"/>
              </a:rPr>
              <a:t>• Colecciones de 15.460 fragmentos y 3 resultados por pregunta</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p:nvPr/>
        </p:nvSpPr>
        <p:spPr>
          <a:xfrm>
            <a:off x="0" y="3081000"/>
            <a:ext cx="9144000" cy="2063100"/>
          </a:xfrm>
          <a:prstGeom prst="roundRect">
            <a:avLst>
              <a:gd fmla="val 0" name="adj"/>
            </a:avLst>
          </a:prstGeom>
          <a:gradFill>
            <a:gsLst>
              <a:gs pos="0">
                <a:srgbClr val="FFFFFF">
                  <a:alpha val="0"/>
                </a:srgbClr>
              </a:gs>
              <a:gs pos="100000">
                <a:schemeClr val="lt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1" name="Google Shape;111;p18" title="letras logo 2.png"/>
          <p:cNvPicPr preferRelativeResize="0"/>
          <p:nvPr/>
        </p:nvPicPr>
        <p:blipFill>
          <a:blip r:embed="rId4">
            <a:alphaModFix/>
          </a:blip>
          <a:stretch>
            <a:fillRect/>
          </a:stretch>
        </p:blipFill>
        <p:spPr>
          <a:xfrm>
            <a:off x="7602162" y="32074"/>
            <a:ext cx="1360750" cy="785013"/>
          </a:xfrm>
          <a:prstGeom prst="rect">
            <a:avLst/>
          </a:prstGeom>
          <a:noFill/>
          <a:ln>
            <a:noFill/>
          </a:ln>
        </p:spPr>
      </p:pic>
      <p:sp>
        <p:nvSpPr>
          <p:cNvPr id="113" name="Google Shape;113;p18"/>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434343"/>
                </a:solidFill>
                <a:latin typeface="DM Sans ExtraBold"/>
                <a:ea typeface="DM Sans ExtraBold"/>
                <a:cs typeface="DM Sans ExtraBold"/>
                <a:sym typeface="DM Sans ExtraBold"/>
              </a:rPr>
              <a:t>Repítelo con tus datos</a:t>
            </a:r>
            <a:endParaRPr b="1" i="0" sz="2900" u="none" cap="none" strike="noStrike">
              <a:solidFill>
                <a:srgbClr val="434343"/>
              </a:solidFill>
              <a:latin typeface="DM Sans ExtraBold"/>
              <a:ea typeface="DM Sans ExtraBold"/>
              <a:cs typeface="DM Sans ExtraBold"/>
              <a:sym typeface="DM Sans ExtraBold"/>
            </a:endParaRPr>
          </a:p>
        </p:txBody>
      </p:sp>
      <p:sp>
        <p:nvSpPr>
          <p:cNvPr id="114" name="Rounded Rectangle 113"/>
          <p:cNvSpPr/>
          <p:nvPr/>
        </p:nvSpPr>
        <p:spPr>
          <a:xfrm>
            <a:off x="777240" y="1234440"/>
            <a:ext cx="4754880" cy="2514600"/>
          </a:xfrm>
          <a:prstGeom prst="roundRect">
            <a:avLst>
              <a:gd name="adj" fmla="val 8000"/>
            </a:avLst>
          </a:prstGeom>
          <a:solidFill>
            <a:srgbClr val="F4F0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5840" y="1325880"/>
            <a:ext cx="4389120" cy="2377440"/>
          </a:xfrm>
          <a:prstGeom prst="rect">
            <a:avLst/>
          </a:prstGeom>
          <a:noFill/>
        </p:spPr>
        <p:txBody>
          <a:bodyPr wrap="square" anchor="t" lIns="0" rIns="0" tIns="0" bIns="0">
            <a:spAutoFit/>
          </a:bodyPr>
          <a:lstStyle/>
          <a:p>
            <a:pPr algn="l">
              <a:spcAft>
                <a:spcPts val="500"/>
              </a:spcAft>
            </a:pPr>
            <a:r>
              <a:rPr sz="1500" b="1">
                <a:solidFill>
                  <a:srgbClr val="A433F3"/>
                </a:solidFill>
                <a:latin typeface="DM Sans"/>
              </a:rPr>
              <a:t>El laboratorio completo</a:t>
            </a:r>
          </a:p>
          <a:p>
            <a:pPr algn="l">
              <a:spcAft>
                <a:spcPts val="500"/>
              </a:spcAft>
            </a:pPr>
            <a:r>
              <a:rPr sz="1300" b="0">
                <a:solidFill>
                  <a:srgbClr val="434343"/>
                </a:solidFill>
                <a:latin typeface="DM Sans"/>
              </a:rPr>
              <a:t>Terraform, scripts, preguntas y resultados en CSV</a:t>
            </a:r>
          </a:p>
          <a:p>
            <a:pPr algn="l">
              <a:spcAft>
                <a:spcPts val="500"/>
              </a:spcAft>
            </a:pPr>
            <a:r>
              <a:rPr sz="1500" b="1">
                <a:solidFill>
                  <a:srgbClr val="A433F3"/>
                </a:solidFill>
                <a:latin typeface="DM Sans"/>
              </a:rPr>
              <a:t>Proyecto de ejemplo: buscador de leyes con DynamoDB</a:t>
            </a:r>
          </a:p>
          <a:p>
            <a:pPr algn="l">
              <a:spcAft>
                <a:spcPts val="500"/>
              </a:spcAft>
            </a:pPr>
            <a:r>
              <a:rPr sz="1200" b="1">
                <a:solidFill>
                  <a:srgbClr val="434343"/>
                </a:solidFill>
                <a:latin typeface="Courier New"/>
              </a:rPr>
              <a:t>cd free-tier &amp;&amp; ./deploy.sh</a:t>
            </a:r>
          </a:p>
          <a:p>
            <a:pPr algn="l">
              <a:spcAft>
                <a:spcPts val="500"/>
              </a:spcAft>
            </a:pPr>
            <a:r>
              <a:rPr sz="1300" b="0">
                <a:solidFill>
                  <a:srgbClr val="434343"/>
                </a:solidFill>
                <a:latin typeface="DM Sans"/>
              </a:rPr>
              <a:t>Antes, revisa tu cuota de Bedrock. Al terminar:</a:t>
            </a:r>
          </a:p>
          <a:p>
            <a:pPr algn="l">
              <a:spcAft>
                <a:spcPts val="500"/>
              </a:spcAft>
            </a:pPr>
            <a:r>
              <a:rPr sz="1200" b="1">
                <a:solidFill>
                  <a:srgbClr val="434343"/>
                </a:solidFill>
                <a:latin typeface="Courier New"/>
              </a:rPr>
              <a:t>./destroy.sh</a:t>
            </a:r>
          </a:p>
        </p:txBody>
      </p:sp>
      <p:sp>
        <p:nvSpPr>
          <p:cNvPr id="116" name="Rounded Rectangle 115"/>
          <p:cNvSpPr/>
          <p:nvPr/>
        </p:nvSpPr>
        <p:spPr>
          <a:xfrm>
            <a:off x="5760720" y="1234440"/>
            <a:ext cx="2468880" cy="2514600"/>
          </a:xfrm>
          <a:prstGeom prst="roundRect">
            <a:avLst>
              <a:gd name="adj" fmla="val 8000"/>
            </a:avLst>
          </a:prstGeom>
          <a:solidFill>
            <a:srgbClr val="FFFFFF"/>
          </a:solidFill>
          <a:ln w="12700">
            <a:solidFill>
              <a:srgbClr val="DDD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7" name="Picture 116" descr="qr.png"/>
          <p:cNvPicPr>
            <a:picLocks noChangeAspect="1"/>
          </p:cNvPicPr>
          <p:nvPr/>
        </p:nvPicPr>
        <p:blipFill>
          <a:blip r:embed="rId2"/>
          <a:stretch>
            <a:fillRect/>
          </a:stretch>
        </p:blipFill>
        <p:spPr>
          <a:xfrm>
            <a:off x="6035040" y="1325880"/>
            <a:ext cx="1920240" cy="1920240"/>
          </a:xfrm>
          <a:prstGeom prst="rect">
            <a:avLst/>
          </a:prstGeom>
        </p:spPr>
      </p:pic>
      <p:sp>
        <p:nvSpPr>
          <p:cNvPr id="118" name="TextBox 117"/>
          <p:cNvSpPr txBox="1"/>
          <p:nvPr/>
        </p:nvSpPr>
        <p:spPr>
          <a:xfrm>
            <a:off x="5806440" y="3310128"/>
            <a:ext cx="2377440" cy="274320"/>
          </a:xfrm>
          <a:prstGeom prst="rect">
            <a:avLst/>
          </a:prstGeom>
          <a:noFill/>
        </p:spPr>
        <p:txBody>
          <a:bodyPr wrap="square" anchor="t" lIns="0" rIns="0" tIns="0" bIns="0">
            <a:spAutoFit/>
          </a:bodyPr>
          <a:lstStyle/>
          <a:p>
            <a:pPr algn="ctr">
              <a:spcAft>
                <a:spcPts val="400"/>
              </a:spcAft>
            </a:pPr>
            <a:r>
              <a:rPr sz="900" b="0">
                <a:solidFill>
                  <a:srgbClr val="6B6B80"/>
                </a:solidFill>
                <a:latin typeface="DM Sans"/>
              </a:rPr>
              <a:t>github.com/andrezc98/fast-and-vectorious</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2" name="Google Shape;102;p17"/>
          <p:cNvSpPr txBox="1"/>
          <p:nvPr/>
        </p:nvSpPr>
        <p:spPr>
          <a:xfrm>
            <a:off x="1143000" y="475425"/>
            <a:ext cx="6400800" cy="59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lang="es" sz="2900">
                <a:solidFill>
                  <a:srgbClr val="FFFFFF"/>
                </a:solidFill>
                <a:latin typeface="DM Sans ExtraBold"/>
                <a:ea typeface="DM Sans ExtraBold"/>
                <a:cs typeface="DM Sans ExtraBold"/>
                <a:sym typeface="DM Sans ExtraBold"/>
              </a:rPr>
              <a:t>Tres ideas para llevarte</a:t>
            </a:r>
            <a:endParaRPr b="1" i="0" sz="2900" u="none" cap="none" strike="noStrike">
              <a:solidFill>
                <a:srgbClr val="FFFFFF"/>
              </a:solidFill>
              <a:latin typeface="DM Sans ExtraBold"/>
              <a:ea typeface="DM Sans ExtraBold"/>
              <a:cs typeface="DM Sans ExtraBold"/>
              <a:sym typeface="DM Sans ExtraBold"/>
            </a:endParaRPr>
          </a:p>
        </p:txBody>
      </p:sp>
      <p:pic>
        <p:nvPicPr>
          <p:cNvPr id="103" name="Google Shape;103;p17" title="letras logo.png"/>
          <p:cNvPicPr preferRelativeResize="0"/>
          <p:nvPr/>
        </p:nvPicPr>
        <p:blipFill>
          <a:blip r:embed="rId4">
            <a:alphaModFix/>
          </a:blip>
          <a:stretch>
            <a:fillRect/>
          </a:stretch>
        </p:blipFill>
        <p:spPr>
          <a:xfrm>
            <a:off x="7635788" y="67913"/>
            <a:ext cx="1360773" cy="785025"/>
          </a:xfrm>
          <a:prstGeom prst="rect">
            <a:avLst/>
          </a:prstGeom>
          <a:noFill/>
          <a:ln>
            <a:noFill/>
          </a:ln>
        </p:spPr>
      </p:pic>
      <p:sp>
        <p:nvSpPr>
          <p:cNvPr id="105" name="Google Shape;105;p17"/>
          <p:cNvSpPr/>
          <p:nvPr/>
        </p:nvSpPr>
        <p:spPr>
          <a:xfrm>
            <a:off x="0" y="3547825"/>
            <a:ext cx="9144000" cy="15960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TextBox 105"/>
          <p:cNvSpPr txBox="1"/>
          <p:nvPr/>
        </p:nvSpPr>
        <p:spPr>
          <a:xfrm>
            <a:off x="685800" y="1005840"/>
            <a:ext cx="7772400" cy="228600"/>
          </a:xfrm>
          <a:prstGeom prst="rect">
            <a:avLst/>
          </a:prstGeom>
          <a:noFill/>
        </p:spPr>
        <p:txBody>
          <a:bodyPr wrap="square" anchor="t" lIns="0" rIns="0" tIns="0" bIns="0">
            <a:spAutoFit/>
          </a:bodyPr>
          <a:lstStyle/>
          <a:p>
            <a:pPr algn="ctr">
              <a:spcAft>
                <a:spcPts val="400"/>
              </a:spcAft>
            </a:pPr>
            <a:r>
              <a:rPr sz="1400" b="1">
                <a:solidFill>
                  <a:srgbClr val="E6DFFF"/>
                </a:solidFill>
                <a:latin typeface="DM Sans"/>
              </a:rPr>
              <a:t>La base de 1,3 ms también fue la de 14 s. Mide las dos.</a:t>
            </a:r>
          </a:p>
        </p:txBody>
      </p:sp>
      <p:sp>
        <p:nvSpPr>
          <p:cNvPr id="107" name="Rounded Rectangle 106"/>
          <p:cNvSpPr/>
          <p:nvPr/>
        </p:nvSpPr>
        <p:spPr>
          <a:xfrm>
            <a:off x="685800" y="1371600"/>
            <a:ext cx="2468880" cy="210312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14400" y="1463040"/>
            <a:ext cx="548640" cy="548640"/>
          </a:xfrm>
          <a:prstGeom prst="rect">
            <a:avLst/>
          </a:prstGeom>
          <a:noFill/>
        </p:spPr>
        <p:txBody>
          <a:bodyPr wrap="square" anchor="t" lIns="0" rIns="0" tIns="0" bIns="0">
            <a:spAutoFit/>
          </a:bodyPr>
          <a:lstStyle/>
          <a:p>
            <a:pPr algn="l">
              <a:spcAft>
                <a:spcPts val="400"/>
              </a:spcAft>
            </a:pPr>
            <a:r>
              <a:rPr sz="3000" b="1">
                <a:solidFill>
                  <a:srgbClr val="D054FC"/>
                </a:solidFill>
                <a:latin typeface="DM Sans ExtraBold"/>
              </a:rPr>
              <a:t>1</a:t>
            </a:r>
          </a:p>
        </p:txBody>
      </p:sp>
      <p:sp>
        <p:nvSpPr>
          <p:cNvPr id="109" name="TextBox 108"/>
          <p:cNvSpPr txBox="1"/>
          <p:nvPr/>
        </p:nvSpPr>
        <p:spPr>
          <a:xfrm>
            <a:off x="914400" y="2011680"/>
            <a:ext cx="2057400" cy="320040"/>
          </a:xfrm>
          <a:prstGeom prst="rect">
            <a:avLst/>
          </a:prstGeom>
          <a:noFill/>
        </p:spPr>
        <p:txBody>
          <a:bodyPr wrap="square" anchor="t" lIns="0" rIns="0" tIns="0" bIns="0">
            <a:spAutoFit/>
          </a:bodyPr>
          <a:lstStyle/>
          <a:p>
            <a:pPr algn="l">
              <a:spcAft>
                <a:spcPts val="400"/>
              </a:spcAft>
            </a:pPr>
            <a:r>
              <a:rPr sz="1500" b="1">
                <a:solidFill>
                  <a:srgbClr val="FFFFFF"/>
                </a:solidFill>
                <a:latin typeface="DM Sans"/>
              </a:rPr>
              <a:t>Ninguna gana todo</a:t>
            </a:r>
          </a:p>
        </p:txBody>
      </p:sp>
      <p:sp>
        <p:nvSpPr>
          <p:cNvPr id="110" name="TextBox 109"/>
          <p:cNvSpPr txBox="1"/>
          <p:nvPr/>
        </p:nvSpPr>
        <p:spPr>
          <a:xfrm>
            <a:off x="914400" y="2377440"/>
            <a:ext cx="2057400" cy="1097280"/>
          </a:xfrm>
          <a:prstGeom prst="rect">
            <a:avLst/>
          </a:prstGeom>
          <a:noFill/>
        </p:spPr>
        <p:txBody>
          <a:bodyPr wrap="square" anchor="t" lIns="0" rIns="0" tIns="0" bIns="0">
            <a:spAutoFit/>
          </a:bodyPr>
          <a:lstStyle/>
          <a:p>
            <a:pPr algn="l">
              <a:spcAft>
                <a:spcPts val="400"/>
              </a:spcAft>
            </a:pPr>
            <a:r>
              <a:rPr sz="1200" b="0">
                <a:solidFill>
                  <a:srgbClr val="DCD3FA"/>
                </a:solidFill>
                <a:latin typeface="DM Sans"/>
              </a:rPr>
              <a:t>Aurora, la más rápida encendida. DynamoDB, la más barata y sin espera. OpenSearch, la mejor con filtros</a:t>
            </a:r>
          </a:p>
        </p:txBody>
      </p:sp>
      <p:sp>
        <p:nvSpPr>
          <p:cNvPr id="111" name="Rounded Rectangle 110"/>
          <p:cNvSpPr/>
          <p:nvPr/>
        </p:nvSpPr>
        <p:spPr>
          <a:xfrm>
            <a:off x="3337560" y="1371600"/>
            <a:ext cx="2468880" cy="210312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566160" y="1463040"/>
            <a:ext cx="548640" cy="548640"/>
          </a:xfrm>
          <a:prstGeom prst="rect">
            <a:avLst/>
          </a:prstGeom>
          <a:noFill/>
        </p:spPr>
        <p:txBody>
          <a:bodyPr wrap="square" anchor="t" lIns="0" rIns="0" tIns="0" bIns="0">
            <a:spAutoFit/>
          </a:bodyPr>
          <a:lstStyle/>
          <a:p>
            <a:pPr algn="l">
              <a:spcAft>
                <a:spcPts val="400"/>
              </a:spcAft>
            </a:pPr>
            <a:r>
              <a:rPr sz="3000" b="1">
                <a:solidFill>
                  <a:srgbClr val="D054FC"/>
                </a:solidFill>
                <a:latin typeface="DM Sans ExtraBold"/>
              </a:rPr>
              <a:t>2</a:t>
            </a:r>
          </a:p>
        </p:txBody>
      </p:sp>
      <p:sp>
        <p:nvSpPr>
          <p:cNvPr id="113" name="TextBox 112"/>
          <p:cNvSpPr txBox="1"/>
          <p:nvPr/>
        </p:nvSpPr>
        <p:spPr>
          <a:xfrm>
            <a:off x="3566160" y="2011680"/>
            <a:ext cx="2057400" cy="320040"/>
          </a:xfrm>
          <a:prstGeom prst="rect">
            <a:avLst/>
          </a:prstGeom>
          <a:noFill/>
        </p:spPr>
        <p:txBody>
          <a:bodyPr wrap="square" anchor="t" lIns="0" rIns="0" tIns="0" bIns="0">
            <a:spAutoFit/>
          </a:bodyPr>
          <a:lstStyle/>
          <a:p>
            <a:pPr algn="l">
              <a:spcAft>
                <a:spcPts val="400"/>
              </a:spcAft>
            </a:pPr>
            <a:r>
              <a:rPr sz="1500" b="1">
                <a:solidFill>
                  <a:srgbClr val="FFFFFF"/>
                </a:solidFill>
                <a:latin typeface="DM Sans"/>
              </a:rPr>
              <a:t>Mide cuatro cosas</a:t>
            </a:r>
          </a:p>
        </p:txBody>
      </p:sp>
      <p:sp>
        <p:nvSpPr>
          <p:cNvPr id="114" name="TextBox 113"/>
          <p:cNvSpPr txBox="1"/>
          <p:nvPr/>
        </p:nvSpPr>
        <p:spPr>
          <a:xfrm>
            <a:off x="3566160" y="2377440"/>
            <a:ext cx="2057400" cy="1097280"/>
          </a:xfrm>
          <a:prstGeom prst="rect">
            <a:avLst/>
          </a:prstGeom>
          <a:noFill/>
        </p:spPr>
        <p:txBody>
          <a:bodyPr wrap="square" anchor="t" lIns="0" rIns="0" tIns="0" bIns="0">
            <a:spAutoFit/>
          </a:bodyPr>
          <a:lstStyle/>
          <a:p>
            <a:pPr algn="l">
              <a:spcAft>
                <a:spcPts val="400"/>
              </a:spcAft>
            </a:pPr>
            <a:r>
              <a:rPr sz="1200" b="0">
                <a:solidFill>
                  <a:srgbClr val="DCD3FA"/>
                </a:solidFill>
                <a:latin typeface="DM Sans"/>
              </a:rPr>
              <a:t>Acierto, p95, arranque en frío y lo que cuesta estar encendida</a:t>
            </a:r>
          </a:p>
        </p:txBody>
      </p:sp>
      <p:sp>
        <p:nvSpPr>
          <p:cNvPr id="115" name="Rounded Rectangle 114"/>
          <p:cNvSpPr/>
          <p:nvPr/>
        </p:nvSpPr>
        <p:spPr>
          <a:xfrm>
            <a:off x="5989320" y="1371600"/>
            <a:ext cx="2468880" cy="2103120"/>
          </a:xfrm>
          <a:prstGeom prst="roundRect">
            <a:avLst>
              <a:gd name="adj" fmla="val 8000"/>
            </a:avLst>
          </a:prstGeom>
          <a:solidFill>
            <a:srgbClr val="2A2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217920" y="1463040"/>
            <a:ext cx="548640" cy="548640"/>
          </a:xfrm>
          <a:prstGeom prst="rect">
            <a:avLst/>
          </a:prstGeom>
          <a:noFill/>
        </p:spPr>
        <p:txBody>
          <a:bodyPr wrap="square" anchor="t" lIns="0" rIns="0" tIns="0" bIns="0">
            <a:spAutoFit/>
          </a:bodyPr>
          <a:lstStyle/>
          <a:p>
            <a:pPr algn="l">
              <a:spcAft>
                <a:spcPts val="400"/>
              </a:spcAft>
            </a:pPr>
            <a:r>
              <a:rPr sz="3000" b="1">
                <a:solidFill>
                  <a:srgbClr val="D054FC"/>
                </a:solidFill>
                <a:latin typeface="DM Sans ExtraBold"/>
              </a:rPr>
              <a:t>3</a:t>
            </a:r>
          </a:p>
        </p:txBody>
      </p:sp>
      <p:sp>
        <p:nvSpPr>
          <p:cNvPr id="117" name="TextBox 116"/>
          <p:cNvSpPr txBox="1"/>
          <p:nvPr/>
        </p:nvSpPr>
        <p:spPr>
          <a:xfrm>
            <a:off x="6217920" y="2011680"/>
            <a:ext cx="2057400" cy="320040"/>
          </a:xfrm>
          <a:prstGeom prst="rect">
            <a:avLst/>
          </a:prstGeom>
          <a:noFill/>
        </p:spPr>
        <p:txBody>
          <a:bodyPr wrap="square" anchor="t" lIns="0" rIns="0" tIns="0" bIns="0">
            <a:spAutoFit/>
          </a:bodyPr>
          <a:lstStyle/>
          <a:p>
            <a:pPr algn="l">
              <a:spcAft>
                <a:spcPts val="400"/>
              </a:spcAft>
            </a:pPr>
            <a:r>
              <a:rPr sz="1500" b="1">
                <a:solidFill>
                  <a:srgbClr val="FFFFFF"/>
                </a:solidFill>
                <a:latin typeface="DM Sans"/>
              </a:rPr>
              <a:t>Repítelo</a:t>
            </a:r>
          </a:p>
        </p:txBody>
      </p:sp>
      <p:sp>
        <p:nvSpPr>
          <p:cNvPr id="118" name="TextBox 117"/>
          <p:cNvSpPr txBox="1"/>
          <p:nvPr/>
        </p:nvSpPr>
        <p:spPr>
          <a:xfrm>
            <a:off x="6217920" y="2377440"/>
            <a:ext cx="2057400" cy="1097280"/>
          </a:xfrm>
          <a:prstGeom prst="rect">
            <a:avLst/>
          </a:prstGeom>
          <a:noFill/>
        </p:spPr>
        <p:txBody>
          <a:bodyPr wrap="square" anchor="t" lIns="0" rIns="0" tIns="0" bIns="0">
            <a:spAutoFit/>
          </a:bodyPr>
          <a:lstStyle/>
          <a:p>
            <a:pPr algn="l">
              <a:spcAft>
                <a:spcPts val="400"/>
              </a:spcAft>
            </a:pPr>
            <a:r>
              <a:rPr sz="1200" b="0">
                <a:solidFill>
                  <a:srgbClr val="DCD3FA"/>
                </a:solidFill>
                <a:latin typeface="DM Sans"/>
              </a:rPr>
              <a:t>El código del laboratorio y un ejemplo que cuesta centavos al mes</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21"/>
          <p:cNvSpPr/>
          <p:nvPr/>
        </p:nvSpPr>
        <p:spPr>
          <a:xfrm>
            <a:off x="0" y="3161100"/>
            <a:ext cx="9144000" cy="1982400"/>
          </a:xfrm>
          <a:prstGeom prst="roundRect">
            <a:avLst>
              <a:gd fmla="val 0" name="adj"/>
            </a:avLst>
          </a:prstGeom>
          <a:gradFill>
            <a:gsLst>
              <a:gs pos="0">
                <a:srgbClr val="4D4D4D"/>
              </a:gs>
              <a:gs pos="0">
                <a:srgbClr val="FFFFFF">
                  <a:alpha val="0"/>
                </a:srgbClr>
              </a:gs>
              <a:gs pos="100000">
                <a:schemeClr val="dk1"/>
              </a:gs>
              <a:gs pos="100000">
                <a:srgbClr val="000000"/>
              </a:gs>
            </a:gsLst>
            <a:lin ang="5400012" scaled="0"/>
          </a:gradFill>
          <a:ln>
            <a:noFill/>
          </a:ln>
          <a:effectLst>
            <a:outerShdw blurRad="28575" rotWithShape="0" algn="bl" dist="38100">
              <a:srgbClr val="000000">
                <a:alpha val="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8" name="Google Shape;138;p21" title="logo rgb pantallas.png"/>
          <p:cNvPicPr preferRelativeResize="0"/>
          <p:nvPr/>
        </p:nvPicPr>
        <p:blipFill>
          <a:blip r:embed="rId4">
            <a:alphaModFix/>
          </a:blip>
          <a:stretch>
            <a:fillRect/>
          </a:stretch>
        </p:blipFill>
        <p:spPr>
          <a:xfrm>
            <a:off x="1622100" y="580502"/>
            <a:ext cx="2580598" cy="2580598"/>
          </a:xfrm>
          <a:prstGeom prst="rect">
            <a:avLst/>
          </a:prstGeom>
          <a:noFill/>
          <a:ln>
            <a:noFill/>
          </a:ln>
        </p:spPr>
      </p:pic>
      <p:sp>
        <p:nvSpPr>
          <p:cNvPr id="139" name="Google Shape;139;p21"/>
          <p:cNvSpPr txBox="1"/>
          <p:nvPr/>
        </p:nvSpPr>
        <p:spPr>
          <a:xfrm>
            <a:off x="7875350" y="121950"/>
            <a:ext cx="1121700" cy="326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lang="es" sz="1100">
                <a:solidFill>
                  <a:srgbClr val="FFFFFF"/>
                </a:solidFill>
              </a:rPr>
              <a:t>1</a:t>
            </a:r>
            <a:r>
              <a:rPr b="1" i="0" lang="es" sz="1100" u="none" cap="none" strike="noStrike">
                <a:solidFill>
                  <a:srgbClr val="FFFFFF"/>
                </a:solidFill>
              </a:rPr>
              <a:t>ra Edición</a:t>
            </a:r>
            <a:endParaRPr b="1" i="0" sz="1100" u="none" cap="none" strike="noStrike">
              <a:solidFill>
                <a:srgbClr val="FFFFFF"/>
              </a:solidFill>
            </a:endParaRPr>
          </a:p>
        </p:txBody>
      </p:sp>
      <p:sp>
        <p:nvSpPr>
          <p:cNvPr id="140" name="Google Shape;140;p21"/>
          <p:cNvSpPr txBox="1"/>
          <p:nvPr/>
        </p:nvSpPr>
        <p:spPr>
          <a:xfrm>
            <a:off x="471750" y="3161100"/>
            <a:ext cx="7981800" cy="43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1" lang="es" sz="1900" u="none" cap="none" strike="noStrike">
                <a:solidFill>
                  <a:srgbClr val="FFFFFF"/>
                </a:solidFill>
                <a:latin typeface="DM Sans ExtraBold"/>
                <a:ea typeface="DM Sans ExtraBold"/>
                <a:cs typeface="DM Sans ExtraBold"/>
                <a:sym typeface="DM Sans ExtraBold"/>
              </a:rPr>
              <a:t>Gracias. ¿Preguntas?</a:t>
            </a:r>
            <a:endParaRPr b="0" i="1" sz="1900" u="none" cap="none" strike="noStrike">
              <a:solidFill>
                <a:srgbClr val="FFFFFF"/>
              </a:solidFill>
              <a:latin typeface="DM Sans ExtraBold"/>
              <a:ea typeface="DM Sans ExtraBold"/>
              <a:cs typeface="DM Sans ExtraBold"/>
              <a:sym typeface="DM Sans ExtraBold"/>
            </a:endParaRPr>
          </a:p>
        </p:txBody>
      </p:sp>
      <p:sp>
        <p:nvSpPr>
          <p:cNvPr id="141" name="Google Shape;141;p21"/>
          <p:cNvSpPr txBox="1"/>
          <p:nvPr/>
        </p:nvSpPr>
        <p:spPr>
          <a:xfrm>
            <a:off x="4487876" y="1267025"/>
            <a:ext cx="3132000" cy="43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s" sz="1900">
                <a:solidFill>
                  <a:srgbClr val="D054FC"/>
                </a:solidFill>
                <a:latin typeface="DM Sans SemiBold"/>
                <a:ea typeface="DM Sans SemiBold"/>
                <a:cs typeface="DM Sans SemiBold"/>
                <a:sym typeface="DM Sans SemiBold"/>
              </a:rPr>
              <a:t>Andrés Zeballos</a:t>
            </a:r>
            <a:endParaRPr b="0" i="0" sz="1900" u="none" cap="none" strike="noStrike">
              <a:solidFill>
                <a:srgbClr val="D054FC"/>
              </a:solidFill>
              <a:latin typeface="DM Sans SemiBold"/>
              <a:ea typeface="DM Sans SemiBold"/>
              <a:cs typeface="DM Sans SemiBold"/>
              <a:sym typeface="DM Sans SemiBold"/>
            </a:endParaRPr>
          </a:p>
        </p:txBody>
      </p:sp>
      <p:sp>
        <p:nvSpPr>
          <p:cNvPr id="142" name="Google Shape;142;p21"/>
          <p:cNvSpPr txBox="1"/>
          <p:nvPr/>
        </p:nvSpPr>
        <p:spPr>
          <a:xfrm>
            <a:off x="4779399" y="1646743"/>
            <a:ext cx="3234600" cy="36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s">
                <a:solidFill>
                  <a:srgbClr val="FFFFFF"/>
                </a:solidFill>
                <a:latin typeface="DM Sans"/>
                <a:ea typeface="DM Sans"/>
                <a:cs typeface="DM Sans"/>
                <a:sym typeface="DM Sans"/>
              </a:rPr>
              <a:t>linkedin.com/in/andreszc</a:t>
            </a:r>
            <a:endParaRPr b="0" i="0" u="none" cap="none" strike="noStrike">
              <a:solidFill>
                <a:srgbClr val="FFFFFF"/>
              </a:solidFill>
              <a:latin typeface="DM Sans"/>
              <a:ea typeface="DM Sans"/>
              <a:cs typeface="DM Sans"/>
              <a:sym typeface="DM Sans"/>
            </a:endParaRPr>
          </a:p>
        </p:txBody>
      </p:sp>
      <p:sp>
        <p:nvSpPr>
          <p:cNvPr id="143" name="Google Shape;143;p21"/>
          <p:cNvSpPr/>
          <p:nvPr/>
        </p:nvSpPr>
        <p:spPr>
          <a:xfrm>
            <a:off x="4573490" y="1770629"/>
            <a:ext cx="180000" cy="180000"/>
          </a:xfrm>
          <a:prstGeom prst="ellipse">
            <a:avLst/>
          </a:prstGeom>
          <a:solidFill>
            <a:srgbClr val="EEEEE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1"/>
          <p:cNvSpPr txBox="1"/>
          <p:nvPr/>
        </p:nvSpPr>
        <p:spPr>
          <a:xfrm>
            <a:off x="4520956" y="1765936"/>
            <a:ext cx="310200" cy="193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s" sz="900" u="none" cap="none" strike="noStrike">
                <a:solidFill>
                  <a:srgbClr val="434343"/>
                </a:solidFill>
                <a:latin typeface="DM Sans"/>
                <a:ea typeface="DM Sans"/>
                <a:cs typeface="DM Sans"/>
                <a:sym typeface="DM Sans"/>
              </a:rPr>
              <a:t>in</a:t>
            </a:r>
            <a:endParaRPr b="1" i="0" sz="900" u="none" cap="none" strike="noStrike">
              <a:solidFill>
                <a:srgbClr val="434343"/>
              </a:solidFill>
              <a:latin typeface="DM Sans"/>
              <a:ea typeface="DM Sans"/>
              <a:cs typeface="DM Sans"/>
              <a:sym typeface="DM Sans"/>
            </a:endParaRPr>
          </a:p>
        </p:txBody>
      </p:sp>
      <p:sp>
        <p:nvSpPr>
          <p:cNvPr id="145" name="Google Shape;145;p21"/>
          <p:cNvSpPr/>
          <p:nvPr/>
        </p:nvSpPr>
        <p:spPr>
          <a:xfrm>
            <a:off x="4795953" y="2046525"/>
            <a:ext cx="2545800" cy="26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s" sz="1300">
                <a:solidFill>
                  <a:srgbClr val="FFFFFF"/>
                </a:solidFill>
                <a:latin typeface="DM Sans"/>
                <a:ea typeface="DM Sans"/>
                <a:cs typeface="DM Sans"/>
                <a:sym typeface="DM Sans"/>
              </a:rPr>
              <a:t>github.com/andrezc98</a:t>
            </a:r>
            <a:endParaRPr b="0" i="0" sz="1300" u="none" cap="none" strike="noStrike">
              <a:solidFill>
                <a:srgbClr val="FFFFFF"/>
              </a:solidFill>
              <a:latin typeface="DM Sans"/>
              <a:ea typeface="DM Sans"/>
              <a:cs typeface="DM Sans"/>
              <a:sym typeface="DM Sans"/>
            </a:endParaRPr>
          </a:p>
        </p:txBody>
      </p:sp>
      <p:pic>
        <p:nvPicPr>
          <p:cNvPr id="146" name="Google Shape;146;p21"/>
          <p:cNvPicPr preferRelativeResize="0"/>
          <p:nvPr/>
        </p:nvPicPr>
        <p:blipFill>
          <a:blip r:embed="rId5">
            <a:alphaModFix/>
          </a:blip>
          <a:stretch>
            <a:fillRect/>
          </a:stretch>
        </p:blipFill>
        <p:spPr>
          <a:xfrm>
            <a:off x="4568738" y="2096010"/>
            <a:ext cx="193800" cy="193800"/>
          </a:xfrm>
          <a:prstGeom prst="rect">
            <a:avLst/>
          </a:prstGeom>
          <a:noFill/>
          <a:ln>
            <a:noFill/>
          </a:ln>
        </p:spPr>
      </p:pic>
      <p:pic>
        <p:nvPicPr>
          <p:cNvPr id="149" name="Google Shape;149;p21" title="logo aws-01.png"/>
          <p:cNvPicPr preferRelativeResize="0"/>
          <p:nvPr/>
        </p:nvPicPr>
        <p:blipFill rotWithShape="1">
          <a:blip r:embed="rId7">
            <a:alphaModFix/>
          </a:blip>
          <a:srcRect b="0" l="0" r="0" t="0"/>
          <a:stretch/>
        </p:blipFill>
        <p:spPr>
          <a:xfrm>
            <a:off x="2123722" y="4420889"/>
            <a:ext cx="865239" cy="620402"/>
          </a:xfrm>
          <a:prstGeom prst="rect">
            <a:avLst/>
          </a:prstGeom>
          <a:noFill/>
          <a:ln>
            <a:noFill/>
          </a:ln>
        </p:spPr>
      </p:pic>
      <p:pic>
        <p:nvPicPr>
          <p:cNvPr id="150" name="Google Shape;150;p21" title="duoc-logo.png"/>
          <p:cNvPicPr preferRelativeResize="0"/>
          <p:nvPr/>
        </p:nvPicPr>
        <p:blipFill rotWithShape="1">
          <a:blip r:embed="rId8">
            <a:alphaModFix/>
          </a:blip>
          <a:srcRect b="0" l="0" r="0" t="0"/>
          <a:stretch/>
        </p:blipFill>
        <p:spPr>
          <a:xfrm>
            <a:off x="3269534" y="4427477"/>
            <a:ext cx="1373974" cy="512850"/>
          </a:xfrm>
          <a:prstGeom prst="rect">
            <a:avLst/>
          </a:prstGeom>
          <a:noFill/>
          <a:ln>
            <a:noFill/>
          </a:ln>
        </p:spPr>
      </p:pic>
      <p:grpSp>
        <p:nvGrpSpPr>
          <p:cNvPr id="151" name="Google Shape;151;p21"/>
          <p:cNvGrpSpPr/>
          <p:nvPr/>
        </p:nvGrpSpPr>
        <p:grpSpPr>
          <a:xfrm>
            <a:off x="4806070" y="4427475"/>
            <a:ext cx="2652811" cy="521413"/>
            <a:chOff x="6019800" y="4427475"/>
            <a:chExt cx="2652811" cy="521413"/>
          </a:xfrm>
        </p:grpSpPr>
        <p:pic>
          <p:nvPicPr>
            <p:cNvPr id="152" name="Google Shape;152;p21" title="CHIP-BLANCO.png"/>
            <p:cNvPicPr preferRelativeResize="0"/>
            <p:nvPr/>
          </p:nvPicPr>
          <p:blipFill>
            <a:blip r:embed="rId9">
              <a:alphaModFix/>
            </a:blip>
            <a:stretch>
              <a:fillRect/>
            </a:stretch>
          </p:blipFill>
          <p:spPr>
            <a:xfrm>
              <a:off x="6019800" y="4427475"/>
              <a:ext cx="569831" cy="512850"/>
            </a:xfrm>
            <a:prstGeom prst="rect">
              <a:avLst/>
            </a:prstGeom>
            <a:noFill/>
            <a:ln>
              <a:noFill/>
            </a:ln>
          </p:spPr>
        </p:pic>
        <p:sp>
          <p:nvSpPr>
            <p:cNvPr id="153" name="Google Shape;153;p21"/>
            <p:cNvSpPr txBox="1"/>
            <p:nvPr/>
          </p:nvSpPr>
          <p:spPr>
            <a:xfrm>
              <a:off x="6453811" y="4435888"/>
              <a:ext cx="22188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AWS SBG Chile</a:t>
              </a:r>
              <a:endParaRPr sz="1000">
                <a:solidFill>
                  <a:srgbClr val="FFFFFF"/>
                </a:solidFill>
                <a:latin typeface="DM Sans Medium"/>
                <a:ea typeface="DM Sans Medium"/>
                <a:cs typeface="DM Sans Medium"/>
                <a:sym typeface="DM Sans Medium"/>
              </a:endParaRPr>
            </a:p>
            <a:p>
              <a:pPr indent="0" lvl="0" marL="0" marR="0" rtl="0" algn="l">
                <a:lnSpc>
                  <a:spcPct val="100000"/>
                </a:lnSpc>
                <a:spcBef>
                  <a:spcPts val="0"/>
                </a:spcBef>
                <a:spcAft>
                  <a:spcPts val="0"/>
                </a:spcAft>
                <a:buClr>
                  <a:srgbClr val="000000"/>
                </a:buClr>
                <a:buSzPts val="1000"/>
                <a:buFont typeface="Arial"/>
                <a:buNone/>
              </a:pPr>
              <a:r>
                <a:rPr lang="es" sz="1000">
                  <a:solidFill>
                    <a:srgbClr val="FFFFFF"/>
                  </a:solidFill>
                  <a:latin typeface="DM Sans Medium"/>
                  <a:ea typeface="DM Sans Medium"/>
                  <a:cs typeface="DM Sans Medium"/>
                  <a:sym typeface="DM Sans Medium"/>
                </a:rPr>
                <a:t>Student Builder Groups Chile</a:t>
              </a:r>
              <a:endParaRPr i="0" sz="1000" u="none" cap="none" strike="noStrike">
                <a:solidFill>
                  <a:srgbClr val="FFFFFF"/>
                </a:solidFill>
                <a:latin typeface="DM Sans Medium"/>
                <a:ea typeface="DM Sans Medium"/>
                <a:cs typeface="DM Sans Medium"/>
                <a:sym typeface="DM Sans Medium"/>
              </a:endParaRPr>
            </a:p>
          </p:txBody>
        </p:sp>
      </p:grpSp>
      <p:sp>
        <p:nvSpPr>
          <p:cNvPr id="154" name="Rounded Rectangle 153"/>
          <p:cNvSpPr/>
          <p:nvPr/>
        </p:nvSpPr>
        <p:spPr>
          <a:xfrm>
            <a:off x="7452360" y="1188720"/>
            <a:ext cx="141732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qr-linkedin.png"/>
          <p:cNvPicPr>
            <a:picLocks noChangeAspect="1"/>
          </p:cNvPicPr>
          <p:nvPr/>
        </p:nvPicPr>
        <p:blipFill>
          <a:blip r:embed="rId10"/>
          <a:stretch>
            <a:fillRect/>
          </a:stretch>
        </p:blipFill>
        <p:spPr>
          <a:xfrm>
            <a:off x="7543800" y="1252728"/>
            <a:ext cx="1234440" cy="1234440"/>
          </a:xfrm>
          <a:prstGeom prst="rect">
            <a:avLst/>
          </a:prstGeom>
        </p:spPr>
      </p:pic>
      <p:sp>
        <p:nvSpPr>
          <p:cNvPr id="156" name="TextBox 155"/>
          <p:cNvSpPr txBox="1"/>
          <p:nvPr/>
        </p:nvSpPr>
        <p:spPr>
          <a:xfrm>
            <a:off x="7452360" y="2505456"/>
            <a:ext cx="1417320" cy="228600"/>
          </a:xfrm>
          <a:prstGeom prst="rect">
            <a:avLst/>
          </a:prstGeom>
          <a:noFill/>
        </p:spPr>
        <p:txBody>
          <a:bodyPr wrap="square" anchor="t" lIns="0" rIns="0" tIns="0" bIns="0">
            <a:spAutoFit/>
          </a:bodyPr>
          <a:lstStyle/>
          <a:p>
            <a:pPr algn="ctr">
              <a:spcAft>
                <a:spcPts val="400"/>
              </a:spcAft>
            </a:pPr>
            <a:r>
              <a:rPr sz="1000" b="1">
                <a:solidFill>
                  <a:srgbClr val="A433F3"/>
                </a:solidFill>
                <a:latin typeface="DM Sans"/>
              </a:rPr>
              <a:t>LinkedIn</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